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(TCS.NS) वैश्विक तकनीकी क्षेत्र में एक प्रमुख खिलाड़ी है, जो सूचना प्रौद्योगिकी (IT) और IT-सक्षम सेवाओं की एक विस्तृत श्रृंखला प्रदान करता है। 1968 में स्थापित और मुंबई, भारत में मुख्यालय के साथ, TCS ने डिजिटल परिवर्तन, AI और क्लाउड समाधानों में एक शक्तिशाली स्थिति स्थापित की है। 600,000 से अधिक कर्मचारियों की मजबूत कार्यबल के साथ, TCS तकनीकी सेवाओं की बढ़ती मांग का लाभ उठाने के लिए अच्छी स्थिति में है। कंपनी का मजबूत वित्तीय प्रदर्शन, जिसमें ₹260,802.01 Cr की राजस्व और ₹47,716.00 Cr का शुद्ध लाभ शामिल है, इसकी परिचालन दक्षता और उच्च-विकास क्षेत्रों में रणनीतिक निवेश को दर्शाता है। वर्तमान बाजार की भावना सकारात्मक है, जो AI और क्लाउड सेवाओं में वृद्धि पर जोर देती है, जिससे TCS एक आकर्षक निवेश अवसर बनता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क्षेत्र: प्रौद्योगिकी</a:t>
            </a:r>
          </a:p>
          <a:p>
            <a:pPr>
              <a:spcBef>
                <a:spcPts val="600"/>
              </a:spcBef>
              <a:spcAft>
                <a:spcPts val="600"/>
              </a:spcAft>
              <a:defRPr sz="1600"/>
            </a:pPr>
            <a:r>
              <a:t>उद्योग: सूचना प्रौद्योगिकी सेवाएँ</a:t>
            </a:r>
          </a:p>
          <a:p>
            <a:pPr>
              <a:spcBef>
                <a:spcPts val="600"/>
              </a:spcBef>
              <a:spcAft>
                <a:spcPts val="600"/>
              </a:spcAft>
              <a:defRPr sz="1600"/>
            </a:pPr>
            <a:r>
              <a:t>स्थापित: 1968</a:t>
            </a:r>
          </a:p>
          <a:p>
            <a:pPr>
              <a:spcBef>
                <a:spcPts val="600"/>
              </a:spcBef>
              <a:spcAft>
                <a:spcPts val="600"/>
              </a:spcAft>
              <a:defRPr sz="1600"/>
            </a:pPr>
            <a:r>
              <a:t>मुख्यालय: मुंबई, भारत</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लिमिटेड (TCS) मुख्य रूप से प्रौद्योगिकी क्षेत्र में काम करती है, जो अमेरिका, यूरोप और भारत सहित कई भौगोलिक क्षेत्रों में नवोन्मेषी IT समाधान प्रदान करती है। कंपनी का व्यापक पोर्टफोलियो प्लेटफार्मों को शामिल करता है जैसे कि जीवन विज्ञान के लिए TCS ADD, वित्तीय सेवाओं के लिए TCS BaNCS, और खुदरा के लिए TCS OmniStore। TCS उन्नत प्रौद्योगिकियों जैसे AI और क्लाउड कंप्यूटिंग का लाभ उठाने पर ध्यान केंद्रित करती है ताकि अपने प्रस्तावों को बढ़ाया जा सके और व्यावसायिक विकास को बढ़ावा दिया जा सके। अपनी सेवा मॉडल को लगातार विकसित करते हुए और अपने बाजार पहुंच का विस्तार करते हुए, TCS अपने विविध ग्राहकों की गतिशील आवश्यकताओं को पूरा करने के लिए अच्छी तरह से तैयार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राजस्व (TTM): ₹260,802.01 Cr</a:t>
            </a:r>
          </a:p>
          <a:p>
            <a:pPr>
              <a:lnSpc>
                <a:spcPct val="120000"/>
              </a:lnSpc>
              <a:spcBef>
                <a:spcPts val="800"/>
              </a:spcBef>
              <a:spcAft>
                <a:spcPts val="800"/>
              </a:spcAft>
              <a:defRPr sz="1600"/>
            </a:pPr>
            <a:r>
              <a:t>शुद्ध लाभ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डिविडेंड यील्ड: 2.25%</a:t>
            </a:r>
          </a:p>
          <a:p>
            <a:pPr>
              <a:lnSpc>
                <a:spcPct val="120000"/>
              </a:lnSpc>
              <a:spcBef>
                <a:spcPts val="800"/>
              </a:spcBef>
              <a:spcAft>
                <a:spcPts val="800"/>
              </a:spcAft>
              <a:defRPr sz="1600"/>
            </a:pPr>
            <a:r>
              <a:t>पेआउट अनुपात: 94.00%</a:t>
            </a:r>
          </a:p>
          <a:p>
            <a:pPr>
              <a:lnSpc>
                <a:spcPct val="120000"/>
              </a:lnSpc>
              <a:spcBef>
                <a:spcPts val="800"/>
              </a:spcBef>
              <a:spcAft>
                <a:spcPts val="800"/>
              </a:spcAft>
              <a:defRPr sz="1600"/>
            </a:pPr>
            <a:r>
              <a:t>कुल संपत्ति: ₹66,829.00 Cr</a:t>
            </a:r>
          </a:p>
          <a:p>
            <a:pPr>
              <a:lnSpc>
                <a:spcPct val="120000"/>
              </a:lnSpc>
              <a:spcBef>
                <a:spcPts val="800"/>
              </a:spcBef>
              <a:spcAft>
                <a:spcPts val="800"/>
              </a:spcAft>
              <a:defRPr sz="1600"/>
            </a:pPr>
            <a:r>
              <a:t>नकद संतुलन: ₹56,743.00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एक मजबूत वित्तीय प्रोफ़ाइल प्रदर्शित करता है, जो ठोस राजस्व वृद्धि और लाभप्रदता से विशेषता है। कंपनी ने 18.39% का उल्लेखनीय शुद्ध लाभ मार्जिन और 27.00% का परिचालन मार्जिन हासिल किया है, जो प्रभावी लागत प्रबंधन और परिचालन दक्षता को दर्शाता है। 18.70 का PE अनुपात और 0.01 का कम ऋण-से-इक्विटी अनुपात के साथ, TCS मूल्यांकन और वित्तीय स्थिरता के मामले में अच्छी स्थिति में है। लगातार नकद प्रवाह उत्पन्न करना, जो ₹52,727.00 Cr के परिचालन नकद प्रवाह द्वारा उजागर होता है, TCS को विकास पहलों में निवेश करने की अनुमति देता है जबकि शेयरधारकों को स्वस्थ रिटर्न बनाए रखता है। कुल मिलाकर, TCS के वित्तीय मैट्रिक्स एक लचीले व्यापार मॉडल का सुझाव देते हैं जो आर्थिक उतार-चढ़ाव को संभालने में सक्षम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वर्तमान शेयर मूल्य: ₹2,648.00</a:t>
            </a:r>
          </a:p>
          <a:p>
            <a:pPr>
              <a:lnSpc>
                <a:spcPct val="120000"/>
              </a:lnSpc>
              <a:spcBef>
                <a:spcPts val="800"/>
              </a:spcBef>
              <a:spcAft>
                <a:spcPts val="800"/>
              </a:spcAft>
              <a:defRPr sz="1600"/>
            </a:pPr>
            <a:r>
              <a:t>52-सप्ताह का उच्चतम: ₹3,710.00</a:t>
            </a:r>
          </a:p>
          <a:p>
            <a:pPr>
              <a:lnSpc>
                <a:spcPct val="120000"/>
              </a:lnSpc>
              <a:spcBef>
                <a:spcPts val="800"/>
              </a:spcBef>
              <a:spcAft>
                <a:spcPts val="800"/>
              </a:spcAft>
              <a:defRPr sz="1600"/>
            </a:pPr>
            <a:r>
              <a:t>52-सप्ताह का न्यूनतम: ₹2,561.30</a:t>
            </a:r>
          </a:p>
          <a:p>
            <a:pPr>
              <a:lnSpc>
                <a:spcPct val="120000"/>
              </a:lnSpc>
              <a:spcBef>
                <a:spcPts val="800"/>
              </a:spcBef>
              <a:spcAft>
                <a:spcPts val="800"/>
              </a:spcAft>
              <a:defRPr sz="1600"/>
            </a:pPr>
            <a:r>
              <a:t>बाजार पूंजीकरण: ₹957,997.00 Cr</a:t>
            </a:r>
          </a:p>
          <a:p>
            <a:pPr>
              <a:lnSpc>
                <a:spcPct val="120000"/>
              </a:lnSpc>
              <a:spcBef>
                <a:spcPts val="800"/>
              </a:spcBef>
              <a:spcAft>
                <a:spcPts val="800"/>
              </a:spcAft>
              <a:defRPr sz="1600"/>
            </a:pPr>
            <a:r>
              <a:t>बीटा (अस्थिरता): 0.25</a:t>
            </a:r>
          </a:p>
          <a:p>
            <a:pPr>
              <a:lnSpc>
                <a:spcPct val="120000"/>
              </a:lnSpc>
              <a:spcBef>
                <a:spcPts val="800"/>
              </a:spcBef>
              <a:spcAft>
                <a:spcPts val="800"/>
              </a:spcAft>
              <a:defRPr sz="1600"/>
            </a:pPr>
            <a:r>
              <a:t>1 वर्ष में परिवर्तन: -27.72%</a:t>
            </a:r>
          </a:p>
          <a:p>
            <a:pPr>
              <a:lnSpc>
                <a:spcPct val="120000"/>
              </a:lnSpc>
              <a:spcBef>
                <a:spcPts val="800"/>
              </a:spcBef>
              <a:spcAft>
                <a:spcPts val="800"/>
              </a:spcAft>
              <a:defRPr sz="1600"/>
            </a:pPr>
            <a:r>
              <a:t>5 वर्ष का CAGR: 27.00%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प्रमोटर होल्डिंग: 71.77%</a:t>
            </a:r>
          </a:p>
          <a:p>
            <a:pPr>
              <a:spcBef>
                <a:spcPts val="600"/>
              </a:spcBef>
              <a:spcAft>
                <a:spcPts val="600"/>
              </a:spcAft>
              <a:defRPr sz="1600"/>
            </a:pPr>
            <a:r>
              <a:t>एफआईआई होल्डिंग: 10.37%</a:t>
            </a:r>
          </a:p>
          <a:p>
            <a:pPr>
              <a:spcBef>
                <a:spcPts val="600"/>
              </a:spcBef>
              <a:spcAft>
                <a:spcPts val="600"/>
              </a:spcAft>
              <a:defRPr sz="1600"/>
            </a:pPr>
            <a:r>
              <a:t>डीआईआई होल्डिंग: 12.81%</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आईटी सेवाओं के उद्योग में एक प्रमुख स्थान रखती है, जिसमें 71.77% का मजबूत प्रमोटर होल्डिंग है। प्रतिस्पर्धी परिदृश्य में प्रमुख खिलाड़ी जैसे Infosys और Wipro शामिल हैं, फिर भी TCS अपनी व्यापक सेवा पेशकशों और उभरती तकनीकों में रणनीतिक निवेश के कारण अलग खड़ी है। कंपनी का AI और क्लाउड समाधानों पर ध्यान इसे प्रतिस्पर्धियों के मुकाबले अनुकूल स्थिति में रखता है, जिससे यह बड़ा मार्केट शेयर हासिल कर सकती है और विकास की गति बनाए रख सकती 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कुल भावना स्कोर: 39.0/100 (बुलिश)</a:t>
            </a:r>
          </a:p>
          <a:p>
            <a:pPr>
              <a:lnSpc>
                <a:spcPct val="120000"/>
              </a:lnSpc>
              <a:spcBef>
                <a:spcPts val="800"/>
              </a:spcBef>
              <a:spcAft>
                <a:spcPts val="800"/>
              </a:spcAft>
              <a:defRPr sz="1600"/>
            </a:pPr>
            <a:r>
              <a:t>समाचार भावना: 66.7/100 (बहुत बुलिश)</a:t>
            </a:r>
          </a:p>
          <a:p>
            <a:pPr>
              <a:lnSpc>
                <a:spcPct val="120000"/>
              </a:lnSpc>
              <a:spcBef>
                <a:spcPts val="800"/>
              </a:spcBef>
              <a:spcAft>
                <a:spcPts val="800"/>
              </a:spcAft>
              <a:defRPr sz="1600"/>
            </a:pPr>
            <a:r>
              <a:t>Yahoo Finance रेटिंग: 60.0/100 (खरीदें)</a:t>
            </a:r>
          </a:p>
          <a:p>
            <a:pPr>
              <a:lnSpc>
                <a:spcPct val="120000"/>
              </a:lnSpc>
              <a:spcBef>
                <a:spcPts val="800"/>
              </a:spcBef>
              <a:spcAft>
                <a:spcPts val="800"/>
              </a:spcAft>
              <a:defRPr sz="1600"/>
            </a:pPr>
            <a:r>
              <a:t>Twitter भावना: 16.1/100 (बुलिश)</a:t>
            </a:r>
          </a:p>
          <a:p>
            <a:pPr>
              <a:lnSpc>
                <a:spcPct val="120000"/>
              </a:lnSpc>
              <a:spcBef>
                <a:spcPts val="800"/>
              </a:spcBef>
              <a:spcAft>
                <a:spcPts val="800"/>
              </a:spcAft>
              <a:defRPr sz="1600"/>
            </a:pPr>
            <a:r>
              <a:t>सकारात्मक ट्वीट्स: 37.5%, नकारात्मक: 18.8%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के लिए भविष्य की दृष्टि मुख्य रूप से सकारात्मक है, विश्लेषकों का अनुमान है कि आय में लगभग 8.8% प्रति वर्ष की वृद्धि होगी और राजस्व में लगभग 6.3% प्रति वर्ष की वृद्धि होगी। प्रमुख विकास चालक में एआई और क्लाउड इंफ्रास्ट्रक्चर में महत्वपूर्ण निवेश शामिल हैं, जो सेवा वितरण और परिचालन दक्षता को बढ़ाने की उम्मीद है। इसके अतिरिक्त, TCS की हाल की अधिग्रहण और साझेदारियां इसकी क्षमताओं का विस्तार करने के लिए तैयार हैं, विशेष रूप से तेजी से विकसित हो रहे डिजिटल परिदृश्य में। नवाचार और मार्जिन विस्तार पर मजबूत ध्यान के साथ, TCS अगले 12-18 महीनों में अपने शेयर मूल्य में महत्वपूर्ण वृद्धि हासिल करने के लिए अच्छी स्थिति में है, संभावित रूप से वर्तमान स्तरों से 30-40% ऊपर ट्रेड करते हुए।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मजबूत मूलभूत तत्वों के आधार पर खरीद रेटिंग</a:t>
            </a:r>
          </a:p>
          <a:p>
            <a:pPr>
              <a:spcBef>
                <a:spcPts val="600"/>
              </a:spcBef>
              <a:spcAft>
                <a:spcPts val="600"/>
              </a:spcAft>
              <a:defRPr sz="1600"/>
            </a:pPr>
            <a:r>
              <a:t>AI और क्लाउड निवेशों से विकास की संभावनाएँ</a:t>
            </a:r>
          </a:p>
          <a:p>
            <a:pPr>
              <a:spcBef>
                <a:spcPts val="600"/>
              </a:spcBef>
              <a:spcAft>
                <a:spcPts val="600"/>
              </a:spcAft>
              <a:defRPr sz="1600"/>
            </a:pPr>
            <a:r>
              <a:t>2.25% का स्वस्थ लाभांश यील्ड</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लिमिटेड की मजबूत वित्तीय स्थिति, मजबूत बाजार स्थिति और सकारात्मक विकास दृष्टिकोण को देखते हुए, हम निवेशकों के लिए 'खरीदें' रेटिंग की सिफारिश करते हैं। कंपनी की एआई और क्लाउड कंप्यूटिंग में रणनीतिक पहलों से भविष्य में राजस्व और लाभप्रदता बढ़ने की उम्मीद है, जिससे यह एक आकर्षक निवेश अवसर बनता है। इसके अलावा, TCS का शेयरधारकों को लाभांश के माध्यम से मूल्य लौटाने के प्रति प्रतिबद्धता दीर्घकालिक निवेशकों के लिए इसकी अपील को बढ़ाती है। जैसे-जैसे प्रौद्योगिकी का परिदृश्य विकसित होता है, TCS अपनी ताकतों का लाभ उठाकर नए विकास के अवसरों को पकड़ने के लिए तैयार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आईटी खर्च पर आर्थिक मंदी का प्रभाव</a:t>
            </a:r>
          </a:p>
          <a:p>
            <a:pPr>
              <a:lnSpc>
                <a:spcPct val="120000"/>
              </a:lnSpc>
              <a:spcBef>
                <a:spcPts val="800"/>
              </a:spcBef>
              <a:spcAft>
                <a:spcPts val="800"/>
              </a:spcAft>
              <a:defRPr sz="1600"/>
            </a:pPr>
            <a:r>
              <a:t>उभरती तकनीकी कंपनियों से प्रतिस्पर्धा</a:t>
            </a:r>
          </a:p>
          <a:p>
            <a:pPr>
              <a:lnSpc>
                <a:spcPct val="120000"/>
              </a:lnSpc>
              <a:spcBef>
                <a:spcPts val="800"/>
              </a:spcBef>
              <a:spcAft>
                <a:spcPts val="800"/>
              </a:spcAft>
              <a:defRPr sz="1600"/>
            </a:pPr>
            <a:r>
              <a:t>ऑपरेशंस पर प्रभाव डालने वाले नियामक परिवर्तन</a:t>
            </a:r>
          </a:p>
          <a:p>
            <a:pPr>
              <a:lnSpc>
                <a:spcPct val="120000"/>
              </a:lnSpc>
              <a:spcBef>
                <a:spcPts val="800"/>
              </a:spcBef>
              <a:spcAft>
                <a:spcPts val="800"/>
              </a:spcAft>
              <a:defRPr sz="1600"/>
            </a:pPr>
            <a:r>
              <a:t>एआई तकनीकों से संभावित व्यवधान</a:t>
            </a:r>
          </a:p>
          <a:p>
            <a:pPr>
              <a:lnSpc>
                <a:spcPct val="120000"/>
              </a:lnSpc>
              <a:spcBef>
                <a:spcPts val="800"/>
              </a:spcBef>
              <a:spcAft>
                <a:spcPts val="800"/>
              </a:spcAft>
              <a:defRPr sz="1600"/>
            </a:pPr>
            <a:r>
              <a:t>मुख्य बाजारों में भू-राजनीतिक जोखिम</a:t>
            </a:r>
          </a:p>
          <a:p>
            <a:pPr>
              <a:lnSpc>
                <a:spcPct val="120000"/>
              </a:lnSpc>
              <a:spcBef>
                <a:spcPts val="800"/>
              </a:spcBef>
              <a:spcAft>
                <a:spcPts val="800"/>
              </a:spcAft>
              <a:defRPr sz="1600"/>
            </a:pPr>
            <a:r>
              <a:t>कर्मचारी छंटनी और भर्ती के रुझान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अंत में, टाटा कंसल्टेंसी सर्विसेज लिमिटेड एक आकर्षक निवेश का मामला प्रस्तुत करता है, जो इसके मजबूत वित्तीय प्रदर्शन, प्रौद्योगिकी में रणनीतिक निवेश, और सकारात्मक बाजार भावना द्वारा संचालित है। हालांकि, निवेशकों को संभावित जोखिमों के प्रति सतर्क रहना चाहिए जो भविष्य के प्रदर्शन को प्रभावित कर सकते हैं। आगे बढ़ते हुए, हम उद्योग के रुझानों, वित्तीय मेट्रिक्स, और बाजार भावना की निकटता से निगरानी करने की सिफारिश करते हैं ताकि निवेश निर्णयों को सूचित किया जा सके। TCS की घोषणाओं के साथ जुड़ना और प्रतिस्पर्धात्मक स्थिति का विश्लेषण करना इस गतिशील क्षेत्र में सूचित विकल्प बनाने के लिए महत्वपूर्ण होगा।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
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Limited (TCS) is one of the leading global providers of IT services and consulting, headquartered in Mumbai, India. With a robust revenue stream of ₹260802.01 Cr and a net profit of ₹47716.00 Cr, TCS has established itself as a pillar in the technology sector. The company has a proven track record of leveraging advanced technological solutions, including AI and cloud services, to drive business efficiency and customer satisfaction. Analysts maintain a bullish outlook on TCS, citing a positive sentiment driven by recent investments in AI capabilities and solid earnings growth potential. With a strong market position and an expected revenue growth rate of approximately 6.3% per annum, TCS presents a compelling investment opportunity for growth-oriented investors.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1968, TCS employs over 608,000 people.</a:t>
            </a:r>
          </a:p>
          <a:p>
            <a:pPr>
              <a:spcBef>
                <a:spcPts val="600"/>
              </a:spcBef>
              <a:spcAft>
                <a:spcPts val="600"/>
              </a:spcAft>
              <a:defRPr sz="1600"/>
            </a:pPr>
            <a:r>
              <a:t>Headquarters: Mumbai, India, with a strong international presence.</a:t>
            </a:r>
          </a:p>
          <a:p>
            <a:pPr>
              <a:spcBef>
                <a:spcPts val="600"/>
              </a:spcBef>
              <a:spcAft>
                <a:spcPts val="600"/>
              </a:spcAft>
              <a:defRPr sz="1600"/>
            </a:pPr>
            <a:r>
              <a:t>Offers a diverse range of IT and IT-enabled services globally.</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Tata Consultancy Services (TCS) operates in the information technology services sector, providing a wide array of solutions such as cloud services, AI-driven analytics, and enterprise solutions. Their product suite includes TCS ADD for life sciences, TCS BaNCS for financial services, and TCS iON for education, showcasing their versatility in addressing varying customer needs. The company’s strategic focus on innovation and quality service delivery has enabled it to capture significant market share, thus positioning TCS as a trusted partner for enterprises aiming for digital transformation.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₹131.86</a:t>
            </a:r>
          </a:p>
          <a:p>
            <a:pPr>
              <a:lnSpc>
                <a:spcPct val="120000"/>
              </a:lnSpc>
              <a:spcBef>
                <a:spcPts val="800"/>
              </a:spcBef>
              <a:spcAft>
                <a:spcPts val="800"/>
              </a:spcAft>
              <a:defRPr sz="1600"/>
            </a:pPr>
            <a:r>
              <a:t>Dividend Yield: 2.25%</a:t>
            </a:r>
          </a:p>
          <a:p>
            <a:pPr>
              <a:lnSpc>
                <a:spcPct val="120000"/>
              </a:lnSpc>
              <a:spcBef>
                <a:spcPts val="800"/>
              </a:spcBef>
              <a:spcAft>
                <a:spcPts val="800"/>
              </a:spcAft>
              <a:defRPr sz="1600"/>
            </a:pPr>
            <a:r>
              <a:t>Payout Ratio: 94.00%</a:t>
            </a:r>
          </a:p>
          <a:p>
            <a:pPr>
              <a:lnSpc>
                <a:spcPct val="120000"/>
              </a:lnSpc>
              <a:spcBef>
                <a:spcPts val="800"/>
              </a:spcBef>
              <a:spcAft>
                <a:spcPts val="800"/>
              </a:spcAft>
              <a:defRPr sz="1600"/>
            </a:pPr>
            <a:r>
              <a:t>Total Assets: ₹66829.00 Cr</a:t>
            </a:r>
          </a:p>
          <a:p>
            <a:pPr>
              <a:lnSpc>
                <a:spcPct val="120000"/>
              </a:lnSpc>
              <a:spcBef>
                <a:spcPts val="800"/>
              </a:spcBef>
              <a:spcAft>
                <a:spcPts val="800"/>
              </a:spcAft>
              <a:defRPr sz="1600"/>
            </a:pPr>
            <a:r>
              <a:t>Debt-to-Equity Ratio: 0.01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Tata Consultancy Services has demonstrated solid financial health, highlighted by a profit margin of 18.39% and an operating margin of 27.00%. The company's ability to generate an operating cash flow of ₹52727.00 Cr and a free cash flow of ₹36118.00 Cr showcases its strong cash position, with a cash balance of ₹56743.00 Cr. Despite facing some turbulence with a 27.72% decline in stock price over the past year, the company’s fundamentals remain strong, supported by consistent revenue growth and a low debt-to-equity ratio of 0.01. These metrics reflect TCS's resilience and potential for future profitability.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₹2648.00</a:t>
            </a:r>
          </a:p>
          <a:p>
            <a:pPr>
              <a:lnSpc>
                <a:spcPct val="120000"/>
              </a:lnSpc>
              <a:spcBef>
                <a:spcPts val="800"/>
              </a:spcBef>
              <a:spcAft>
                <a:spcPts val="800"/>
              </a:spcAft>
              <a:defRPr sz="1600"/>
            </a:pPr>
            <a:r>
              <a:t>52-Week High: ₹3710.00</a:t>
            </a:r>
          </a:p>
          <a:p>
            <a:pPr>
              <a:lnSpc>
                <a:spcPct val="120000"/>
              </a:lnSpc>
              <a:spcBef>
                <a:spcPts val="800"/>
              </a:spcBef>
              <a:spcAft>
                <a:spcPts val="800"/>
              </a:spcAft>
              <a:defRPr sz="1600"/>
            </a:pPr>
            <a:r>
              <a:t>52-Week Low: ₹2561.30</a:t>
            </a:r>
          </a:p>
          <a:p>
            <a:pPr>
              <a:lnSpc>
                <a:spcPct val="120000"/>
              </a:lnSpc>
              <a:spcBef>
                <a:spcPts val="800"/>
              </a:spcBef>
              <a:spcAft>
                <a:spcPts val="800"/>
              </a:spcAft>
              <a:defRPr sz="1600"/>
            </a:pPr>
            <a:r>
              <a:t>Market Capitalization: ₹957997.00 Cr</a:t>
            </a:r>
          </a:p>
          <a:p>
            <a:pPr>
              <a:lnSpc>
                <a:spcPct val="120000"/>
              </a:lnSpc>
              <a:spcBef>
                <a:spcPts val="800"/>
              </a:spcBef>
              <a:spcAft>
                <a:spcPts val="800"/>
              </a:spcAft>
              <a:defRPr sz="1600"/>
            </a:pPr>
            <a:r>
              <a:t>Beta: 0.25 (low volatility)</a:t>
            </a:r>
          </a:p>
          <a:p>
            <a:pPr>
              <a:lnSpc>
                <a:spcPct val="120000"/>
              </a:lnSpc>
              <a:spcBef>
                <a:spcPts val="800"/>
              </a:spcBef>
              <a:spcAft>
                <a:spcPts val="800"/>
              </a:spcAft>
              <a:defRPr sz="1600"/>
            </a:pPr>
            <a:r>
              <a:t>1-Year Change: -27.72%</a:t>
            </a:r>
          </a:p>
          <a:p>
            <a:pPr>
              <a:lnSpc>
                <a:spcPct val="120000"/>
              </a:lnSpc>
              <a:spcBef>
                <a:spcPts val="800"/>
              </a:spcBef>
              <a:spcAft>
                <a:spcPts val="800"/>
              </a:spcAft>
              <a:defRPr sz="1600"/>
            </a:pPr>
            <a:r>
              <a:t>5-Year CAGR: 27.00%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71.77%</a:t>
            </a:r>
          </a:p>
          <a:p>
            <a:pPr>
              <a:spcBef>
                <a:spcPts val="600"/>
              </a:spcBef>
              <a:spcAft>
                <a:spcPts val="600"/>
              </a:spcAft>
              <a:defRPr sz="1600"/>
            </a:pPr>
            <a:r>
              <a:t>FII Holding: 10.37%</a:t>
            </a:r>
          </a:p>
          <a:p>
            <a:pPr>
              <a:spcBef>
                <a:spcPts val="600"/>
              </a:spcBef>
              <a:spcAft>
                <a:spcPts val="600"/>
              </a:spcAft>
              <a:defRPr sz="1600"/>
            </a:pPr>
            <a:r>
              <a:t>DII Holding: 12.81%</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TCS holds a commanding position in the IT services industry, with a significant promoter holding of 71.77%, indicating strong confidence from its founders. The company competes with major players like Infosys and Wipro, yet it distinguishes itself through its innovative service offerings, particularly in AI and cloud solutions. This competitive edge, coupled with an ever-expanding client base, reinforces TCS's market leadership and provides a strong foundation for sustained growth against a backdrop of evolving technological demands.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Market Sentiment Score: 39.0/100 (Bullish)</a:t>
            </a:r>
          </a:p>
          <a:p>
            <a:pPr>
              <a:lnSpc>
                <a:spcPct val="120000"/>
              </a:lnSpc>
              <a:spcBef>
                <a:spcPts val="800"/>
              </a:spcBef>
              <a:spcAft>
                <a:spcPts val="800"/>
              </a:spcAft>
              <a:defRPr sz="1600"/>
            </a:pPr>
            <a:r>
              <a:t>News Sentiment: 66.7/100 (Strongly Bullish)</a:t>
            </a:r>
          </a:p>
          <a:p>
            <a:pPr>
              <a:lnSpc>
                <a:spcPct val="120000"/>
              </a:lnSpc>
              <a:spcBef>
                <a:spcPts val="800"/>
              </a:spcBef>
              <a:spcAft>
                <a:spcPts val="800"/>
              </a:spcAft>
              <a:defRPr sz="1600"/>
            </a:pPr>
            <a:r>
              <a:t>Yahoo Finance Rating: 60.0/100 (Buy)</a:t>
            </a:r>
          </a:p>
          <a:p>
            <a:pPr>
              <a:lnSpc>
                <a:spcPct val="120000"/>
              </a:lnSpc>
              <a:spcBef>
                <a:spcPts val="800"/>
              </a:spcBef>
              <a:spcAft>
                <a:spcPts val="800"/>
              </a:spcAft>
              <a:defRPr sz="1600"/>
            </a:pPr>
            <a:r>
              <a:t>Twitter Sentiment: 16.1/100 (Bullish)</a:t>
            </a:r>
          </a:p>
          <a:p>
            <a:pPr>
              <a:lnSpc>
                <a:spcPct val="120000"/>
              </a:lnSpc>
              <a:spcBef>
                <a:spcPts val="800"/>
              </a:spcBef>
              <a:spcAft>
                <a:spcPts val="800"/>
              </a:spcAft>
              <a:defRPr sz="1600"/>
            </a:pPr>
            <a:r>
              <a:t>Positive Factors: Employee growth in AI skills to 217,000</a:t>
            </a:r>
          </a:p>
          <a:p>
            <a:pPr>
              <a:lnSpc>
                <a:spcPct val="120000"/>
              </a:lnSpc>
              <a:spcBef>
                <a:spcPts val="800"/>
              </a:spcBef>
              <a:spcAft>
                <a:spcPts val="800"/>
              </a:spcAft>
              <a:defRPr sz="1600"/>
            </a:pPr>
            <a:r>
              <a:t>Negative Factors: Layoffs and flat non-AI revenue in Q2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future outlook for Tata Consultancy Services appears promising, with analysts predicting a robust earnings growth of approximately 8.8% per annum driven by substantial investments in AI and cloud technologies. The company’s recent acquisitions aim to enhance its capabilities in strategic areas such as digital marketing and client engagement, positioning TCS favorably to capitalize on emerging market trends. Furthermore, management's target for operating margins to reach 26-28% suggests a strong focus on efficiency and profitability. Overall, the consensus from analysts remains optimistic, with expectations for the stock to trade 30-40% above current levels within the next 12-18 months, provided that AI initiatives yield the anticipated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TCS presents a compelling investment opportunity for growth-focused investors.</a:t>
            </a:r>
          </a:p>
          <a:p>
            <a:pPr>
              <a:spcBef>
                <a:spcPts val="600"/>
              </a:spcBef>
              <a:spcAft>
                <a:spcPts val="600"/>
              </a:spcAft>
              <a:defRPr sz="1600"/>
            </a:pPr>
            <a:r>
              <a:t>Analysts maintain a bullish outlook with price targets indicating substantial upside.</a:t>
            </a:r>
          </a:p>
          <a:p>
            <a:pPr>
              <a:spcBef>
                <a:spcPts val="600"/>
              </a:spcBef>
              <a:spcAft>
                <a:spcPts val="600"/>
              </a:spcAft>
              <a:defRPr sz="1600"/>
            </a:pPr>
            <a:r>
              <a:t>Current valuation metrics support a favorable entry point for investors.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the solid fundamentals, strategic investments in technology, and a positive market sentiment, Tata Consultancy Services Limited represents a strong buy opportunity for investors. The company’s historical performance, combined with its forward-looking initiatives in AI and digital transformation, positions it well for significant growth in the coming years. Investors are encouraged to consider TCS as a key addition to their portfolios, particularly in light of the anticipated market recovery and the increasing demand for IT services.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Potential layoffs and hiring slowdowns could affect morale and performance.</a:t>
            </a:r>
          </a:p>
          <a:p>
            <a:pPr>
              <a:lnSpc>
                <a:spcPct val="120000"/>
              </a:lnSpc>
              <a:spcBef>
                <a:spcPts val="800"/>
              </a:spcBef>
              <a:spcAft>
                <a:spcPts val="800"/>
              </a:spcAft>
              <a:defRPr sz="1600"/>
            </a:pPr>
            <a:r>
              <a:t>Flat non-AI revenue growth raises concerns about diversification.</a:t>
            </a:r>
          </a:p>
          <a:p>
            <a:pPr>
              <a:lnSpc>
                <a:spcPct val="120000"/>
              </a:lnSpc>
              <a:spcBef>
                <a:spcPts val="800"/>
              </a:spcBef>
              <a:spcAft>
                <a:spcPts val="800"/>
              </a:spcAft>
              <a:defRPr sz="1600"/>
            </a:pPr>
            <a:r>
              <a:t>Market volatility and global economic conditions may impact operations.</a:t>
            </a:r>
          </a:p>
          <a:p>
            <a:pPr>
              <a:lnSpc>
                <a:spcPct val="120000"/>
              </a:lnSpc>
              <a:spcBef>
                <a:spcPts val="800"/>
              </a:spcBef>
              <a:spcAft>
                <a:spcPts val="800"/>
              </a:spcAft>
              <a:defRPr sz="1600"/>
            </a:pPr>
            <a:r>
              <a:t>Competition from other IT service providers could hinder growth.</a:t>
            </a:r>
          </a:p>
          <a:p>
            <a:pPr>
              <a:lnSpc>
                <a:spcPct val="120000"/>
              </a:lnSpc>
              <a:spcBef>
                <a:spcPts val="800"/>
              </a:spcBef>
              <a:spcAft>
                <a:spcPts val="800"/>
              </a:spcAft>
              <a:defRPr sz="1600"/>
            </a:pPr>
            <a:r>
              <a:t>Regulatory changes in key markets could pose challenges.</a:t>
            </a:r>
          </a:p>
          <a:p>
            <a:pPr>
              <a:lnSpc>
                <a:spcPct val="120000"/>
              </a:lnSpc>
              <a:spcBef>
                <a:spcPts val="800"/>
              </a:spcBef>
              <a:spcAft>
                <a:spcPts val="800"/>
              </a:spcAft>
              <a:defRPr sz="1600"/>
            </a:pPr>
            <a:r>
              <a:t>AI disruption concerns may affect investor confidence.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Tata Consultancy Services Limited stands at a pivotal juncture, with a solid foundation bolstered by its innovative service offerings and strong financial metrics. While there are inherent risks, the overall sentiment and future outlook remain bullish, making it an attractive investment opportunity. Investors are advised to closely monitor TCS's performance and market developments, considering potential entry points to capitalize on anticipated price appreciation. Engaging with TCS's ongoing initiatives in AI and digital transformation will be crucial for maximizing investment returns in the dynamic IT landscape.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
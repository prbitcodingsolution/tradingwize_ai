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(TCS.NS)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is a leading global IT services provider headquartered in Mumbai, India, with a strong presence across the Americas, Europe, and Asia. Founded in 1968, TCS is part of the Tata Group, one of India's largest conglomerates. With a workforce of over 600,000, TCS specializes in a range of IT and IT-enabled services, including AI solutions, business process outsourcing, and enterprise resource planning. The company has demonstrated robust financial performance, marked by a current revenue of ₹260,802.01 crore and a net profit of ₹47,716 crore. Given the positive market sentiment, driven by strategic partnerships and a strong focus on AI, the investment thesis for TCS remains bullish, with favorable growth projections and solid returns for investors.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headquartered in Mumbai, India.</a:t>
            </a:r>
          </a:p>
          <a:p>
            <a:pPr>
              <a:spcBef>
                <a:spcPts val="600"/>
              </a:spcBef>
              <a:spcAft>
                <a:spcPts val="600"/>
              </a:spcAft>
              <a:defRPr sz="1600"/>
            </a:pPr>
            <a:r>
              <a:t>Provides IT and IT-enabled services globally.</a:t>
            </a:r>
          </a:p>
          <a:p>
            <a:pPr>
              <a:spcBef>
                <a:spcPts val="600"/>
              </a:spcBef>
              <a:spcAft>
                <a:spcPts val="600"/>
              </a:spcAft>
              <a:defRPr sz="1600"/>
            </a:pPr>
            <a:r>
              <a:t>6.08 lakh employees, with diverse technological offerings.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operates primarily in the information technology services sector. It offers an extensive array of services, including AI-driven platforms, cloud solutions, and cognitive automation products. TCS's business model focuses on leveraging technology to provide innovative solutions that enhance operational efficiency and drive growth for its clients. The company's geographic presence spans across key markets, including North America, Europe, and Asia, positioning it as a formidable player in the global IT landscape.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crore</a:t>
            </a:r>
          </a:p>
          <a:p>
            <a:pPr>
              <a:lnSpc>
                <a:spcPct val="120000"/>
              </a:lnSpc>
              <a:spcBef>
                <a:spcPts val="800"/>
              </a:spcBef>
              <a:spcAft>
                <a:spcPts val="800"/>
              </a:spcAft>
              <a:defRPr sz="1600"/>
            </a:pPr>
            <a:r>
              <a:t>Net Profit (TTM): ₹47,716 crore</a:t>
            </a:r>
          </a:p>
          <a:p>
            <a:pPr>
              <a:lnSpc>
                <a:spcPct val="120000"/>
              </a:lnSpc>
              <a:spcBef>
                <a:spcPts val="800"/>
              </a:spcBef>
              <a:spcAft>
                <a:spcPts val="800"/>
              </a:spcAft>
              <a:defRPr sz="1600"/>
            </a:pPr>
            <a:r>
              <a:t>EBITDA: ₹68,208 crore</a:t>
            </a:r>
          </a:p>
          <a:p>
            <a:pPr>
              <a:lnSpc>
                <a:spcPct val="120000"/>
              </a:lnSpc>
              <a:spcBef>
                <a:spcPts val="800"/>
              </a:spcBef>
              <a:spcAft>
                <a:spcPts val="800"/>
              </a:spcAft>
              <a:defRPr sz="1600"/>
            </a:pPr>
            <a:r>
              <a:t>EPS: ₹131.78</a:t>
            </a:r>
          </a:p>
          <a:p>
            <a:pPr>
              <a:lnSpc>
                <a:spcPct val="120000"/>
              </a:lnSpc>
              <a:spcBef>
                <a:spcPts val="800"/>
              </a:spcBef>
              <a:spcAft>
                <a:spcPts val="800"/>
              </a:spcAft>
              <a:defRPr sz="1600"/>
            </a:pPr>
            <a:r>
              <a:t>Dividend Yield: 2.19%</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 crore</a:t>
            </a:r>
          </a:p>
          <a:p>
            <a:pPr>
              <a:lnSpc>
                <a:spcPct val="120000"/>
              </a:lnSpc>
              <a:spcBef>
                <a:spcPts val="800"/>
              </a:spcBef>
              <a:spcAft>
                <a:spcPts val="800"/>
              </a:spcAft>
              <a:defRPr sz="1600"/>
            </a:pPr>
            <a:r>
              <a:t>Total Liabilities: ₹1.75 lakh crore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has exhibited a strong financial profile, underscored by a robust revenue generation capacity and substantial net profit margins. With a revenue of ₹260,802.01 crore and a net profit of ₹47,716 crore, TCS demonstrates a profit margin of 18.39%. The EBITDA of ₹68,208 crore highlights the company's operational efficiency, while a high payout ratio of 94% indicates TCS's commitment to returning value to shareholders. Furthermore, the minimal debt-to-equity ratio of 0.01 reflects a conservative leverage strategy, providing a solid foundation for future growth and stability amid market fluctuations.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₹2,709.00</a:t>
            </a:r>
          </a:p>
          <a:p>
            <a:pPr>
              <a:lnSpc>
                <a:spcPct val="120000"/>
              </a:lnSpc>
              <a:spcBef>
                <a:spcPts val="800"/>
              </a:spcBef>
              <a:spcAft>
                <a:spcPts val="800"/>
              </a:spcAft>
              <a:defRPr sz="1600"/>
            </a:pPr>
            <a:r>
              <a:t>52-Week High: ₹3,924.40</a:t>
            </a:r>
          </a:p>
          <a:p>
            <a:pPr>
              <a:lnSpc>
                <a:spcPct val="120000"/>
              </a:lnSpc>
              <a:spcBef>
                <a:spcPts val="800"/>
              </a:spcBef>
              <a:spcAft>
                <a:spcPts val="800"/>
              </a:spcAft>
              <a:defRPr sz="1600"/>
            </a:pPr>
            <a:r>
              <a:t>52-Week Low: ₹2,585.00</a:t>
            </a:r>
          </a:p>
          <a:p>
            <a:pPr>
              <a:lnSpc>
                <a:spcPct val="120000"/>
              </a:lnSpc>
              <a:spcBef>
                <a:spcPts val="800"/>
              </a:spcBef>
              <a:spcAft>
                <a:spcPts val="800"/>
              </a:spcAft>
              <a:defRPr sz="1600"/>
            </a:pPr>
            <a:r>
              <a:t>Market Capitalization: ₹980,248 crore</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1 Year Change: -28.38%</a:t>
            </a:r>
          </a:p>
          <a:p>
            <a:pPr>
              <a:lnSpc>
                <a:spcPct val="120000"/>
              </a:lnSpc>
              <a:spcBef>
                <a:spcPts val="800"/>
              </a:spcBef>
              <a:spcAft>
                <a:spcPts val="800"/>
              </a:spcAft>
              <a:defRPr sz="1600"/>
            </a:pPr>
            <a:r>
              <a:t>5 Year CAGR: 18.00%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Leading player in IT services with a comprehensive service portfolio.</a:t>
            </a:r>
          </a:p>
          <a:p>
            <a:pPr>
              <a:spcBef>
                <a:spcPts val="600"/>
              </a:spcBef>
              <a:spcAft>
                <a:spcPts val="600"/>
              </a:spcAft>
              <a:defRPr sz="1600"/>
            </a:pPr>
            <a:r>
              <a:t>Strong partnerships with tech giants such as OpenAI.</a:t>
            </a:r>
          </a:p>
          <a:p>
            <a:pPr>
              <a:spcBef>
                <a:spcPts val="600"/>
              </a:spcBef>
              <a:spcAft>
                <a:spcPts val="600"/>
              </a:spcAft>
              <a:defRPr sz="1600"/>
            </a:pPr>
            <a:r>
              <a:t>Significant investments in AI and digital transformation.</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TCS holds a dominant position in the IT services industry, characterized by a diverse service offering that includes cutting-edge AI solutions and digital transformation services. The company's collaborations with prominent technology firms, such as OpenAI, enhance its competitive edge and innovation capabilities. Furthermore, TCS's strategic investments in AI and cloud-native solutions position it favorably against competitors, ensuring sustained growth and market leadership in the evolving tech landscape.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39.0/100 (Bullish)</a:t>
            </a:r>
          </a:p>
          <a:p>
            <a:pPr>
              <a:lnSpc>
                <a:spcPct val="120000"/>
              </a:lnSpc>
              <a:spcBef>
                <a:spcPts val="800"/>
              </a:spcBef>
              <a:spcAft>
                <a:spcPts val="800"/>
              </a:spcAft>
              <a:defRPr sz="1600"/>
            </a:pPr>
            <a:r>
              <a:t>News Sentiment: 60/100 (Bullish)</a:t>
            </a:r>
          </a:p>
          <a:p>
            <a:pPr>
              <a:lnSpc>
                <a:spcPct val="120000"/>
              </a:lnSpc>
              <a:spcBef>
                <a:spcPts val="800"/>
              </a:spcBef>
              <a:spcAft>
                <a:spcPts val="800"/>
              </a:spcAft>
              <a:defRPr sz="1600"/>
            </a:pPr>
            <a:r>
              <a:t>Yahoo Finance Rating: 75/100 (Buy)</a:t>
            </a:r>
          </a:p>
          <a:p>
            <a:pPr>
              <a:lnSpc>
                <a:spcPct val="120000"/>
              </a:lnSpc>
              <a:spcBef>
                <a:spcPts val="800"/>
              </a:spcBef>
              <a:spcAft>
                <a:spcPts val="800"/>
              </a:spcAft>
              <a:defRPr sz="1600"/>
            </a:pPr>
            <a:r>
              <a:t>Twitter Sentiment: -25/100 (Bearish)</a:t>
            </a:r>
          </a:p>
          <a:p>
            <a:pPr>
              <a:lnSpc>
                <a:spcPct val="120000"/>
              </a:lnSpc>
              <a:spcBef>
                <a:spcPts val="800"/>
              </a:spcBef>
              <a:spcAft>
                <a:spcPts val="800"/>
              </a:spcAft>
              <a:defRPr sz="1600"/>
            </a:pPr>
            <a:r>
              <a:t>Positive Sentiment Factors: Workforce expansion in AI.</a:t>
            </a:r>
          </a:p>
          <a:p>
            <a:pPr>
              <a:lnSpc>
                <a:spcPct val="120000"/>
              </a:lnSpc>
              <a:spcBef>
                <a:spcPts val="800"/>
              </a:spcBef>
              <a:spcAft>
                <a:spcPts val="800"/>
              </a:spcAft>
              <a:defRPr sz="1600"/>
            </a:pPr>
            <a:r>
              <a:t>Negative Sentiment Factors: Concerns about non-AI 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Limited is optimistic, with projected earnings and revenue growth rates of 8.8% CAGR and 6.3% CAGR, respectively, over the next few years. The company's strategic focus on AI innovation and partnerships is expected to drive significant growth, with anticipated revenue rising from ₹2.64 trillion in 2026 to ₹3.03 trillion by 2028. Furthermore, TCS's strong cash flow generation and commitment to shareholder returns through buybacks and dividends further enhance its attractiveness as a long-term investment. Overall, TCS is well-positioned to capitalize on the growing demand for IT services and AI-driven solutions.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Buy recommendation based on bullish market sentiment.</a:t>
            </a:r>
          </a:p>
          <a:p>
            <a:pPr>
              <a:spcBef>
                <a:spcPts val="600"/>
              </a:spcBef>
              <a:spcAft>
                <a:spcPts val="600"/>
              </a:spcAft>
              <a:defRPr sz="1600"/>
            </a:pPr>
            <a:r>
              <a:t>Strong fundamentals with high profitability margins.</a:t>
            </a:r>
          </a:p>
          <a:p>
            <a:pPr>
              <a:spcBef>
                <a:spcPts val="600"/>
              </a:spcBef>
              <a:spcAft>
                <a:spcPts val="600"/>
              </a:spcAft>
              <a:defRPr sz="1600"/>
            </a:pPr>
            <a:r>
              <a:t>Strategic focus on AI positions TCS for future growth.</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bullish sentiment surrounding Tata Consultancy Services Limited and its strong financial fundamentals, we recommend a buy for investors seeking exposure to the technology sector. With a proven track record of profitability and a strategic pivot towards AI and digital solutions, TCS is likely to deliver robust returns over the coming years. The emphasis on innovation, combined with a strong commitment to shareholder value through dividends and buybacks, reinforces our positive outlook on this investment.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Concerns about flat non-AI revenue growth.</a:t>
            </a:r>
          </a:p>
          <a:p>
            <a:pPr>
              <a:lnSpc>
                <a:spcPct val="120000"/>
              </a:lnSpc>
              <a:spcBef>
                <a:spcPts val="800"/>
              </a:spcBef>
              <a:spcAft>
                <a:spcPts val="800"/>
              </a:spcAft>
              <a:defRPr sz="1600"/>
            </a:pPr>
            <a:r>
              <a:t>Potential market volatility affecting stock performance.</a:t>
            </a:r>
          </a:p>
          <a:p>
            <a:pPr>
              <a:lnSpc>
                <a:spcPct val="120000"/>
              </a:lnSpc>
              <a:spcBef>
                <a:spcPts val="800"/>
              </a:spcBef>
              <a:spcAft>
                <a:spcPts val="800"/>
              </a:spcAft>
              <a:defRPr sz="1600"/>
            </a:pPr>
            <a:r>
              <a:t>Increased competition in the AI space.</a:t>
            </a:r>
          </a:p>
          <a:p>
            <a:pPr>
              <a:lnSpc>
                <a:spcPct val="120000"/>
              </a:lnSpc>
              <a:spcBef>
                <a:spcPts val="800"/>
              </a:spcBef>
              <a:spcAft>
                <a:spcPts val="800"/>
              </a:spcAft>
              <a:defRPr sz="1600"/>
            </a:pPr>
            <a:r>
              <a:t>Weak sentiment in the broader Indian stock market.</a:t>
            </a:r>
          </a:p>
          <a:p>
            <a:pPr>
              <a:lnSpc>
                <a:spcPct val="120000"/>
              </a:lnSpc>
              <a:spcBef>
                <a:spcPts val="800"/>
              </a:spcBef>
              <a:spcAft>
                <a:spcPts val="800"/>
              </a:spcAft>
              <a:defRPr sz="1600"/>
            </a:pPr>
            <a:r>
              <a:t>Dependence on global economic conditions.</a:t>
            </a:r>
          </a:p>
          <a:p>
            <a:pPr>
              <a:lnSpc>
                <a:spcPct val="120000"/>
              </a:lnSpc>
              <a:spcBef>
                <a:spcPts val="800"/>
              </a:spcBef>
              <a:spcAft>
                <a:spcPts val="800"/>
              </a:spcAft>
              <a:defRPr sz="1600"/>
            </a:pPr>
            <a:r>
              <a:t>Regulatory challenges in international markets.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presents a compelling investment opportunity, underpinned by a solid financial foundation and a positive future outlook. As the company continues to innovate in the AI domain and expand its service offerings, investors are encouraged to consider TCS as a strong addition to their portfolios. Next steps include close monitoring of market trends, TCS's quarterly earnings reports, and developments in the AI sector to effectively navigate potential risks while capitalizing on growth opportunities.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
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Tata Consultancy Services Limited (TCS.NS)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TCS.NS | February 27,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टाटा कंसल्टेंसी सर्विसेज लिमिटेड (TCS) प्रौद्योगिकी क्षेत्र में एक प्रमुख खिलाड़ी के रूप में खड़ा है, जो वैश्विक स्तर पर सूचना प्रौद्योगिकी और आईटी-सक्षम सेवाओं में विशेषज्ञता रखता है। 1968 में स्थापित और मुंबई में मुख्यालय के साथ, कंपनी ने वित्त और खुदरा सहित विभिन्न उद्योगों की आवश्यकताओं को पूरा करने वाले एआई-आधारित उत्पादों और सेवाओं के मजबूत पोर्टफोलियो के माध्यम से अपनी स्थिति को मजबूत किया है। वर्तमान में सकारात्मक बाजार भावना और भविष्य के सकारात्मक दृष्टिकोण के साथ, TCS मजबूत वित्तीय स्वास्थ्य का प्रदर्शन करता है, जिसका प्रमाण ₹260,802.01 करोड़ का प्रभावशाली राजस्व और ₹47,716.00 करोड़ का शुद्ध लाभ है। कंपनी की एआई और क्लाउड प्रौद्योगिकियों में रणनीतिक निवेश वृद्धि को प्रेरित करने की उम्मीद है, जबकि इसका 2.26% का उच्च लाभांश उपज निवेशकों के लिए एक आकर्षक प्रस्ताव प्रस्तुत करता है। जैसे-जैसे TCS बाजार की गतिशीलताओं के अनुकूल होता है, यह आईटी परिदृश्य में उभरती अवसरों का लाभ उठाने के लिए अच्छी स्थिति में बना रहता 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1968, headquartered in Mumbai, India.</a:t>
            </a:r>
          </a:p>
          <a:p>
            <a:pPr>
              <a:spcBef>
                <a:spcPts val="600"/>
              </a:spcBef>
              <a:spcAft>
                <a:spcPts val="600"/>
              </a:spcAft>
              <a:defRPr sz="1600"/>
            </a:pPr>
            <a:r>
              <a:t>Employs approximately 608,000 individuals worldwide.</a:t>
            </a:r>
          </a:p>
          <a:p>
            <a:pPr>
              <a:spcBef>
                <a:spcPts val="600"/>
              </a:spcBef>
              <a:spcAft>
                <a:spcPts val="600"/>
              </a:spcAft>
              <a:defRPr sz="1600"/>
            </a:pPr>
            <a:r>
              <a:t>Operates in various sectors with a strong focus on AI and cloud solutions.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टाटा कंसल्टेंसी सर्विसेज लिमिटेड आईटी सेवाओं और समाधानों की एक विस्तृत श्रृंखला प्रदान करता है, जिसमें एआई-संचालित प्लेटफार्म जैसे TCS ADD और TCS BaNCS शामिल हैं। कंपनी की विविध पेशकशें इसे वित्त से लेकर खुदरा तक कई उद्योगों में ग्राहकों की बदलती आवश्यकताओं को पूरा करने में सक्षम बनाती हैं। यह अनुकूलता, उभरती प्रौद्योगिकियों में कुशल एक मजबूत कार्यबल के साथ, TCS को वैश्विक प्रौद्योगिकी क्षेत्र में एक प्रतिस्पर्धात्मक शक्ति के रूप में स्थापित करती है। नवाचार और संचालन दक्षता के प्रति अपनी प्रतिबद्धता के साथ, TCS अपनी बाजार उपस्थिति का विस्तार करना जारी रखता है और हितधारकों को मूल्य प्रदान करता है।</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₹260,802.01 Cr</a:t>
            </a:r>
          </a:p>
          <a:p>
            <a:pPr>
              <a:lnSpc>
                <a:spcPct val="120000"/>
              </a:lnSpc>
              <a:spcBef>
                <a:spcPts val="800"/>
              </a:spcBef>
              <a:spcAft>
                <a:spcPts val="800"/>
              </a:spcAft>
              <a:defRPr sz="1600"/>
            </a:pPr>
            <a:r>
              <a:t>Net Profit (TTM): ₹47,716.00 Cr</a:t>
            </a:r>
          </a:p>
          <a:p>
            <a:pPr>
              <a:lnSpc>
                <a:spcPct val="120000"/>
              </a:lnSpc>
              <a:spcBef>
                <a:spcPts val="800"/>
              </a:spcBef>
              <a:spcAft>
                <a:spcPts val="800"/>
              </a:spcAft>
              <a:defRPr sz="1600"/>
            </a:pPr>
            <a:r>
              <a:t>EBITDA: ₹68,208.00 Cr</a:t>
            </a:r>
          </a:p>
          <a:p>
            <a:pPr>
              <a:lnSpc>
                <a:spcPct val="120000"/>
              </a:lnSpc>
              <a:spcBef>
                <a:spcPts val="800"/>
              </a:spcBef>
              <a:spcAft>
                <a:spcPts val="800"/>
              </a:spcAft>
              <a:defRPr sz="1600"/>
            </a:pPr>
            <a:r>
              <a:t>EPS: ₹131.86</a:t>
            </a:r>
          </a:p>
          <a:p>
            <a:pPr>
              <a:lnSpc>
                <a:spcPct val="120000"/>
              </a:lnSpc>
              <a:spcBef>
                <a:spcPts val="800"/>
              </a:spcBef>
              <a:spcAft>
                <a:spcPts val="800"/>
              </a:spcAft>
              <a:defRPr sz="1600"/>
            </a:pPr>
            <a:r>
              <a:t>Dividend Yield: 2.26%</a:t>
            </a:r>
          </a:p>
          <a:p>
            <a:pPr>
              <a:lnSpc>
                <a:spcPct val="120000"/>
              </a:lnSpc>
              <a:spcBef>
                <a:spcPts val="800"/>
              </a:spcBef>
              <a:spcAft>
                <a:spcPts val="800"/>
              </a:spcAft>
              <a:defRPr sz="1600"/>
            </a:pPr>
            <a:r>
              <a:t>Total Assets: ₹66,829.00 Cr</a:t>
            </a:r>
          </a:p>
          <a:p>
            <a:pPr>
              <a:lnSpc>
                <a:spcPct val="120000"/>
              </a:lnSpc>
              <a:spcBef>
                <a:spcPts val="800"/>
              </a:spcBef>
              <a:spcAft>
                <a:spcPts val="800"/>
              </a:spcAft>
              <a:defRPr sz="1600"/>
            </a:pPr>
            <a:r>
              <a:t>Total Liabilities: ₹14,462.00 Cr</a:t>
            </a:r>
          </a:p>
          <a:p>
            <a:pPr>
              <a:lnSpc>
                <a:spcPct val="120000"/>
              </a:lnSpc>
              <a:spcBef>
                <a:spcPts val="800"/>
              </a:spcBef>
              <a:spcAft>
                <a:spcPts val="800"/>
              </a:spcAft>
              <a:defRPr sz="1600"/>
            </a:pPr>
            <a:r>
              <a:t>Market Capitalization: ₹953,873.00 Cr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टाटा कंसल्टेंसी सर्विसेज लिमिटेड मजबूत वित्तीय स्वास्थ्य का प्रदर्शन करता है, जिसे ₹260,802.01 करोड़ के महत्वपूर्ण राजस्व और 18.39% के शुद्ध लाभ मार्जिन से चिह्नित किया गया है। कंपनी का EBITDA ₹68,208.00 करोड़ है, जो मजबूत परिचालन दक्षता को दर्शाता है, जबकि ₹131.86 का EPS प्रति शेयर लाभप्रदता को दर्शाता है। TCS एक ठोस बैलेंस शीट बनाए रखता है, जिसमें कुल संपत्तियां ₹66,829.00 करोड़ हैं जबकि देनदारियां ₹14,462.00 करोड़ हैं, जिससे 0.01 का असाधारण ऋण-से-इक्विटी अनुपात प्राप्त होता है। यह कम लीवरेज कंपनी को भविष्य की वृद्धि के लिए अच्छी स्थिति में रखता है, जबकि इसे 94% के उच्च लाभांश भुगतान अनुपात को बनाए रखने की अनुमति देता है। ऐसे मेट्रिक्स न केवल TCS की वित्तीय स्थिरता को रेखांकित करते हैं, बल्कि इसके नकद प्रवाह उत्पन्न करने और शेयरधारक रिटर्न का समर्थन करने की क्षमता को भी उजागर करते 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₹2636.00</a:t>
            </a:r>
          </a:p>
          <a:p>
            <a:pPr>
              <a:lnSpc>
                <a:spcPct val="120000"/>
              </a:lnSpc>
              <a:spcBef>
                <a:spcPts val="800"/>
              </a:spcBef>
              <a:spcAft>
                <a:spcPts val="800"/>
              </a:spcAft>
              <a:defRPr sz="1600"/>
            </a:pPr>
            <a:r>
              <a:t>52-Week High: ₹3710.00</a:t>
            </a:r>
          </a:p>
          <a:p>
            <a:pPr>
              <a:lnSpc>
                <a:spcPct val="120000"/>
              </a:lnSpc>
              <a:spcBef>
                <a:spcPts val="800"/>
              </a:spcBef>
              <a:spcAft>
                <a:spcPts val="800"/>
              </a:spcAft>
              <a:defRPr sz="1600"/>
            </a:pPr>
            <a:r>
              <a:t>52-Week Low: ₹2561.30</a:t>
            </a:r>
          </a:p>
          <a:p>
            <a:pPr>
              <a:lnSpc>
                <a:spcPct val="120000"/>
              </a:lnSpc>
              <a:spcBef>
                <a:spcPts val="800"/>
              </a:spcBef>
              <a:spcAft>
                <a:spcPts val="800"/>
              </a:spcAft>
              <a:defRPr sz="1600"/>
            </a:pPr>
            <a:r>
              <a:t>Beta: 0.25 (low volatility)</a:t>
            </a:r>
          </a:p>
          <a:p>
            <a:pPr>
              <a:lnSpc>
                <a:spcPct val="120000"/>
              </a:lnSpc>
              <a:spcBef>
                <a:spcPts val="800"/>
              </a:spcBef>
              <a:spcAft>
                <a:spcPts val="800"/>
              </a:spcAft>
              <a:defRPr sz="1600"/>
            </a:pPr>
            <a:r>
              <a:t>1-Year Change: -27.93%</a:t>
            </a:r>
          </a:p>
          <a:p>
            <a:pPr>
              <a:lnSpc>
                <a:spcPct val="120000"/>
              </a:lnSpc>
              <a:spcBef>
                <a:spcPts val="800"/>
              </a:spcBef>
              <a:spcAft>
                <a:spcPts val="800"/>
              </a:spcAft>
              <a:defRPr sz="1600"/>
            </a:pPr>
            <a:r>
              <a:t>5-Year CAGR: 18.00%</a:t>
            </a:r>
          </a:p>
          <a:p>
            <a:pPr>
              <a:lnSpc>
                <a:spcPct val="120000"/>
              </a:lnSpc>
              <a:spcBef>
                <a:spcPts val="800"/>
              </a:spcBef>
              <a:spcAft>
                <a:spcPts val="800"/>
              </a:spcAft>
              <a:defRPr sz="1600"/>
            </a:pPr>
            <a:r>
              <a:t>Market Cap: ₹953,873.00 Cr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Promoter holding: 71.77%, indicating strong insider confidence.</a:t>
            </a:r>
          </a:p>
          <a:p>
            <a:pPr>
              <a:spcBef>
                <a:spcPts val="600"/>
              </a:spcBef>
              <a:spcAft>
                <a:spcPts val="600"/>
              </a:spcAft>
              <a:defRPr sz="1600"/>
            </a:pPr>
            <a:r>
              <a:t>FII and DII holdings at 10.37% and 12.81% respectively.</a:t>
            </a:r>
          </a:p>
          <a:p>
            <a:pPr>
              <a:spcBef>
                <a:spcPts val="600"/>
              </a:spcBef>
              <a:spcAft>
                <a:spcPts val="600"/>
              </a:spcAft>
              <a:defRPr sz="1600"/>
            </a:pPr>
            <a:r>
              <a:t>TCS is a leader in AI and cloud services, competing with major firms like Infosys and Wipro.</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प्रतिस्पर्धात्मक परिदृश्य में, टाटा कंसल्टेंसी सर्विसेज लिमिटेड सूचना प्रौद्योगिकी क्षेत्र में, विशेष रूप से एआई और क्लाउड कंप्यूटिंग में, एक नेता के रूप में उभरता है। 71.77% के महत्वपूर्ण प्रमोटर होल्डिंग के साथ, निवेशक विश्वास उच्च बना हुआ है। इसके अतिरिक्त, TCS की बाजार रणनीतियां इसे इन्फोसिस और विप्रो जैसे प्रतिस्पर्धियों के खिलाफ अपनी मजबूत स्थिति का लाभ उठाने की अनुमति देती हैं, जो भी डिजिटल परिवर्तन पर ध्यान केंद्रित करते हैं। जैसे-जैसे नवोन्मेषी आईटी समाधानों की मांग बढ़ती जा रही है, TCS का अपनी सेवा पेशकशों का विस्तार करने और प्रौद्योगिकी में निवेश करने का सक्रिय दृष्टिकोण संभवतः इसकी प्रतिस्पर्धात्मक बढ़त और बाजार हिस्सेदारी को बढ़ाएगा।</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Sentiment Score: 31.9/100 (Bullish)</a:t>
            </a:r>
          </a:p>
          <a:p>
            <a:pPr>
              <a:lnSpc>
                <a:spcPct val="120000"/>
              </a:lnSpc>
              <a:spcBef>
                <a:spcPts val="800"/>
              </a:spcBef>
              <a:spcAft>
                <a:spcPts val="800"/>
              </a:spcAft>
              <a:defRPr sz="1600"/>
            </a:pPr>
            <a:r>
              <a:t>News Sentiment: 49.9/100 (Strongly Bullish)</a:t>
            </a:r>
          </a:p>
          <a:p>
            <a:pPr>
              <a:lnSpc>
                <a:spcPct val="120000"/>
              </a:lnSpc>
              <a:spcBef>
                <a:spcPts val="800"/>
              </a:spcBef>
              <a:spcAft>
                <a:spcPts val="800"/>
              </a:spcAft>
              <a:defRPr sz="1600"/>
            </a:pPr>
            <a:r>
              <a:t>Yahoo Finance Rating: 60.0/100 (Buy)</a:t>
            </a:r>
          </a:p>
          <a:p>
            <a:pPr>
              <a:lnSpc>
                <a:spcPct val="120000"/>
              </a:lnSpc>
              <a:spcBef>
                <a:spcPts val="800"/>
              </a:spcBef>
              <a:spcAft>
                <a:spcPts val="800"/>
              </a:spcAft>
              <a:defRPr sz="1600"/>
            </a:pPr>
            <a:r>
              <a:t>Positive Tweets: 35.3%, Negative: 29.4%, Neutral: 35.3%</a:t>
            </a:r>
          </a:p>
          <a:p>
            <a:pPr>
              <a:lnSpc>
                <a:spcPct val="120000"/>
              </a:lnSpc>
              <a:spcBef>
                <a:spcPts val="800"/>
              </a:spcBef>
              <a:spcAft>
                <a:spcPts val="800"/>
              </a:spcAft>
              <a:defRPr sz="1600"/>
            </a:pPr>
            <a:r>
              <a:t>Analyst Target Price: ₹3,593 (upside of 33.7%)</a:t>
            </a:r>
          </a:p>
          <a:p>
            <a:pPr>
              <a:lnSpc>
                <a:spcPct val="120000"/>
              </a:lnSpc>
              <a:spcBef>
                <a:spcPts val="800"/>
              </a:spcBef>
              <a:spcAft>
                <a:spcPts val="800"/>
              </a:spcAft>
              <a:defRPr sz="1600"/>
            </a:pPr>
            <a:r>
              <a:t>Current sentiment influenced by AI workforce expansion.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आगे देखते हुए, टाटा कंसल्टेंसी सर्विसेज लिमिटेड प्रौद्योगिकी क्षेत्र में उभरती प्रवृत्तियों का लाभ उठाने के लिए अच्छी स्थिति में है, विशेष रूप से कृत्रिम बुद्धिमत्ता और क्लाउड कंप्यूटिंग में। विश्लेषकों का अनुमान है कि अगले तीन से पांच वर्षों में आय में 8.8% CAGR और राजस्व में 6.3% CAGR होगा, जो कंपनी की उच्च-मूल्य सेवाओं और लाभ मार्जिन के विस्तार पर रणनीतिक ध्यान के कारण है। 44.7% का अपेक्षित पूंजी पर लाभ (ROE) टाटा कंसल्टेंसी सर्विसेज की मजबूत लाभप्रदता की क्षमता को और अधिक उजागर करता है। मजबूत नकद उत्पादन की भविष्यवाणी के साथ, टाटा कंसल्टेंसी सर्विसेज अपनी लाभांश नीति बनाए रखने की उम्मीद है जबकि रणनीतिक अधिग्रहण और जैविक वृद्धि के अवसरों की खोज कर रही है। विश्लेषकों के बीच सहमति 'खरीदें' रेटिंग है, जो सुझाव देती है कि टाटा कंसल्टेंसी सर्विसेज आने वाले वर्षों में निवेशकों के लिए महत्वपूर्ण लाभ प्रदान करेगी क्योंकि कंपनी नवाचार करती रहेगी और अपनी क्षमताओं का विस्तार करती रहेगी।</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Buy recommendation based on strong financial metrics.</a:t>
            </a:r>
          </a:p>
          <a:p>
            <a:pPr>
              <a:spcBef>
                <a:spcPts val="600"/>
              </a:spcBef>
              <a:spcAft>
                <a:spcPts val="600"/>
              </a:spcAft>
              <a:defRPr sz="1600"/>
            </a:pPr>
            <a:r>
              <a:t>High growth potential in AI and cloud services.</a:t>
            </a:r>
          </a:p>
          <a:p>
            <a:pPr>
              <a:spcBef>
                <a:spcPts val="600"/>
              </a:spcBef>
              <a:spcAft>
                <a:spcPts val="600"/>
              </a:spcAft>
              <a:defRPr sz="1600"/>
            </a:pPr>
            <a:r>
              <a:t>Dividend yield of 2.26% provides attractive income.</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टाटा कंसल्टेंसी सर्विसेज लिमिटेड के मजबूत वित्तीय प्रदर्शन और सकारात्मक बाजार भावना को देखते हुए, 'खरीदें' की सिफारिश उचित है। कंपनी के मजबूत मूलभूत तत्व, जिसमें 2.26% का महत्वपूर्ण लाभांश उपज और एक ठोस बैलेंस शीट शामिल है, इसे वृद्धि और आय निवेशकों के लिए अनुकूल स्थिति में रखते हैं। एआई और डिजिटल परिवर्तन में निरंतर निवेश के साथ, TCS बाजार हिस्सेदारी हासिल करने और लाभप्रदता बढ़ाने के लिए तैयार है। जैसे-जैसे विश्लेषक महत्वपूर्ण upside क्षमता का अनुमान लगाते हैं, TCS में निवेश तकनीकी क्षेत्र में दीर्घकालिक वृद्धि की तलाश करने वालों के लिए एक आकर्षक अवसर प्रस्तुत करता 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Regulatory changes in global markets could impact operations.</a:t>
            </a:r>
          </a:p>
          <a:p>
            <a:pPr>
              <a:lnSpc>
                <a:spcPct val="120000"/>
              </a:lnSpc>
              <a:spcBef>
                <a:spcPts val="800"/>
              </a:spcBef>
              <a:spcAft>
                <a:spcPts val="800"/>
              </a:spcAft>
              <a:defRPr sz="1600"/>
            </a:pPr>
            <a:r>
              <a:t>Increasing competition in AI and cloud sectors may pressure margins.</a:t>
            </a:r>
          </a:p>
          <a:p>
            <a:pPr>
              <a:lnSpc>
                <a:spcPct val="120000"/>
              </a:lnSpc>
              <a:spcBef>
                <a:spcPts val="800"/>
              </a:spcBef>
              <a:spcAft>
                <a:spcPts val="800"/>
              </a:spcAft>
              <a:defRPr sz="1600"/>
            </a:pPr>
            <a:r>
              <a:t>Economic downturns could reduce IT spending by clients.</a:t>
            </a:r>
          </a:p>
          <a:p>
            <a:pPr>
              <a:lnSpc>
                <a:spcPct val="120000"/>
              </a:lnSpc>
              <a:spcBef>
                <a:spcPts val="800"/>
              </a:spcBef>
              <a:spcAft>
                <a:spcPts val="800"/>
              </a:spcAft>
              <a:defRPr sz="1600"/>
            </a:pPr>
            <a:r>
              <a:t>High payout ratio raises concerns over dividend sustainability.</a:t>
            </a:r>
          </a:p>
          <a:p>
            <a:pPr>
              <a:lnSpc>
                <a:spcPct val="120000"/>
              </a:lnSpc>
              <a:spcBef>
                <a:spcPts val="800"/>
              </a:spcBef>
              <a:spcAft>
                <a:spcPts val="800"/>
              </a:spcAft>
              <a:defRPr sz="1600"/>
            </a:pPr>
            <a:r>
              <a:t>Market volatility could affect stock performance.</a:t>
            </a:r>
          </a:p>
          <a:p>
            <a:pPr>
              <a:lnSpc>
                <a:spcPct val="120000"/>
              </a:lnSpc>
              <a:spcBef>
                <a:spcPts val="800"/>
              </a:spcBef>
              <a:spcAft>
                <a:spcPts val="800"/>
              </a:spcAft>
              <a:defRPr sz="1600"/>
            </a:pPr>
            <a:r>
              <a:t>Geopolitical tensions may disrupt supply chains and client relationships.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अंत में, टाटा कंसल्टेंसी सर्विसेज लिमिटेड एक आशाजनक निवेश अवसर प्रदान करता है जो मजबूत वित्तीय स्वास्थ्य, एक मजबूत बाजार स्थिति, और प्रौद्योगिकी में रणनीतिक निवेशों द्वारा संचालित सकारात्मक दृष्टिकोण से विशेषता है। जबकि विचार करने के लिए अंतर्निहित जोखिम हैं, महत्वपूर्ण वृद्धि और लाभ की क्षमता TCS को निवेशकों के लिए एक आकर्षक विकल्प बनाती है। अगले कदमों में बाजार के रुझानों की निकटता से निगरानी करना, TCS के तिमाही प्रदर्शन का मूल्यांकन करना, और शेयर में प्रवेश के समय पर विचार करना शामिल है। जैसे-जैसे प्रौद्योगिकी का परिदृश्य विकसित होता है, सूचित रहना निवेश के परिणामों को अधिकतम करने के लिए महत्वपूर्ण होगा।</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
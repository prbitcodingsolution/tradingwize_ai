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(TCS.NS) -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March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is a leading global IT services provider, headquartered in Mumbai, India. Founded in 1968, TCS has grown to employ over 600,000 professionals across various sectors. The company specializes in a wide array of IT solutions, including cloud computing, AI, and business process services, catering to clients worldwide. Currently, TCS exhibits a strongly bullish sentiment, driven by robust demand for its innovative services and strategic business initiatives. Despite recent fluctuations in its stock price, TCS remains a strong investment candidate, backed by solid financials, a growing market presence, and an optimistic growth outlook. Analysts predict a steady revenue trajectory and profitability, emphasizing TCS's potential for long-term value creation.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Sector: Technology</a:t>
            </a:r>
          </a:p>
          <a:p>
            <a:pPr>
              <a:spcBef>
                <a:spcPts val="600"/>
              </a:spcBef>
              <a:spcAft>
                <a:spcPts val="600"/>
              </a:spcAft>
              <a:defRPr sz="1600"/>
            </a:pPr>
            <a:r>
              <a:t>Industry: Information Technology Services</a:t>
            </a:r>
          </a:p>
          <a:p>
            <a:pPr>
              <a:spcBef>
                <a:spcPts val="600"/>
              </a:spcBef>
              <a:spcAft>
                <a:spcPts val="600"/>
              </a:spcAft>
              <a:defRPr sz="1600"/>
            </a:pPr>
            <a:r>
              <a:t>Headquarters: Mumbai, India</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(TCS) operates as a prominent player in the information technology sector, providing a diverse range of IT and IT-enabled services globally. The company’s offerings include advanced platforms like TCS ADD, TCS BaNCS, and TCS OmniStore, aimed at enhancing customer experience and operational efficiency. TCS has established a significant geographic presence, with a strong focus on innovation and digital transformation, which positions it well to capitalize on emerging trends in technology and business.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₹131.78</a:t>
            </a:r>
          </a:p>
          <a:p>
            <a:pPr>
              <a:lnSpc>
                <a:spcPct val="120000"/>
              </a:lnSpc>
              <a:spcBef>
                <a:spcPts val="800"/>
              </a:spcBef>
              <a:spcAft>
                <a:spcPts val="800"/>
              </a:spcAft>
              <a:defRPr sz="1600"/>
            </a:pPr>
            <a:r>
              <a:t>Dividend Yield: 2.45%</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₹1.36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demonstrates a robust financial position, characterized by healthy revenue and profit margins. With a revenue of ₹260,802.01 crore and a net profit of ₹47,716 crore, TCS maintains a profit margin of 18.39% and an operating margin of 27%. The company's EBITDA stands at ₹68,208 crore, indicating strong operational efficiency. The balance sheet is equally impressive, with total assets of ₹66,829 crore and a minimal debt-to-equity ratio of 0.01, showcasing TCS's conservative leverage approach. Furthermore, TCS's consistent dividend yield of 2.45% reflects its commitment to returning value to shareholders amidst a heavily invested payout ratio of 94%.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₹2456.00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₹2360.00</a:t>
            </a:r>
          </a:p>
          <a:p>
            <a:pPr>
              <a:lnSpc>
                <a:spcPct val="120000"/>
              </a:lnSpc>
              <a:spcBef>
                <a:spcPts val="800"/>
              </a:spcBef>
              <a:spcAft>
                <a:spcPts val="800"/>
              </a:spcAft>
              <a:defRPr sz="1600"/>
            </a:pPr>
            <a:r>
              <a:t>Market Capitalization: ₹888512.00 Cr</a:t>
            </a:r>
          </a:p>
          <a:p>
            <a:pPr>
              <a:lnSpc>
                <a:spcPct val="120000"/>
              </a:lnSpc>
              <a:spcBef>
                <a:spcPts val="800"/>
              </a:spcBef>
              <a:spcAft>
                <a:spcPts val="800"/>
              </a:spcAft>
              <a:defRPr sz="1600"/>
            </a:pPr>
            <a:r>
              <a:t>Beta (Volatility): 0.20</a:t>
            </a:r>
          </a:p>
          <a:p>
            <a:pPr>
              <a:lnSpc>
                <a:spcPct val="120000"/>
              </a:lnSpc>
              <a:spcBef>
                <a:spcPts val="800"/>
              </a:spcBef>
              <a:spcAft>
                <a:spcPts val="800"/>
              </a:spcAft>
              <a:defRPr sz="1600"/>
            </a:pPr>
            <a:r>
              <a:t>1-Year Change: -27.48%</a:t>
            </a:r>
          </a:p>
          <a:p>
            <a:pPr>
              <a:lnSpc>
                <a:spcPct val="120000"/>
              </a:lnSpc>
              <a:spcBef>
                <a:spcPts val="800"/>
              </a:spcBef>
              <a:spcAft>
                <a:spcPts val="800"/>
              </a:spcAft>
              <a:defRPr sz="1600"/>
            </a:pPr>
            <a:r>
              <a:t>5-Year CAGR: 10.20%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71.77%</a:t>
            </a:r>
          </a:p>
          <a:p>
            <a:pPr>
              <a:spcBef>
                <a:spcPts val="600"/>
              </a:spcBef>
              <a:spcAft>
                <a:spcPts val="600"/>
              </a:spcAft>
              <a:defRPr sz="1600"/>
            </a:pPr>
            <a:r>
              <a:t>FII Holding: 10.37%</a:t>
            </a:r>
          </a:p>
          <a:p>
            <a:pPr>
              <a:spcBef>
                <a:spcPts val="600"/>
              </a:spcBef>
              <a:spcAft>
                <a:spcPts val="600"/>
              </a:spcAft>
              <a:defRPr sz="1600"/>
            </a:pPr>
            <a:r>
              <a:t>DII Holding: 12.81%</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holds a commanding position in the IT services industry, benefitting from significant promoter holding at 71.77%. The company’s strong market presence is complemented by institutional investments, with Foreign Institutional Investors (FIIs) holding 10.37% and Domestic Institutional Investors (DIIs) at 12.81%. TCS faces competition from global IT service providers but distinguishes itself with a diverse service portfolio, a strong brand reputation, and an extensive client base, positioning it favorably for sustained growth in a competitive landscape.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70.7/100 (Strongly Bullish)</a:t>
            </a:r>
          </a:p>
          <a:p>
            <a:pPr>
              <a:lnSpc>
                <a:spcPct val="120000"/>
              </a:lnSpc>
              <a:spcBef>
                <a:spcPts val="800"/>
              </a:spcBef>
              <a:spcAft>
                <a:spcPts val="800"/>
              </a:spcAft>
              <a:defRPr sz="1600"/>
            </a:pPr>
            <a:r>
              <a:t>News Sentiment: 82.6/100 (Strongly Bullish)</a:t>
            </a:r>
          </a:p>
          <a:p>
            <a:pPr>
              <a:lnSpc>
                <a:spcPct val="120000"/>
              </a:lnSpc>
              <a:spcBef>
                <a:spcPts val="800"/>
              </a:spcBef>
              <a:spcAft>
                <a:spcPts val="800"/>
              </a:spcAft>
              <a:defRPr sz="1600"/>
            </a:pPr>
            <a:r>
              <a:t>Yahoo Finance Sentiment: 80.0/100 (Buy)</a:t>
            </a:r>
          </a:p>
          <a:p>
            <a:pPr>
              <a:lnSpc>
                <a:spcPct val="120000"/>
              </a:lnSpc>
              <a:spcBef>
                <a:spcPts val="800"/>
              </a:spcBef>
              <a:spcAft>
                <a:spcPts val="800"/>
              </a:spcAft>
              <a:defRPr sz="1600"/>
            </a:pPr>
            <a:r>
              <a:t>Twitter/X Sentiment: 57.5/100 (Neutral)</a:t>
            </a:r>
          </a:p>
          <a:p>
            <a:pPr>
              <a:lnSpc>
                <a:spcPct val="120000"/>
              </a:lnSpc>
              <a:spcBef>
                <a:spcPts val="800"/>
              </a:spcBef>
              <a:spcAft>
                <a:spcPts val="800"/>
              </a:spcAft>
              <a:defRPr sz="1600"/>
            </a:pPr>
            <a:r>
              <a:t>Positive Tweets: 50.0%; Negative: 43.8%; Neutral: 6.2%</a:t>
            </a:r>
          </a:p>
          <a:p>
            <a:pPr>
              <a:lnSpc>
                <a:spcPct val="120000"/>
              </a:lnSpc>
              <a:spcBef>
                <a:spcPts val="800"/>
              </a:spcBef>
              <a:spcAft>
                <a:spcPts val="800"/>
              </a:spcAft>
              <a:defRPr sz="1600"/>
            </a:pPr>
            <a:r>
              <a:t>Analyst recommendations trending towards 'Buy'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is cautiously optimistic, as analysts project a revenue growth of approximately 4% YoY for FY-2026, with a consensus estimate of ₹2.66 trillion. Despite a deceleration in revenue growth compared to historical trends, TCS is expected to maintain profitability with an EPS forecast of ₹143 for FY-2026. The company's strategic focus on AI and Cloud services positions it to capture emerging market opportunities while enhancing operational efficiencies. The anticipated return on equity remains high at around 44%, underpinning TCS's potential for premium valuation in the long run. Furthermore, the stable dividend yield of approximately 5% supports a solid total return profile, making TCS an attractive investment.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Consensus Price Target: ₹3,828 (ET)</a:t>
            </a:r>
          </a:p>
          <a:p>
            <a:pPr>
              <a:spcBef>
                <a:spcPts val="600"/>
              </a:spcBef>
              <a:spcAft>
                <a:spcPts val="600"/>
              </a:spcAft>
              <a:defRPr sz="1600"/>
            </a:pPr>
            <a:r>
              <a:t>Potential Upside: 15-30% from current levels</a:t>
            </a:r>
          </a:p>
          <a:p>
            <a:pPr>
              <a:spcBef>
                <a:spcPts val="600"/>
              </a:spcBef>
              <a:spcAft>
                <a:spcPts val="600"/>
              </a:spcAft>
              <a:defRPr sz="1600"/>
            </a:pPr>
            <a:r>
              <a:t>Strong dividend yield provides income support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Considering the current market conditions and TCS's robust fundamentals, the investment recommendation is to 'Buy'. The consensus price target suggests a potential upside of 15-30% from the current trading levels, reflecting optimism about future growth. Additionally, TCS's strong dividend yield offers a stable income component, making it a compelling choice for both growth and income-focused investors. Given the company's strategic initiatives in AI and cloud services, investors should view TCS as a solid long-term investment opportunity.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Declining share price by 31.14% over the past year.</a:t>
            </a:r>
          </a:p>
          <a:p>
            <a:pPr>
              <a:lnSpc>
                <a:spcPct val="120000"/>
              </a:lnSpc>
              <a:spcBef>
                <a:spcPts val="800"/>
              </a:spcBef>
              <a:spcAft>
                <a:spcPts val="800"/>
              </a:spcAft>
              <a:defRPr sz="1600"/>
            </a:pPr>
            <a:r>
              <a:t>Market cap loss exceeding $100 billion from peak.</a:t>
            </a:r>
          </a:p>
          <a:p>
            <a:pPr>
              <a:lnSpc>
                <a:spcPct val="120000"/>
              </a:lnSpc>
              <a:spcBef>
                <a:spcPts val="800"/>
              </a:spcBef>
              <a:spcAft>
                <a:spcPts val="800"/>
              </a:spcAft>
              <a:defRPr sz="1600"/>
            </a:pPr>
            <a:r>
              <a:t>Increased wage expenses impacting operational efficiency.</a:t>
            </a:r>
          </a:p>
          <a:p>
            <a:pPr>
              <a:lnSpc>
                <a:spcPct val="120000"/>
              </a:lnSpc>
              <a:spcBef>
                <a:spcPts val="800"/>
              </a:spcBef>
              <a:spcAft>
                <a:spcPts val="800"/>
              </a:spcAft>
              <a:defRPr sz="1600"/>
            </a:pPr>
            <a:r>
              <a:t>Slow revenue growth compared to historical averages.</a:t>
            </a:r>
          </a:p>
          <a:p>
            <a:pPr>
              <a:lnSpc>
                <a:spcPct val="120000"/>
              </a:lnSpc>
              <a:spcBef>
                <a:spcPts val="800"/>
              </a:spcBef>
              <a:spcAft>
                <a:spcPts val="800"/>
              </a:spcAft>
              <a:defRPr sz="1600"/>
            </a:pPr>
            <a:r>
              <a:t>Dependence on global economic conditions.</a:t>
            </a:r>
          </a:p>
          <a:p>
            <a:pPr>
              <a:lnSpc>
                <a:spcPct val="120000"/>
              </a:lnSpc>
              <a:spcBef>
                <a:spcPts val="800"/>
              </a:spcBef>
              <a:spcAft>
                <a:spcPts val="800"/>
              </a:spcAft>
              <a:defRPr sz="1600"/>
            </a:pPr>
            <a:r>
              <a:t>Potential risks related to IT sector competition.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presents a strong investment case characterized by robust financial health, a diverse service portfolio, and a favorable market sentiment. Despite facing challenges such as declining share prices and operational cost pressures, TCS remains well-positioned for future growth driven by its strategic focus on technology innovation. Investors are encouraged to monitor TCS closely, considering the company's potential for recovery and capital appreciation in the coming quarters. Next steps include reviewing analysts’ updates, assessing the market conditions, and evaluating the timing of potential investments in TCS.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
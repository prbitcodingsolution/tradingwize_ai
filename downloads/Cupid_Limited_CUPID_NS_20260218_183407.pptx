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February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(CUPID.NS) is a prominent player in the consumer defensive sector, specializing in household and personal products. Founded in 1997 and headquartered in Nashik, India, the company designs, manufactures, markets, and exports a variety of products, including male and female condoms, lubricants, and diagnostic kits. With a strong revenue base of ₹294.23 Cr and a net profit of ₹83.48 Cr, the firm's financial health is robust, marked by a profit margin of 28.23%. The stock has shown impressive growth, gaining 511.82% over the past year, reflecting strong investor sentiment and market performance. Analysts foresee continued growth driven by strategic expansion and operational efficiency, making it a compelling investment opportunity.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Sector: Consumer Defensive</a:t>
            </a:r>
          </a:p>
          <a:p>
            <a:pPr>
              <a:spcBef>
                <a:spcPts val="600"/>
              </a:spcBef>
              <a:spcAft>
                <a:spcPts val="600"/>
              </a:spcAft>
              <a:defRPr sz="1600"/>
            </a:pPr>
            <a:r>
              <a:t>Industry: Household &amp; Personal Products</a:t>
            </a:r>
          </a:p>
          <a:p>
            <a:pPr>
              <a:spcBef>
                <a:spcPts val="600"/>
              </a:spcBef>
              <a:spcAft>
                <a:spcPts val="600"/>
              </a:spcAft>
              <a:defRPr sz="1600"/>
            </a:pPr>
            <a:r>
              <a:t>Employees: 217</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within the consumer defensive sector, focusing on household and personal products. The company has carved out a niche in designing and manufacturing a diverse range of products, including condoms and personal care items. With its strategic geographic presence primarily in India, Cupid Limited has also established a significant export market across continents including Africa and North America. This diversified product offering not only bolsters revenue but also enhances brand recognition in global markets.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a:t>
            </a:r>
          </a:p>
          <a:p>
            <a:pPr>
              <a:lnSpc>
                <a:spcPct val="120000"/>
              </a:lnSpc>
              <a:spcBef>
                <a:spcPts val="800"/>
              </a:spcBef>
              <a:spcAft>
                <a:spcPts val="800"/>
              </a:spcAft>
              <a:defRPr sz="1600"/>
            </a:pPr>
            <a:r>
              <a:t>Net Profit (TTM): ₹83.48 Cr</a:t>
            </a:r>
          </a:p>
          <a:p>
            <a:pPr>
              <a:lnSpc>
                <a:spcPct val="120000"/>
              </a:lnSpc>
              <a:spcBef>
                <a:spcPts val="800"/>
              </a:spcBef>
              <a:spcAft>
                <a:spcPts val="800"/>
              </a:spcAft>
              <a:defRPr sz="1600"/>
            </a:pPr>
            <a:r>
              <a:t>EBITDA: ₹91.23 Cr</a:t>
            </a:r>
          </a:p>
          <a:p>
            <a:pPr>
              <a:lnSpc>
                <a:spcPct val="120000"/>
              </a:lnSpc>
              <a:spcBef>
                <a:spcPts val="800"/>
              </a:spcBef>
              <a:spcAft>
                <a:spcPts val="800"/>
              </a:spcAft>
              <a:defRPr sz="1600"/>
            </a:pPr>
            <a:r>
              <a:t>EPS: ₹3.09</a:t>
            </a:r>
          </a:p>
          <a:p>
            <a:pPr>
              <a:lnSpc>
                <a:spcPct val="120000"/>
              </a:lnSpc>
              <a:spcBef>
                <a:spcPts val="800"/>
              </a:spcBef>
              <a:spcAft>
                <a:spcPts val="800"/>
              </a:spcAft>
              <a:defRPr sz="1600"/>
            </a:pPr>
            <a:r>
              <a:t>Total Assets: ₹152.00 Cr</a:t>
            </a:r>
          </a:p>
          <a:p>
            <a:pPr>
              <a:lnSpc>
                <a:spcPct val="120000"/>
              </a:lnSpc>
              <a:spcBef>
                <a:spcPts val="800"/>
              </a:spcBef>
              <a:spcAft>
                <a:spcPts val="800"/>
              </a:spcAft>
              <a:defRPr sz="1600"/>
            </a:pPr>
            <a:r>
              <a:t>Total Debt: ₹26.76 Cr</a:t>
            </a:r>
          </a:p>
          <a:p>
            <a:pPr>
              <a:lnSpc>
                <a:spcPct val="120000"/>
              </a:lnSpc>
              <a:spcBef>
                <a:spcPts val="800"/>
              </a:spcBef>
              <a:spcAft>
                <a:spcPts val="800"/>
              </a:spcAft>
              <a:defRPr sz="1600"/>
            </a:pPr>
            <a:r>
              <a:t>Cash Balance: ₹191.73 Cr</a:t>
            </a:r>
          </a:p>
          <a:p>
            <a:pPr>
              <a:lnSpc>
                <a:spcPct val="120000"/>
              </a:lnSpc>
              <a:spcBef>
                <a:spcPts val="800"/>
              </a:spcBef>
              <a:spcAft>
                <a:spcPts val="800"/>
              </a:spcAft>
              <a:defRPr sz="1600"/>
            </a:pPr>
            <a:r>
              <a:t>Debt-to-Equity Ratio: 7.02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exhibits a strong financial foundation characterized by a healthy revenue stream and profitability. With a total revenue of ₹294.23 Cr and a net profit margin of 28.23%, the company's operational efficiency is evident. The EBITDA of ₹91.23 Cr further underscores its robust earnings capability. Additionally, the low debt-to-equity ratio of 7.02 indicates sound financial leverage, suggesting that the company is not overly reliant on debt for growth. This financial stability, coupled with a steady cash balance of ₹191.73 Cr, positions Cupid Limited favorably for future expansion and investment.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₹423.00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Market Capitalization: ₹11389.00 Cr</a:t>
            </a:r>
          </a:p>
          <a:p>
            <a:pPr>
              <a:lnSpc>
                <a:spcPct val="120000"/>
              </a:lnSpc>
              <a:spcBef>
                <a:spcPts val="800"/>
              </a:spcBef>
              <a:spcAft>
                <a:spcPts val="800"/>
              </a:spcAft>
              <a:defRPr sz="1600"/>
            </a:pPr>
            <a:r>
              <a:t>Beta (Volatility): 0.04</a:t>
            </a:r>
          </a:p>
          <a:p>
            <a:pPr>
              <a:lnSpc>
                <a:spcPct val="120000"/>
              </a:lnSpc>
              <a:spcBef>
                <a:spcPts val="800"/>
              </a:spcBef>
              <a:spcAft>
                <a:spcPts val="800"/>
              </a:spcAft>
              <a:defRPr sz="1600"/>
            </a:pPr>
            <a:r>
              <a:t>1 Year Change: 511.82%</a:t>
            </a:r>
          </a:p>
          <a:p>
            <a:pPr>
              <a:lnSpc>
                <a:spcPct val="120000"/>
              </a:lnSpc>
              <a:spcBef>
                <a:spcPts val="800"/>
              </a:spcBef>
              <a:spcAft>
                <a:spcPts val="800"/>
              </a:spcAft>
              <a:defRPr sz="1600"/>
            </a:pPr>
            <a:r>
              <a:t>5 Year CAGR: 15.00%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Competitors: Nestlé India Limited, Varun Beverages Limited</a:t>
            </a:r>
          </a:p>
          <a:p>
            <a:pPr>
              <a:spcBef>
                <a:spcPts val="600"/>
              </a:spcBef>
              <a:spcAft>
                <a:spcPts val="600"/>
              </a:spcAft>
              <a:defRPr sz="1600"/>
            </a:pPr>
            <a:r>
              <a:t>Market Cap Comparison: Cupid ₹11389.00 Cr, Nestlé ₹250854.43 Cr</a:t>
            </a:r>
          </a:p>
          <a:p>
            <a:pPr>
              <a:spcBef>
                <a:spcPts val="600"/>
              </a:spcBef>
              <a:spcAft>
                <a:spcPts val="600"/>
              </a:spcAft>
              <a:defRPr sz="1600"/>
            </a:pPr>
            <a:r>
              <a:t>Profit Margin Comparison: Cupid 28.23%, Nestlé 14.92%</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In the competitive landscape, Cupid Limited holds a distinctive position within the household and personal products industry, competing against larger entities such as Nestlé India and Varun Beverages. While Nestlé boasts a significantly larger market capitalization of ₹250854.43 Cr, Cupid's profit margin of 28.23% surpasses Nestlé's 14.92%, indicating superior operational efficiency. This competitive edge highlights Cupid's potential to capture a larger market share and sustain its growth trajectory in an expanding market.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Bullish (40.0/100)</a:t>
            </a:r>
          </a:p>
          <a:p>
            <a:pPr>
              <a:lnSpc>
                <a:spcPct val="120000"/>
              </a:lnSpc>
              <a:spcBef>
                <a:spcPts val="800"/>
              </a:spcBef>
              <a:spcAft>
                <a:spcPts val="800"/>
              </a:spcAft>
              <a:defRPr sz="1600"/>
            </a:pPr>
            <a:r>
              <a:t>News Sentiment: 85/100 (Bullish)</a:t>
            </a:r>
          </a:p>
          <a:p>
            <a:pPr>
              <a:lnSpc>
                <a:spcPct val="120000"/>
              </a:lnSpc>
              <a:spcBef>
                <a:spcPts val="800"/>
              </a:spcBef>
              <a:spcAft>
                <a:spcPts val="800"/>
              </a:spcAft>
              <a:defRPr sz="1600"/>
            </a:pPr>
            <a:r>
              <a:t>Yahoo Finance Sentiment: 0/100 (Hold)</a:t>
            </a:r>
          </a:p>
          <a:p>
            <a:pPr>
              <a:lnSpc>
                <a:spcPct val="120000"/>
              </a:lnSpc>
              <a:spcBef>
                <a:spcPts val="800"/>
              </a:spcBef>
              <a:spcAft>
                <a:spcPts val="800"/>
              </a:spcAft>
              <a:defRPr sz="1600"/>
            </a:pPr>
            <a:r>
              <a:t>Twitter/X Sentiment: 20/100 (Bullish)</a:t>
            </a:r>
          </a:p>
          <a:p>
            <a:pPr>
              <a:lnSpc>
                <a:spcPct val="120000"/>
              </a:lnSpc>
              <a:spcBef>
                <a:spcPts val="800"/>
              </a:spcBef>
              <a:spcAft>
                <a:spcPts val="800"/>
              </a:spcAft>
              <a:defRPr sz="1600"/>
            </a:pPr>
            <a:r>
              <a:t>Positive Tweets: 60%, Negative: 10%</a:t>
            </a:r>
          </a:p>
          <a:p>
            <a:pPr>
              <a:lnSpc>
                <a:spcPct val="120000"/>
              </a:lnSpc>
              <a:spcBef>
                <a:spcPts val="800"/>
              </a:spcBef>
              <a:spcAft>
                <a:spcPts val="800"/>
              </a:spcAft>
              <a:defRPr sz="1600"/>
            </a:pPr>
            <a:r>
              <a:t>Recent Price Performance: +511.82% YoY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Cupid Limited appears promising, underscored by projected revenue and earnings growth. Consensus forecasts indicate a revenue increase from ₹1.50 billion in FY2023 to ₹1.90 billion in FY2024, followed by ₹2.94 billion in FY2025, reflecting a robust year-on-year growth rate of approximately 27%. Furthermore, the strategic launch of new product lines, including an In-Vitro Diagnostic division, coupled with significant growth capital secured from private equity funds, positions the company favorably for sustained expansion. Overall, the bullish sentiment combined with operational advancements suggests a favorable investment climate for Cupid Limited.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Price: ₹423.00</a:t>
            </a:r>
          </a:p>
          <a:p>
            <a:pPr>
              <a:spcBef>
                <a:spcPts val="600"/>
              </a:spcBef>
              <a:spcAft>
                <a:spcPts val="600"/>
              </a:spcAft>
              <a:defRPr sz="1600"/>
            </a:pPr>
            <a:r>
              <a:t>Considered bullish with potential upside.</a:t>
            </a:r>
          </a:p>
          <a:p>
            <a:pPr>
              <a:spcBef>
                <a:spcPts val="600"/>
              </a:spcBef>
              <a:spcAft>
                <a:spcPts val="600"/>
              </a:spcAft>
              <a:defRPr sz="1600"/>
            </a:pPr>
            <a:r>
              <a:t>Strong financial health and market position.</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current price of ₹423.00, coupled with a strong financial performance and positive market sentiment, Cupid Limited presents an attractive investment opportunity. The company's solid revenue growth, alongside significant returns over the past year, supports a bullish recommendation. Investors should consider entering at this price point to capitalize on the projected growth and market expansion. However, as with any investment, thorough analysis and risk assessment are essential.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volatility with a beta of 0.04.</a:t>
            </a:r>
          </a:p>
          <a:p>
            <a:pPr>
              <a:lnSpc>
                <a:spcPct val="120000"/>
              </a:lnSpc>
              <a:spcBef>
                <a:spcPts val="800"/>
              </a:spcBef>
              <a:spcAft>
                <a:spcPts val="800"/>
              </a:spcAft>
              <a:defRPr sz="1600"/>
            </a:pPr>
            <a:r>
              <a:t>52-week low of ₹55.75 raises concerns.</a:t>
            </a:r>
          </a:p>
          <a:p>
            <a:pPr>
              <a:lnSpc>
                <a:spcPct val="120000"/>
              </a:lnSpc>
              <a:spcBef>
                <a:spcPts val="800"/>
              </a:spcBef>
              <a:spcAft>
                <a:spcPts val="800"/>
              </a:spcAft>
              <a:defRPr sz="1600"/>
            </a:pPr>
            <a:r>
              <a:t>Limited analyst coverage may lead to uncertainty.</a:t>
            </a:r>
          </a:p>
          <a:p>
            <a:pPr>
              <a:lnSpc>
                <a:spcPct val="120000"/>
              </a:lnSpc>
              <a:spcBef>
                <a:spcPts val="800"/>
              </a:spcBef>
              <a:spcAft>
                <a:spcPts val="800"/>
              </a:spcAft>
              <a:defRPr sz="1600"/>
            </a:pPr>
            <a:r>
              <a:t>Governance-related red flags.</a:t>
            </a:r>
          </a:p>
          <a:p>
            <a:pPr>
              <a:lnSpc>
                <a:spcPct val="120000"/>
              </a:lnSpc>
              <a:spcBef>
                <a:spcPts val="800"/>
              </a:spcBef>
              <a:spcAft>
                <a:spcPts val="800"/>
              </a:spcAft>
              <a:defRPr sz="1600"/>
            </a:pPr>
            <a:r>
              <a:t>Potential supply chain disruptions.</a:t>
            </a:r>
          </a:p>
          <a:p>
            <a:pPr>
              <a:lnSpc>
                <a:spcPct val="120000"/>
              </a:lnSpc>
              <a:spcBef>
                <a:spcPts val="800"/>
              </a:spcBef>
              <a:spcAft>
                <a:spcPts val="800"/>
              </a:spcAft>
              <a:defRPr sz="1600"/>
            </a:pPr>
            <a:r>
              <a:t>Market cap fluctuations could affect investor confidence.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Cupid Limited stands at a pivotal point in its growth trajectory, bolstered by strong financials and a positive market outlook. Investors should weigh the compelling growth prospects against the inherent risks associated with market volatility and governance concerns. The recommendation is to monitor the stock closely for favorable entry points and to stay informed on the company's strategic developments. Action items include conducting further research on market trends and potential investment outcomes before making a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
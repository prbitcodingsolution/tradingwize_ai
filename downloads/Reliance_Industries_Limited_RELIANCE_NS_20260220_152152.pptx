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Reliance Industries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RELIANCE.NS | February 20,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Reliance Industries Limited (RELIANCE.NS) is a diversified conglomerate based in Mumbai, India, primarily operating in the energy sector. Founded in 1966, the company has established itself as a leader in oil and gas refining and marketing, alongside ventures in retail and digital services. With a current bullish sentiment and a positive future outlook, Reliance is well-positioned for growth, driven by strategic investments in new energy and technology. Analysts forecast robust earnings and revenue expansion, bolstered by its plans to invest ₹10 trillion over the next seven years. This investment thesis highlights the company's potential for capital appreciation, making it an attractive option for investors seeking exposure to the energy sector.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Sector: Energy</a:t>
            </a:r>
          </a:p>
          <a:p>
            <a:pPr>
              <a:spcBef>
                <a:spcPts val="600"/>
              </a:spcBef>
              <a:spcAft>
                <a:spcPts val="600"/>
              </a:spcAft>
              <a:defRPr sz="1600"/>
            </a:pPr>
            <a:r>
              <a:t>Industry: Oil &amp; Gas Refining &amp; Marketing</a:t>
            </a:r>
          </a:p>
          <a:p>
            <a:pPr>
              <a:spcBef>
                <a:spcPts val="600"/>
              </a:spcBef>
              <a:spcAft>
                <a:spcPts val="600"/>
              </a:spcAft>
              <a:defRPr sz="1600"/>
            </a:pPr>
            <a:r>
              <a:t>Headquarters: Mumbai, India</a:t>
            </a:r>
          </a:p>
          <a:p>
            <a:pPr>
              <a:spcBef>
                <a:spcPts val="600"/>
              </a:spcBef>
              <a:spcAft>
                <a:spcPts val="600"/>
              </a:spcAft>
              <a:defRPr sz="1600"/>
            </a:pPr>
            <a:r>
              <a:t>Founded: 1966</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Reliance Industries Limited operates through various segments including Oil to Chemicals, Oil and Gas, Retail, and Digital Services. The company is engaged in the exploration and production of hydrocarbons, alongside offering an extensive range of refining and marketing products such as LPG, gasoline, and diesel. Reliance also plays a significant role in the petrochemicals market by producing polymers, aromatics, and textiles. This diversified business model positions Reliance to capitalize on multiple growth avenues within the energy and consumer sectors.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₹1024547.99 Cr</a:t>
            </a:r>
          </a:p>
          <a:p>
            <a:pPr>
              <a:lnSpc>
                <a:spcPct val="120000"/>
              </a:lnSpc>
              <a:spcBef>
                <a:spcPts val="800"/>
              </a:spcBef>
              <a:spcAft>
                <a:spcPts val="800"/>
              </a:spcAft>
              <a:defRPr sz="1600"/>
            </a:pPr>
            <a:r>
              <a:t>Net Profit (TTM): ₹83211.00 Cr</a:t>
            </a:r>
          </a:p>
          <a:p>
            <a:pPr>
              <a:lnSpc>
                <a:spcPct val="120000"/>
              </a:lnSpc>
              <a:spcBef>
                <a:spcPts val="800"/>
              </a:spcBef>
              <a:spcAft>
                <a:spcPts val="800"/>
              </a:spcAft>
              <a:defRPr sz="1600"/>
            </a:pPr>
            <a:r>
              <a:t>EBITDA: ₹168450.99 Cr</a:t>
            </a:r>
          </a:p>
          <a:p>
            <a:pPr>
              <a:lnSpc>
                <a:spcPct val="120000"/>
              </a:lnSpc>
              <a:spcBef>
                <a:spcPts val="800"/>
              </a:spcBef>
              <a:spcAft>
                <a:spcPts val="800"/>
              </a:spcAft>
              <a:defRPr sz="1600"/>
            </a:pPr>
            <a:r>
              <a:t>EPS: ₹61.45</a:t>
            </a:r>
          </a:p>
          <a:p>
            <a:pPr>
              <a:lnSpc>
                <a:spcPct val="120000"/>
              </a:lnSpc>
              <a:spcBef>
                <a:spcPts val="800"/>
              </a:spcBef>
              <a:spcAft>
                <a:spcPts val="800"/>
              </a:spcAft>
              <a:defRPr sz="1600"/>
            </a:pPr>
            <a:r>
              <a:t>Dividend Yield: 0.39%</a:t>
            </a:r>
          </a:p>
          <a:p>
            <a:pPr>
              <a:lnSpc>
                <a:spcPct val="120000"/>
              </a:lnSpc>
              <a:spcBef>
                <a:spcPts val="800"/>
              </a:spcBef>
              <a:spcAft>
                <a:spcPts val="800"/>
              </a:spcAft>
              <a:defRPr sz="1600"/>
            </a:pPr>
            <a:r>
              <a:t>Debt-to-Equity Ratio: 0.70</a:t>
            </a:r>
          </a:p>
          <a:p>
            <a:pPr>
              <a:lnSpc>
                <a:spcPct val="120000"/>
              </a:lnSpc>
              <a:spcBef>
                <a:spcPts val="800"/>
              </a:spcBef>
              <a:spcAft>
                <a:spcPts val="800"/>
              </a:spcAft>
              <a:defRPr sz="1600"/>
            </a:pPr>
            <a:r>
              <a:t>Market Capitalization: ₹1925737.00 Cr</a:t>
            </a:r>
          </a:p>
          <a:p>
            <a:pPr>
              <a:lnSpc>
                <a:spcPct val="120000"/>
              </a:lnSpc>
              <a:spcBef>
                <a:spcPts val="800"/>
              </a:spcBef>
              <a:spcAft>
                <a:spcPts val="800"/>
              </a:spcAft>
              <a:defRPr sz="1600"/>
            </a:pPr>
            <a:r>
              <a:t>PE Ratio: 25.10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Reliance Industries Limited demonstrates a robust financial profile, characterized by a strong revenue base of ₹1024547.99 Cr and a net profit of ₹83211.00 Cr. The EBITDA margin stands at an impressive ₹168450.99 Cr, reflecting operational efficiency. The company's earnings per share (EPS) of ₹61.45 indicates a solid return for shareholders, supported by a modest dividend yield of 0.39%. With a debt-to-equity ratio of 0.70, Reliance maintains a healthy balance sheet, allowing for strategic investments without undue leverage. Furthermore, the PE ratio of 25.10 suggests that the stock is reasonably valued relative to its earnings potential, making it an appealing option for growth-oriented investors.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₹1423.00</a:t>
            </a:r>
          </a:p>
          <a:p>
            <a:pPr>
              <a:lnSpc>
                <a:spcPct val="120000"/>
              </a:lnSpc>
              <a:spcBef>
                <a:spcPts val="800"/>
              </a:spcBef>
              <a:spcAft>
                <a:spcPts val="800"/>
              </a:spcAft>
              <a:defRPr sz="1600"/>
            </a:pPr>
            <a:r>
              <a:t>52-Week High: ₹1611.80</a:t>
            </a:r>
          </a:p>
          <a:p>
            <a:pPr>
              <a:lnSpc>
                <a:spcPct val="120000"/>
              </a:lnSpc>
              <a:spcBef>
                <a:spcPts val="800"/>
              </a:spcBef>
              <a:spcAft>
                <a:spcPts val="800"/>
              </a:spcAft>
              <a:defRPr sz="1600"/>
            </a:pPr>
            <a:r>
              <a:t>52-Week Low: ₹1114.85</a:t>
            </a:r>
          </a:p>
          <a:p>
            <a:pPr>
              <a:lnSpc>
                <a:spcPct val="120000"/>
              </a:lnSpc>
              <a:spcBef>
                <a:spcPts val="800"/>
              </a:spcBef>
              <a:spcAft>
                <a:spcPts val="800"/>
              </a:spcAft>
              <a:defRPr sz="1600"/>
            </a:pPr>
            <a:r>
              <a:t>Beta (Volatility): 0.22</a:t>
            </a:r>
          </a:p>
          <a:p>
            <a:pPr>
              <a:lnSpc>
                <a:spcPct val="120000"/>
              </a:lnSpc>
              <a:spcBef>
                <a:spcPts val="800"/>
              </a:spcBef>
              <a:spcAft>
                <a:spcPts val="800"/>
              </a:spcAft>
              <a:defRPr sz="1600"/>
            </a:pPr>
            <a:r>
              <a:t>1-Year Change: 17.01%</a:t>
            </a:r>
          </a:p>
          <a:p>
            <a:pPr>
              <a:lnSpc>
                <a:spcPct val="120000"/>
              </a:lnSpc>
              <a:spcBef>
                <a:spcPts val="800"/>
              </a:spcBef>
              <a:spcAft>
                <a:spcPts val="800"/>
              </a:spcAft>
              <a:defRPr sz="1600"/>
            </a:pPr>
            <a:r>
              <a:t>5-Year CAGR: 10.00%</a:t>
            </a:r>
          </a:p>
          <a:p>
            <a:pPr>
              <a:lnSpc>
                <a:spcPct val="120000"/>
              </a:lnSpc>
              <a:spcBef>
                <a:spcPts val="800"/>
              </a:spcBef>
              <a:spcAft>
                <a:spcPts val="800"/>
              </a:spcAft>
              <a:defRPr sz="1600"/>
            </a:pPr>
            <a:r>
              <a:t>Average Volume: 1.12 Cr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Promoter Holding: 5000.00%</a:t>
            </a:r>
          </a:p>
          <a:p>
            <a:pPr>
              <a:spcBef>
                <a:spcPts val="600"/>
              </a:spcBef>
              <a:spcAft>
                <a:spcPts val="600"/>
              </a:spcAft>
              <a:defRPr sz="1600"/>
            </a:pPr>
            <a:r>
              <a:t>FII Holding: 1909.00%</a:t>
            </a:r>
          </a:p>
          <a:p>
            <a:pPr>
              <a:spcBef>
                <a:spcPts val="600"/>
              </a:spcBef>
              <a:spcAft>
                <a:spcPts val="600"/>
              </a:spcAft>
              <a:defRPr sz="1600"/>
            </a:pPr>
            <a:r>
              <a:t>DII Holding: 2010.00%</a:t>
            </a:r>
          </a:p>
          <a:p>
            <a:pPr>
              <a:spcBef>
                <a:spcPts val="600"/>
              </a:spcBef>
              <a:spcAft>
                <a:spcPts val="600"/>
              </a:spcAft>
              <a:defRPr sz="1600"/>
            </a:pPr>
            <a:r>
              <a:t>Market Capitalization: ₹1925737.00 Cr</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Reliance Industries Limited commands a significant position in the energy sector, bolstered by substantial promoter and institutional holdings. The company’s market capitalization of ₹1925737.00 Cr underscores its status as a leading player within the oil and gas refining industry. Its diversified segments and extensive product offerings provide a competitive edge against peers, fostering resilience in fluctuating market conditions. This strategic positioning allows Reliance to capitalize on emerging opportunities, particularly in the digital and retail spaces.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Score: 53.5/100</a:t>
            </a:r>
          </a:p>
          <a:p>
            <a:pPr>
              <a:lnSpc>
                <a:spcPct val="120000"/>
              </a:lnSpc>
              <a:spcBef>
                <a:spcPts val="800"/>
              </a:spcBef>
              <a:spcAft>
                <a:spcPts val="800"/>
              </a:spcAft>
              <a:defRPr sz="1600"/>
            </a:pPr>
            <a:r>
              <a:t>Sentiment: Bullish 📈</a:t>
            </a:r>
          </a:p>
          <a:p>
            <a:pPr>
              <a:lnSpc>
                <a:spcPct val="120000"/>
              </a:lnSpc>
              <a:spcBef>
                <a:spcPts val="800"/>
              </a:spcBef>
              <a:spcAft>
                <a:spcPts val="800"/>
              </a:spcAft>
              <a:defRPr sz="1600"/>
            </a:pPr>
            <a:r>
              <a:t>News Sentiment: 10/100 (Neutral)</a:t>
            </a:r>
          </a:p>
          <a:p>
            <a:pPr>
              <a:lnSpc>
                <a:spcPct val="120000"/>
              </a:lnSpc>
              <a:spcBef>
                <a:spcPts val="800"/>
              </a:spcBef>
              <a:spcAft>
                <a:spcPts val="800"/>
              </a:spcAft>
              <a:defRPr sz="1600"/>
            </a:pPr>
            <a:r>
              <a:t>Yahoo Finance: 80/100 (Buy)</a:t>
            </a:r>
          </a:p>
          <a:p>
            <a:pPr>
              <a:lnSpc>
                <a:spcPct val="120000"/>
              </a:lnSpc>
              <a:spcBef>
                <a:spcPts val="800"/>
              </a:spcBef>
              <a:spcAft>
                <a:spcPts val="800"/>
              </a:spcAft>
              <a:defRPr sz="1600"/>
            </a:pPr>
            <a:r>
              <a:t>Twitter/X: 85/100 (Bullish)</a:t>
            </a:r>
          </a:p>
          <a:p>
            <a:pPr>
              <a:lnSpc>
                <a:spcPct val="120000"/>
              </a:lnSpc>
              <a:spcBef>
                <a:spcPts val="800"/>
              </a:spcBef>
              <a:spcAft>
                <a:spcPts val="800"/>
              </a:spcAft>
              <a:defRPr sz="1600"/>
            </a:pPr>
            <a:r>
              <a:t>Positive Sentiment: 80%, Negative: 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Reliance Industries Limited is optimistic, as analysts project a strong buy consensus from 35-37 analysts. The average 12-month price target is set at ₹1,716.65, suggesting an 18% upside potential from the current levels. With expected earnings growth of 8.7% annually and revenue growth of approximately 6.7%, Reliance is on track to enhance shareholder value significantly. The anticipated monetization of its core segments is expected to drive free cash flow positivity, leading to potential quarter-by-quarter upgrades in rating. Despite short-term pressures on earnings, the long-term growth trajectory remains promising, underpinned by strategic investments and market repositioning.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Strong Buy consensus from analysts.</a:t>
            </a:r>
          </a:p>
          <a:p>
            <a:pPr>
              <a:spcBef>
                <a:spcPts val="600"/>
              </a:spcBef>
              <a:spcAft>
                <a:spcPts val="600"/>
              </a:spcAft>
              <a:defRPr sz="1600"/>
            </a:pPr>
            <a:r>
              <a:t>18% upside potential from current price.</a:t>
            </a:r>
          </a:p>
          <a:p>
            <a:pPr>
              <a:spcBef>
                <a:spcPts val="600"/>
              </a:spcBef>
              <a:spcAft>
                <a:spcPts val="600"/>
              </a:spcAft>
              <a:defRPr sz="1600"/>
            </a:pPr>
            <a:r>
              <a:t>Diversified business model mitigates risks.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current bullish sentiment and positive future outlook, we recommend a 'Strong Buy' for Reliance Industries Limited (RELIANCE.NS). The company's ability to generate robust earnings amidst a diversified portfolio presents a compelling investment case. With analysts projecting an 18% upside based on price targets, investors can expect attractive returns. Additionally, Reliance's strategic investments in new energy and technology sectors further bolster confidence in sustained growth. Therefore, investors seeking long-term capital appreciation should consider adding this stock to their portfolio.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Stock fell below long-term 200-DMA for first time in 9 months.</a:t>
            </a:r>
          </a:p>
          <a:p>
            <a:pPr>
              <a:lnSpc>
                <a:spcPct val="120000"/>
              </a:lnSpc>
              <a:spcBef>
                <a:spcPts val="800"/>
              </a:spcBef>
              <a:spcAft>
                <a:spcPts val="800"/>
              </a:spcAft>
              <a:defRPr sz="1600"/>
            </a:pPr>
            <a:r>
              <a:t>Concerns over consumer staples revenue downturn.</a:t>
            </a:r>
          </a:p>
          <a:p>
            <a:pPr>
              <a:lnSpc>
                <a:spcPct val="120000"/>
              </a:lnSpc>
              <a:spcBef>
                <a:spcPts val="800"/>
              </a:spcBef>
              <a:spcAft>
                <a:spcPts val="800"/>
              </a:spcAft>
              <a:defRPr sz="1600"/>
            </a:pPr>
            <a:r>
              <a:t>Potential impact from reduced Russian oil imports.</a:t>
            </a:r>
          </a:p>
          <a:p>
            <a:pPr>
              <a:lnSpc>
                <a:spcPct val="120000"/>
              </a:lnSpc>
              <a:spcBef>
                <a:spcPts val="800"/>
              </a:spcBef>
              <a:spcAft>
                <a:spcPts val="800"/>
              </a:spcAft>
              <a:defRPr sz="1600"/>
            </a:pPr>
            <a:r>
              <a:t>Sector cyclicality affecting refining and petrochemicals.</a:t>
            </a:r>
          </a:p>
          <a:p>
            <a:pPr>
              <a:lnSpc>
                <a:spcPct val="120000"/>
              </a:lnSpc>
              <a:spcBef>
                <a:spcPts val="800"/>
              </a:spcBef>
              <a:spcAft>
                <a:spcPts val="800"/>
              </a:spcAft>
              <a:defRPr sz="1600"/>
            </a:pPr>
            <a:r>
              <a:t>Q3-2026 results missed EPS expectations.</a:t>
            </a:r>
          </a:p>
          <a:p>
            <a:pPr>
              <a:lnSpc>
                <a:spcPct val="120000"/>
              </a:lnSpc>
              <a:spcBef>
                <a:spcPts val="800"/>
              </a:spcBef>
              <a:spcAft>
                <a:spcPts val="800"/>
              </a:spcAft>
              <a:defRPr sz="1600"/>
            </a:pPr>
            <a:r>
              <a:t>Short-term share price dip of -4%.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Reliance Industries Limited presents a robust investment opportunity supported by strong financial metrics and a positive growth outlook. Despite some short-term risks, the company's diversified operations and future growth strategies position it favorably in the market. Investors are encouraged to monitor market trends and consider initiating positions, especially given the current bullish sentiment and anticipated price appreciation. Next steps include a thorough review of the company's performance in upcoming quarters and keeping abreast of industry developments that may impact its growth trajectory.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
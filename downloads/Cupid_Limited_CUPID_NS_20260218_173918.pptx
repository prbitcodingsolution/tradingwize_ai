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Cupid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CUPID.NS | February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(CUPID.NS) is a leading player in the consumer defensive sector, primarily focusing on household and personal products, particularly condoms and lubricants. The company has demonstrated impressive growth over the past five years, with a remarkable CAGR of 109.66%. With a current bullish sentiment in the market, Cupid Limited has a solid financial foundation, with a revenue of ₹294.23 Cr and a net profit of ₹83.48 Cr. The company is strategically expanding its operations, targeting international markets and enhancing its product portfolio. This investment thesis is underscored by a positive outlook on revenue growth and profitability, making Cupid Limited a compelling opportunity for investors looking for robust returns in the consumer goods sector.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1997, Cupid Limited is headquartered in Nashik, India.</a:t>
            </a:r>
          </a:p>
          <a:p>
            <a:pPr>
              <a:spcBef>
                <a:spcPts val="600"/>
              </a:spcBef>
              <a:spcAft>
                <a:spcPts val="600"/>
              </a:spcAft>
              <a:defRPr sz="1600"/>
            </a:pPr>
            <a:r>
              <a:t>The company specializes in the design and manufacture of condoms and personal care products.</a:t>
            </a:r>
          </a:p>
          <a:p>
            <a:pPr>
              <a:spcBef>
                <a:spcPts val="600"/>
              </a:spcBef>
              <a:spcAft>
                <a:spcPts val="600"/>
              </a:spcAft>
              <a:defRPr sz="1600"/>
            </a:pPr>
            <a:r>
              <a:t>Exports products to various regions including Africa, Europe, and North America.</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 operates as a pivotal player in the consumer defensive sector, focusing on the development and marketing of a diverse range of products, including male and female condoms, lubricants, and personal care items. Established in 1997, the company has built a robust distribution network, not only catering to the Indian market but also exporting to numerous international markets. This strategic positioning has enabled Cupid to capture significant market share while also being known for its quality and innovation in product development.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₹294.23 Cr</a:t>
            </a:r>
          </a:p>
          <a:p>
            <a:pPr>
              <a:lnSpc>
                <a:spcPct val="120000"/>
              </a:lnSpc>
              <a:spcBef>
                <a:spcPts val="800"/>
              </a:spcBef>
              <a:spcAft>
                <a:spcPts val="800"/>
              </a:spcAft>
              <a:defRPr sz="1600"/>
            </a:pPr>
            <a:r>
              <a:t>Net Profit (TTM): ₹83.48 Cr</a:t>
            </a:r>
          </a:p>
          <a:p>
            <a:pPr>
              <a:lnSpc>
                <a:spcPct val="120000"/>
              </a:lnSpc>
              <a:spcBef>
                <a:spcPts val="800"/>
              </a:spcBef>
              <a:spcAft>
                <a:spcPts val="800"/>
              </a:spcAft>
              <a:defRPr sz="1600"/>
            </a:pPr>
            <a:r>
              <a:t>EBITDA: ₹91.23 Cr</a:t>
            </a:r>
          </a:p>
          <a:p>
            <a:pPr>
              <a:lnSpc>
                <a:spcPct val="120000"/>
              </a:lnSpc>
              <a:spcBef>
                <a:spcPts val="800"/>
              </a:spcBef>
              <a:spcAft>
                <a:spcPts val="800"/>
              </a:spcAft>
              <a:defRPr sz="1600"/>
            </a:pPr>
            <a:r>
              <a:t>EPS: ₹3.09</a:t>
            </a:r>
          </a:p>
          <a:p>
            <a:pPr>
              <a:lnSpc>
                <a:spcPct val="120000"/>
              </a:lnSpc>
              <a:spcBef>
                <a:spcPts val="800"/>
              </a:spcBef>
              <a:spcAft>
                <a:spcPts val="800"/>
              </a:spcAft>
              <a:defRPr sz="1600"/>
            </a:pPr>
            <a:r>
              <a:t>Profit Margin: 28.23%</a:t>
            </a:r>
          </a:p>
          <a:p>
            <a:pPr>
              <a:lnSpc>
                <a:spcPct val="120000"/>
              </a:lnSpc>
              <a:spcBef>
                <a:spcPts val="800"/>
              </a:spcBef>
              <a:spcAft>
                <a:spcPts val="800"/>
              </a:spcAft>
              <a:defRPr sz="1600"/>
            </a:pPr>
            <a:r>
              <a:t>Operating Margin: 31.00%</a:t>
            </a:r>
          </a:p>
          <a:p>
            <a:pPr>
              <a:lnSpc>
                <a:spcPct val="120000"/>
              </a:lnSpc>
              <a:spcBef>
                <a:spcPts val="800"/>
              </a:spcBef>
              <a:spcAft>
                <a:spcPts val="800"/>
              </a:spcAft>
              <a:defRPr sz="1600"/>
            </a:pPr>
            <a:r>
              <a:t>Gross Margin: 62.22%</a:t>
            </a:r>
          </a:p>
          <a:p>
            <a:pPr>
              <a:lnSpc>
                <a:spcPct val="120000"/>
              </a:lnSpc>
              <a:spcBef>
                <a:spcPts val="800"/>
              </a:spcBef>
              <a:spcAft>
                <a:spcPts val="800"/>
              </a:spcAft>
              <a:defRPr sz="1600"/>
            </a:pPr>
            <a:r>
              <a:t>Market Capitalization: ₹11389.00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Limited's financial health reflects a strong upward trajectory, characterized by robust revenue growth and profitability margins. The company's revenue for the trailing twelve months (TTM) stands at ₹294.23 Cr, complemented by a net profit of ₹83.48 Cr, translating into a profit margin of 28.23%. The EBITDA of ₹91.23 Cr further accentuates Cupid's operational efficiency, with gross and operating margins at 62.22% and 31.00%, respectively. Despite a high PE ratio of 136.00, which may indicate overvaluation, the company's strong cash position with total assets of ₹152.00 Cr and minimal debt (₹26.76 Cr) demonstrates a sound financial structure. This suggestive trend of solid performance is expected to continue, offering potential for future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₹423.00</a:t>
            </a:r>
          </a:p>
          <a:p>
            <a:pPr>
              <a:lnSpc>
                <a:spcPct val="120000"/>
              </a:lnSpc>
              <a:spcBef>
                <a:spcPts val="800"/>
              </a:spcBef>
              <a:spcAft>
                <a:spcPts val="800"/>
              </a:spcAft>
              <a:defRPr sz="1600"/>
            </a:pPr>
            <a:r>
              <a:t>52-Week High: ₹526.95</a:t>
            </a:r>
          </a:p>
          <a:p>
            <a:pPr>
              <a:lnSpc>
                <a:spcPct val="120000"/>
              </a:lnSpc>
              <a:spcBef>
                <a:spcPts val="800"/>
              </a:spcBef>
              <a:spcAft>
                <a:spcPts val="800"/>
              </a:spcAft>
              <a:defRPr sz="1600"/>
            </a:pPr>
            <a:r>
              <a:t>52-Week Low: ₹55.75</a:t>
            </a:r>
          </a:p>
          <a:p>
            <a:pPr>
              <a:lnSpc>
                <a:spcPct val="120000"/>
              </a:lnSpc>
              <a:spcBef>
                <a:spcPts val="800"/>
              </a:spcBef>
              <a:spcAft>
                <a:spcPts val="800"/>
              </a:spcAft>
              <a:defRPr sz="1600"/>
            </a:pPr>
            <a:r>
              <a:t>Market Capitalization: ₹11389.00 Cr</a:t>
            </a:r>
          </a:p>
          <a:p>
            <a:pPr>
              <a:lnSpc>
                <a:spcPct val="120000"/>
              </a:lnSpc>
              <a:spcBef>
                <a:spcPts val="800"/>
              </a:spcBef>
              <a:spcAft>
                <a:spcPts val="800"/>
              </a:spcAft>
              <a:defRPr sz="1600"/>
            </a:pPr>
            <a:r>
              <a:t>Beta (Volatility): 0.04</a:t>
            </a:r>
          </a:p>
          <a:p>
            <a:pPr>
              <a:lnSpc>
                <a:spcPct val="120000"/>
              </a:lnSpc>
              <a:spcBef>
                <a:spcPts val="800"/>
              </a:spcBef>
              <a:spcAft>
                <a:spcPts val="800"/>
              </a:spcAft>
              <a:defRPr sz="1600"/>
            </a:pPr>
            <a:r>
              <a:t>PE Ratio: 136.00</a:t>
            </a:r>
          </a:p>
          <a:p>
            <a:pPr>
              <a:lnSpc>
                <a:spcPct val="120000"/>
              </a:lnSpc>
              <a:spcBef>
                <a:spcPts val="800"/>
              </a:spcBef>
              <a:spcAft>
                <a:spcPts val="800"/>
              </a:spcAft>
              <a:defRPr sz="1600"/>
            </a:pPr>
            <a:r>
              <a:t>Average Volume: 96.92 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Cupid Limited operates in a competitive market with notable rivals like Nestlé India Limited.</a:t>
            </a:r>
          </a:p>
          <a:p>
            <a:pPr>
              <a:spcBef>
                <a:spcPts val="600"/>
              </a:spcBef>
              <a:spcAft>
                <a:spcPts val="600"/>
              </a:spcAft>
              <a:defRPr sz="1600"/>
            </a:pPr>
            <a:r>
              <a:t>Market capitalization of ₹11389.00 Cr positions Cupid favorably within the industry.</a:t>
            </a:r>
          </a:p>
          <a:p>
            <a:pPr>
              <a:spcBef>
                <a:spcPts val="600"/>
              </a:spcBef>
              <a:spcAft>
                <a:spcPts val="600"/>
              </a:spcAft>
              <a:defRPr sz="1600"/>
            </a:pPr>
            <a:r>
              <a:t>Promoter Holding: 4556.00%, indicating strong management confidence.</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In the competitive landscape, Cupid Limited holds a significant position within the household and personal products industry, competing against larger entities such as Nestlé India. With a market capitalization of ₹11389.00 Cr, Cupid benefits from robust promoter holding at 4556.00%, showcasing unwavering confidence from management. This strong backing, coupled with the company's strategic initiatives and product diversification, enhances its market presence and competitive edge, allowing it to navigate challenges effectively while capitalizing on growth opportunities.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Market Sentiment Score: 40.0/100 (Bullish)</a:t>
            </a:r>
          </a:p>
          <a:p>
            <a:pPr>
              <a:lnSpc>
                <a:spcPct val="120000"/>
              </a:lnSpc>
              <a:spcBef>
                <a:spcPts val="800"/>
              </a:spcBef>
              <a:spcAft>
                <a:spcPts val="800"/>
              </a:spcAft>
              <a:defRPr sz="1600"/>
            </a:pPr>
            <a:r>
              <a:t>News Sentiment: 85/100 (Bullish)</a:t>
            </a:r>
          </a:p>
          <a:p>
            <a:pPr>
              <a:lnSpc>
                <a:spcPct val="120000"/>
              </a:lnSpc>
              <a:spcBef>
                <a:spcPts val="800"/>
              </a:spcBef>
              <a:spcAft>
                <a:spcPts val="800"/>
              </a:spcAft>
              <a:defRPr sz="1600"/>
            </a:pPr>
            <a:r>
              <a:t>Yahoo Finance Sentiment: 0/100 (Hold)</a:t>
            </a:r>
          </a:p>
          <a:p>
            <a:pPr>
              <a:lnSpc>
                <a:spcPct val="120000"/>
              </a:lnSpc>
              <a:spcBef>
                <a:spcPts val="800"/>
              </a:spcBef>
              <a:spcAft>
                <a:spcPts val="800"/>
              </a:spcAft>
              <a:defRPr sz="1600"/>
            </a:pPr>
            <a:r>
              <a:t>Twitter/X Sentiment: 20/100 (Bullish)</a:t>
            </a:r>
          </a:p>
          <a:p>
            <a:pPr>
              <a:lnSpc>
                <a:spcPct val="120000"/>
              </a:lnSpc>
              <a:spcBef>
                <a:spcPts val="800"/>
              </a:spcBef>
              <a:spcAft>
                <a:spcPts val="800"/>
              </a:spcAft>
              <a:defRPr sz="1600"/>
            </a:pPr>
            <a:r>
              <a:t>Positive Sentiment from 60% of Tweets</a:t>
            </a:r>
          </a:p>
          <a:p>
            <a:pPr>
              <a:lnSpc>
                <a:spcPct val="120000"/>
              </a:lnSpc>
              <a:spcBef>
                <a:spcPts val="800"/>
              </a:spcBef>
              <a:spcAft>
                <a:spcPts val="800"/>
              </a:spcAft>
              <a:defRPr sz="1600"/>
            </a:pPr>
            <a:r>
              <a:t>140% YoY rise in net profit for Q2 FY26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Cupid Limited is decidedly positive, driven by a clear upward trajectory in revenue and earnings momentum. With projected revenue growth from ₹1.50 bn in FY23 to ₹2.94 bn in FY25, the company anticipates approximately 27% year-on-year growth for the next two years. Additionally, the launch of new product lines, particularly in the In-Vitro Diagnostic division, positions Cupid for strategic expansion into lucrative international markets. The company plans to leverage its strong cash flow, with regular dividends indicating confidence in sustaining shareholder returns. Overall, the combination of innovative product offerings and sound financial management underpins a compelling growth narrative for Cupid Limited.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Cupid Limited shows strong potential for growth with a bullish market sentiment.</a:t>
            </a:r>
          </a:p>
          <a:p>
            <a:pPr>
              <a:spcBef>
                <a:spcPts val="600"/>
              </a:spcBef>
              <a:spcAft>
                <a:spcPts val="600"/>
              </a:spcAft>
              <a:defRPr sz="1600"/>
            </a:pPr>
            <a:r>
              <a:t>Investors should consider the company’s strong financial health and growth trajectory.</a:t>
            </a:r>
          </a:p>
          <a:p>
            <a:pPr>
              <a:spcBef>
                <a:spcPts val="600"/>
              </a:spcBef>
              <a:spcAft>
                <a:spcPts val="600"/>
              </a:spcAft>
              <a:defRPr sz="1600"/>
            </a:pPr>
            <a:r>
              <a:t>Current valuation metrics suggest a slightly overvalued position but with strong fundamentals.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robust financial performance, positive future outlook, and a solid market presence, Cupid Limited presents a compelling investment opportunity for those seeking exposure to the consumer defensive sector. Despite a current PE ratio that suggests overvaluation, the underlying fundamentals, including strong revenue growth and profitability margins, provide a firm foundation for future returns. Therefore, investors are encouraged to consider Cupid Limited as a valuable addition to their portfolios, particularly for those looking for long-term growth potential rooted in a stable industry.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High volatility with a beta of 0.04 may affect stock performance.</a:t>
            </a:r>
          </a:p>
          <a:p>
            <a:pPr>
              <a:lnSpc>
                <a:spcPct val="120000"/>
              </a:lnSpc>
              <a:spcBef>
                <a:spcPts val="800"/>
              </a:spcBef>
              <a:spcAft>
                <a:spcPts val="800"/>
              </a:spcAft>
              <a:defRPr sz="1600"/>
            </a:pPr>
            <a:r>
              <a:t>Concerns over governance-related issues may impact investor confidence.</a:t>
            </a:r>
          </a:p>
          <a:p>
            <a:pPr>
              <a:lnSpc>
                <a:spcPct val="120000"/>
              </a:lnSpc>
              <a:spcBef>
                <a:spcPts val="800"/>
              </a:spcBef>
              <a:spcAft>
                <a:spcPts val="800"/>
              </a:spcAft>
              <a:defRPr sz="1600"/>
            </a:pPr>
            <a:r>
              <a:t>Market cap fluctuations could raise investment risk.</a:t>
            </a:r>
          </a:p>
          <a:p>
            <a:pPr>
              <a:lnSpc>
                <a:spcPct val="120000"/>
              </a:lnSpc>
              <a:spcBef>
                <a:spcPts val="800"/>
              </a:spcBef>
              <a:spcAft>
                <a:spcPts val="800"/>
              </a:spcAft>
              <a:defRPr sz="1600"/>
            </a:pPr>
            <a:r>
              <a:t>Limited analyst coverage may lead to information gaps.</a:t>
            </a:r>
          </a:p>
          <a:p>
            <a:pPr>
              <a:lnSpc>
                <a:spcPct val="120000"/>
              </a:lnSpc>
              <a:spcBef>
                <a:spcPts val="800"/>
              </a:spcBef>
              <a:spcAft>
                <a:spcPts val="800"/>
              </a:spcAft>
              <a:defRPr sz="1600"/>
            </a:pPr>
            <a:r>
              <a:t>Potential regulatory challenges in international markets.</a:t>
            </a:r>
          </a:p>
          <a:p>
            <a:pPr>
              <a:lnSpc>
                <a:spcPct val="120000"/>
              </a:lnSpc>
              <a:spcBef>
                <a:spcPts val="800"/>
              </a:spcBef>
              <a:spcAft>
                <a:spcPts val="800"/>
              </a:spcAft>
              <a:defRPr sz="1600"/>
            </a:pPr>
            <a:r>
              <a:t>Dependency on the consumer defensive sector exposes it to market fluctuations.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Cupid Limited stands out as a promising investment opportunity within the consumer defensive sector, backed by solid financial metrics and a positive growth trajectory. Investors should remain vigilant of market volatility and potential risks, but the company's strategic initiatives and strong market position provide a favorable outlook. Next steps should include closely monitoring quarterly earnings reports and market sentiment, while considering a phased investment approach to capitalize on potential dips in stock price. Engaging with company updates and analyst reports will further enhance understanding and support informed investment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
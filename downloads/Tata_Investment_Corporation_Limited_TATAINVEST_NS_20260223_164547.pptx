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Investment Corporation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TATAINVEST.NS | February 23,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Investment Corporation Limited (TATAINVEST.NS) is a prominent investment firm based in Mumbai, India, with a rich history dating back to 1937. The company operates within the financial services sector, focusing on capital markets. It is recognized for its diverse portfolio encompassing both quoted and unquoted securities, debt instruments, and equity-related investments. With a current market capitalization of ₹34,756 Cr and a bullish sentiment surrounding its stock performance, Tata Investment Corporation has showcased resilience, achieving a remarkable 32.35% return over the past year. The company’s strategic investments and favorable market conditions position it as an attractive investment opportunity, underpinned by a strong financial foundation and robust profit margins.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1937 and headquartered in Mumbai, India.</a:t>
            </a:r>
          </a:p>
          <a:p>
            <a:pPr>
              <a:spcBef>
                <a:spcPts val="600"/>
              </a:spcBef>
              <a:spcAft>
                <a:spcPts val="600"/>
              </a:spcAft>
              <a:defRPr sz="1600"/>
            </a:pPr>
            <a:r>
              <a:t>Operates primarily as an investment company.</a:t>
            </a:r>
          </a:p>
          <a:p>
            <a:pPr>
              <a:spcBef>
                <a:spcPts val="600"/>
              </a:spcBef>
              <a:spcAft>
                <a:spcPts val="600"/>
              </a:spcAft>
              <a:defRPr sz="1600"/>
            </a:pPr>
            <a:r>
              <a:t>Diversified portfolio includes securities across various industries.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Investment Corporation Limited is a publicly owned investment firm operating in India, specializing in a diverse array of financial instruments. The company engages in long-term investments in equity shares and other securities, catering to a range of industries. It also distributes mutual funds and other investment-related products. Being a part of the reputable Tata Group, it benefits from strong brand recognition and trust, which enhances its market 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₹377.92 Cr</a:t>
            </a:r>
          </a:p>
          <a:p>
            <a:pPr>
              <a:lnSpc>
                <a:spcPct val="120000"/>
              </a:lnSpc>
              <a:spcBef>
                <a:spcPts val="800"/>
              </a:spcBef>
              <a:spcAft>
                <a:spcPts val="800"/>
              </a:spcAft>
              <a:defRPr sz="1600"/>
            </a:pPr>
            <a:r>
              <a:t>Net Profit (TTM): ₹407.57 Cr</a:t>
            </a:r>
          </a:p>
          <a:p>
            <a:pPr>
              <a:lnSpc>
                <a:spcPct val="120000"/>
              </a:lnSpc>
              <a:spcBef>
                <a:spcPts val="800"/>
              </a:spcBef>
              <a:spcAft>
                <a:spcPts val="800"/>
              </a:spcAft>
              <a:defRPr sz="1600"/>
            </a:pPr>
            <a:r>
              <a:t>EBITDA: ₹334.67 Cr</a:t>
            </a:r>
          </a:p>
          <a:p>
            <a:pPr>
              <a:lnSpc>
                <a:spcPct val="120000"/>
              </a:lnSpc>
              <a:spcBef>
                <a:spcPts val="800"/>
              </a:spcBef>
              <a:spcAft>
                <a:spcPts val="800"/>
              </a:spcAft>
              <a:defRPr sz="1600"/>
            </a:pPr>
            <a:r>
              <a:t>EPS: ₹8.06</a:t>
            </a:r>
          </a:p>
          <a:p>
            <a:pPr>
              <a:lnSpc>
                <a:spcPct val="120000"/>
              </a:lnSpc>
              <a:spcBef>
                <a:spcPts val="800"/>
              </a:spcBef>
              <a:spcAft>
                <a:spcPts val="800"/>
              </a:spcAft>
              <a:defRPr sz="1600"/>
            </a:pPr>
            <a:r>
              <a:t>Dividend Yield: 0.39%</a:t>
            </a:r>
          </a:p>
          <a:p>
            <a:pPr>
              <a:lnSpc>
                <a:spcPct val="120000"/>
              </a:lnSpc>
              <a:spcBef>
                <a:spcPts val="800"/>
              </a:spcBef>
              <a:spcAft>
                <a:spcPts val="800"/>
              </a:spcAft>
              <a:defRPr sz="1600"/>
            </a:pPr>
            <a:r>
              <a:t>Payout Ratio: 44.00%</a:t>
            </a:r>
          </a:p>
          <a:p>
            <a:pPr>
              <a:lnSpc>
                <a:spcPct val="120000"/>
              </a:lnSpc>
              <a:spcBef>
                <a:spcPts val="800"/>
              </a:spcBef>
              <a:spcAft>
                <a:spcPts val="800"/>
              </a:spcAft>
              <a:defRPr sz="1600"/>
            </a:pPr>
            <a:r>
              <a:t>Total Assets: ₹2274.00 Cr</a:t>
            </a:r>
          </a:p>
          <a:p>
            <a:pPr>
              <a:lnSpc>
                <a:spcPct val="120000"/>
              </a:lnSpc>
              <a:spcBef>
                <a:spcPts val="800"/>
              </a:spcBef>
              <a:spcAft>
                <a:spcPts val="800"/>
              </a:spcAft>
              <a:defRPr sz="1600"/>
            </a:pPr>
            <a:r>
              <a:t>Total Liabilities: ₹25622.80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Investment Corporation Limited has demonstrated robust financial health, with a net profit of ₹407.57 Cr and a substantial EBITDA of ₹334.67 Cr, reflecting strong operational efficiency. The company boasts an impressive profit margin of 109.09%, indicating superior cost management and revenue generation capabilities. Despite showing a high PE ratio of 85.20, which suggests that the stock may be overvalued, the company's solid earnings per share of ₹8.06 and a reasonable dividend yield of 0.39% provide a cushion for investors. The balance sheet shows a debt-to-equity ratio of 0.97, positioning it well in terms of leverage, while total assets stand at ₹2274.00 Cr, providing a solid foundation for future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₹687.00</a:t>
            </a:r>
          </a:p>
          <a:p>
            <a:pPr>
              <a:lnSpc>
                <a:spcPct val="120000"/>
              </a:lnSpc>
              <a:spcBef>
                <a:spcPts val="800"/>
              </a:spcBef>
              <a:spcAft>
                <a:spcPts val="800"/>
              </a:spcAft>
              <a:defRPr sz="1600"/>
            </a:pPr>
            <a:r>
              <a:t>52-Week High: ₹1184.70</a:t>
            </a:r>
          </a:p>
          <a:p>
            <a:pPr>
              <a:lnSpc>
                <a:spcPct val="120000"/>
              </a:lnSpc>
              <a:spcBef>
                <a:spcPts val="800"/>
              </a:spcBef>
              <a:spcAft>
                <a:spcPts val="800"/>
              </a:spcAft>
              <a:defRPr sz="1600"/>
            </a:pPr>
            <a:r>
              <a:t>52-Week Low: ₹570.52</a:t>
            </a:r>
          </a:p>
          <a:p>
            <a:pPr>
              <a:lnSpc>
                <a:spcPct val="120000"/>
              </a:lnSpc>
              <a:spcBef>
                <a:spcPts val="800"/>
              </a:spcBef>
              <a:spcAft>
                <a:spcPts val="800"/>
              </a:spcAft>
              <a:defRPr sz="1600"/>
            </a:pPr>
            <a:r>
              <a:t>Market Capitalization: ₹34756.00 Cr</a:t>
            </a:r>
          </a:p>
          <a:p>
            <a:pPr>
              <a:lnSpc>
                <a:spcPct val="120000"/>
              </a:lnSpc>
              <a:spcBef>
                <a:spcPts val="800"/>
              </a:spcBef>
              <a:spcAft>
                <a:spcPts val="800"/>
              </a:spcAft>
              <a:defRPr sz="1600"/>
            </a:pPr>
            <a:r>
              <a:t>Volume: 18.89 L</a:t>
            </a:r>
          </a:p>
          <a:p>
            <a:pPr>
              <a:lnSpc>
                <a:spcPct val="120000"/>
              </a:lnSpc>
              <a:spcBef>
                <a:spcPts val="800"/>
              </a:spcBef>
              <a:spcAft>
                <a:spcPts val="800"/>
              </a:spcAft>
              <a:defRPr sz="1600"/>
            </a:pPr>
            <a:r>
              <a:t>Beta: -0.09</a:t>
            </a:r>
          </a:p>
          <a:p>
            <a:pPr>
              <a:lnSpc>
                <a:spcPct val="120000"/>
              </a:lnSpc>
              <a:spcBef>
                <a:spcPts val="800"/>
              </a:spcBef>
              <a:spcAft>
                <a:spcPts val="800"/>
              </a:spcAft>
              <a:defRPr sz="1600"/>
            </a:pPr>
            <a:r>
              <a:t>5 Year CAGR: 46.00%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Competes with Bajaj Finance, Bajaj Finserv, and Shriram Finance.</a:t>
            </a:r>
          </a:p>
          <a:p>
            <a:pPr>
              <a:spcBef>
                <a:spcPts val="600"/>
              </a:spcBef>
              <a:spcAft>
                <a:spcPts val="600"/>
              </a:spcAft>
              <a:defRPr sz="1600"/>
            </a:pPr>
            <a:r>
              <a:t>Strong brand recognition as part of the Tata Group.</a:t>
            </a:r>
          </a:p>
          <a:p>
            <a:pPr>
              <a:spcBef>
                <a:spcPts val="600"/>
              </a:spcBef>
              <a:spcAft>
                <a:spcPts val="600"/>
              </a:spcAft>
              <a:defRPr sz="1600"/>
            </a:pPr>
            <a:r>
              <a:t>Maintains a significant promoter holding of 7338.00%.</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Investment Corporation Limited operates in a competitive landscape characterized by notable players such as Bajaj Finance and Bajaj Finserv. However, its affiliation with the Tata Group provides a competitive edge, enhancing its reputation and investor trust. The company's significant promoter holding of 7338.00% underscores its strong governance and commitment to long-term growth, positioning it favorably against competitors with lower market caps and profit margins.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Market Sentiment Score: 24.5/100 (Bullish)</a:t>
            </a:r>
          </a:p>
          <a:p>
            <a:pPr>
              <a:lnSpc>
                <a:spcPct val="120000"/>
              </a:lnSpc>
              <a:spcBef>
                <a:spcPts val="800"/>
              </a:spcBef>
              <a:spcAft>
                <a:spcPts val="800"/>
              </a:spcAft>
              <a:defRPr sz="1600"/>
            </a:pPr>
            <a:r>
              <a:t>News Sentiment: 53.2/100 (Strongly Bullish)</a:t>
            </a:r>
          </a:p>
          <a:p>
            <a:pPr>
              <a:lnSpc>
                <a:spcPct val="120000"/>
              </a:lnSpc>
              <a:spcBef>
                <a:spcPts val="800"/>
              </a:spcBef>
              <a:spcAft>
                <a:spcPts val="800"/>
              </a:spcAft>
              <a:defRPr sz="1600"/>
            </a:pPr>
            <a:r>
              <a:t>Twitter Sentiment: 25.9/100 (Bullish)</a:t>
            </a:r>
          </a:p>
          <a:p>
            <a:pPr>
              <a:lnSpc>
                <a:spcPct val="120000"/>
              </a:lnSpc>
              <a:spcBef>
                <a:spcPts val="800"/>
              </a:spcBef>
              <a:spcAft>
                <a:spcPts val="800"/>
              </a:spcAft>
              <a:defRPr sz="1600"/>
            </a:pPr>
            <a:r>
              <a:t>Positive Tweets: 53.3%</a:t>
            </a:r>
          </a:p>
          <a:p>
            <a:pPr>
              <a:lnSpc>
                <a:spcPct val="120000"/>
              </a:lnSpc>
              <a:spcBef>
                <a:spcPts val="800"/>
              </a:spcBef>
              <a:spcAft>
                <a:spcPts val="800"/>
              </a:spcAft>
              <a:defRPr sz="1600"/>
            </a:pPr>
            <a:r>
              <a:t>Recent Price Surge: 2% increase to ₹708.10</a:t>
            </a:r>
          </a:p>
          <a:p>
            <a:pPr>
              <a:lnSpc>
                <a:spcPct val="120000"/>
              </a:lnSpc>
              <a:spcBef>
                <a:spcPts val="800"/>
              </a:spcBef>
              <a:spcAft>
                <a:spcPts val="800"/>
              </a:spcAft>
              <a:defRPr sz="1600"/>
            </a:pPr>
            <a:r>
              <a:t>1 Year Return: 16.22%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Investment Corporation Limited appears promising, bolstered by positive earnings trends and a strategic focus on diversifying its investment portfolio. While recent revenue contractions have raised concerns, historical growth patterns suggest that the company is capable of recovery as market conditions improve. Analysts point to a rebound in earnings per share in early 2026, indicating potential for strong future performance. Furthermore, Tata's brand reputation and investor confidence provide a solid foundation for future growth, making it an appealing option for long-term investors.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sentiment remains bullish with positive growth indicators.</a:t>
            </a:r>
          </a:p>
          <a:p>
            <a:pPr>
              <a:spcBef>
                <a:spcPts val="600"/>
              </a:spcBef>
              <a:spcAft>
                <a:spcPts val="600"/>
              </a:spcAft>
              <a:defRPr sz="1600"/>
            </a:pPr>
            <a:r>
              <a:t>Consider long-term holding due to strong brand and market position.</a:t>
            </a:r>
          </a:p>
          <a:p>
            <a:pPr>
              <a:spcBef>
                <a:spcPts val="600"/>
              </a:spcBef>
              <a:spcAft>
                <a:spcPts val="600"/>
              </a:spcAft>
              <a:defRPr sz="1600"/>
            </a:pPr>
            <a:r>
              <a:t>Monitor market conditions for volatility and pricing adjustments.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current market sentiment and the company's financial strength, it is recommended to consider Tata Investment Corporation Limited as a long-term investment. The favorable metrics, including a solid profit margin and significant market capitalization, combined with the company's strategic positioning within the Tata Group, highlight its potential for growth. However, investors should remain vigilant about market fluctuations and be prepared for possible volatility in stock prices.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High PE Ratio may indicate overvaluation.</a:t>
            </a:r>
          </a:p>
          <a:p>
            <a:pPr>
              <a:lnSpc>
                <a:spcPct val="120000"/>
              </a:lnSpc>
              <a:spcBef>
                <a:spcPts val="800"/>
              </a:spcBef>
              <a:spcAft>
                <a:spcPts val="800"/>
              </a:spcAft>
              <a:defRPr sz="1600"/>
            </a:pPr>
            <a:r>
              <a:t>Revenue contraction could signal potential operational issues.</a:t>
            </a:r>
          </a:p>
          <a:p>
            <a:pPr>
              <a:lnSpc>
                <a:spcPct val="120000"/>
              </a:lnSpc>
              <a:spcBef>
                <a:spcPts val="800"/>
              </a:spcBef>
              <a:spcAft>
                <a:spcPts val="800"/>
              </a:spcAft>
              <a:defRPr sz="1600"/>
            </a:pPr>
            <a:r>
              <a:t>Dependence on market conditions for portfolio performance.</a:t>
            </a:r>
          </a:p>
          <a:p>
            <a:pPr>
              <a:lnSpc>
                <a:spcPct val="120000"/>
              </a:lnSpc>
              <a:spcBef>
                <a:spcPts val="800"/>
              </a:spcBef>
              <a:spcAft>
                <a:spcPts val="800"/>
              </a:spcAft>
              <a:defRPr sz="1600"/>
            </a:pPr>
            <a:r>
              <a:t>Limited analyst coverage creates uncertainty.</a:t>
            </a:r>
          </a:p>
          <a:p>
            <a:pPr>
              <a:lnSpc>
                <a:spcPct val="120000"/>
              </a:lnSpc>
              <a:spcBef>
                <a:spcPts val="800"/>
              </a:spcBef>
              <a:spcAft>
                <a:spcPts val="800"/>
              </a:spcAft>
              <a:defRPr sz="1600"/>
            </a:pPr>
            <a:r>
              <a:t>Dividend yield below industry median may deter some investors.</a:t>
            </a:r>
          </a:p>
          <a:p>
            <a:pPr>
              <a:lnSpc>
                <a:spcPct val="120000"/>
              </a:lnSpc>
              <a:spcBef>
                <a:spcPts val="800"/>
              </a:spcBef>
              <a:spcAft>
                <a:spcPts val="800"/>
              </a:spcAft>
              <a:defRPr sz="1600"/>
            </a:pPr>
            <a:r>
              <a:t>Recent price volatility raises concerns about stability.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Investment Corporation Limited presents a compelling investment opportunity, characterized by strong financial metrics and a positive market outlook. However, investors should be aware of the inherent risks, including market volatility and potential overvaluation. The next steps include closely monitoring the market dynamics and the company’s performance metrics. Engaging with financial advisors for tailored investment strategies will also be prudent as investors navigate this promising yet challenging landscape.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
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is a leading global provider of IT services and consulting, with a strong presence across various sectors, especially in technology. Founded in 1968 and headquartered in Mumbai, India, TCS has established itself as a key player in the information technology services industry. Currently, the stock sentiment is bullish, driven by robust financial performance and a positive outlook fueled by advancements in AI and cloud technology. The company boasts a market capitalization of ₹953,873.00 Cr and continues to expand its offerings, positioning itself for future growth. Investors are encouraged to consider TCS as a strong investment opportunity due to its stability, consistent dividend payouts, and growth potential in emerging technologies.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1968, headquartered in Mumbai, India</a:t>
            </a:r>
          </a:p>
          <a:p>
            <a:pPr>
              <a:spcBef>
                <a:spcPts val="600"/>
              </a:spcBef>
              <a:spcAft>
                <a:spcPts val="600"/>
              </a:spcAft>
              <a:defRPr sz="1600"/>
            </a:pPr>
            <a:r>
              <a:t>Employs over 608,000 professionals globally</a:t>
            </a:r>
          </a:p>
          <a:p>
            <a:pPr>
              <a:spcBef>
                <a:spcPts val="600"/>
              </a:spcBef>
              <a:spcAft>
                <a:spcPts val="600"/>
              </a:spcAft>
              <a:defRPr sz="1600"/>
            </a:pPr>
            <a:r>
              <a:t>Diverse service offerings including cloud, AI, and data analytics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provides comprehensive IT and IT-enabled services across the globe, with notable operations in the Americas, Europe, and Asia. The company has developed a suite of advanced platforms such as TCS ADD for life sciences and TCS BaNCS for financial services, reflecting its commitment to innovation. With a workforce exceeding 600,000 employees, TCS is well-equipped to handle diverse client needs and is actively investing in AI to enhance service delivery and operational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₹131.86</a:t>
            </a:r>
          </a:p>
          <a:p>
            <a:pPr>
              <a:lnSpc>
                <a:spcPct val="120000"/>
              </a:lnSpc>
              <a:spcBef>
                <a:spcPts val="800"/>
              </a:spcBef>
              <a:spcAft>
                <a:spcPts val="800"/>
              </a:spcAft>
              <a:defRPr sz="1600"/>
            </a:pPr>
            <a:r>
              <a:t>Dividend Yield: 2.26%</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Total Liabilities: ₹14,462.00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has demonstrated solid financial health, marked by a steady revenue stream of ₹260,802.01 Cr and a net profit of ₹47,716.00 Cr. The company's EBITDA stands at ₹68,208.00 Cr, highlighting strong operational efficiency. With an impressive profit margin of 18.39% and a robust operating margin of 27.00%, TCS showcases its ability to maintain profitability despite market fluctuations. The high payout ratio of 94.00% indicates a strong commitment to returning value to shareholders, further underscoring its appeal as a dividend stock. The overall financial metrics indicate a stable foundation for ongoing growth and resilience in the competitive IT sector.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₹2,636.00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₹2,561.30</a:t>
            </a:r>
          </a:p>
          <a:p>
            <a:pPr>
              <a:lnSpc>
                <a:spcPct val="120000"/>
              </a:lnSpc>
              <a:spcBef>
                <a:spcPts val="800"/>
              </a:spcBef>
              <a:spcAft>
                <a:spcPts val="800"/>
              </a:spcAft>
              <a:defRPr sz="1600"/>
            </a:pPr>
            <a:r>
              <a:t>Market Capitalization: ₹953,873.00 Cr</a:t>
            </a:r>
          </a:p>
          <a:p>
            <a:pPr>
              <a:lnSpc>
                <a:spcPct val="120000"/>
              </a:lnSpc>
              <a:spcBef>
                <a:spcPts val="800"/>
              </a:spcBef>
              <a:spcAft>
                <a:spcPts val="800"/>
              </a:spcAft>
              <a:defRPr sz="1600"/>
            </a:pPr>
            <a:r>
              <a:t>Beta (Volatility): 0.25</a:t>
            </a:r>
          </a:p>
          <a:p>
            <a:pPr>
              <a:lnSpc>
                <a:spcPct val="120000"/>
              </a:lnSpc>
              <a:spcBef>
                <a:spcPts val="800"/>
              </a:spcBef>
              <a:spcAft>
                <a:spcPts val="800"/>
              </a:spcAft>
              <a:defRPr sz="1600"/>
            </a:pPr>
            <a:r>
              <a:t>Average Volume: 33.35 L</a:t>
            </a:r>
          </a:p>
          <a:p>
            <a:pPr>
              <a:lnSpc>
                <a:spcPct val="120000"/>
              </a:lnSpc>
              <a:spcBef>
                <a:spcPts val="800"/>
              </a:spcBef>
              <a:spcAft>
                <a:spcPts val="800"/>
              </a:spcAft>
              <a:defRPr sz="1600"/>
            </a:pPr>
            <a:r>
              <a:t>Recent 1-Year Change: -27.93%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Leading player in the IT services sector</a:t>
            </a:r>
          </a:p>
          <a:p>
            <a:pPr>
              <a:spcBef>
                <a:spcPts val="600"/>
              </a:spcBef>
              <a:spcAft>
                <a:spcPts val="600"/>
              </a:spcAft>
              <a:defRPr sz="1600"/>
            </a:pPr>
            <a:r>
              <a:t>Strong competitive advantage in AI and cloud services</a:t>
            </a:r>
          </a:p>
          <a:p>
            <a:pPr>
              <a:spcBef>
                <a:spcPts val="600"/>
              </a:spcBef>
              <a:spcAft>
                <a:spcPts val="600"/>
              </a:spcAft>
              <a:defRPr sz="1600"/>
            </a:pPr>
            <a:r>
              <a:t>Promoter holding at 71.77% indicates strong insider confidence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holds a prominent position within the global IT services market, competing against major firms like Infosys and Wipro. Its strategic investments in artificial intelligence and cloud computing have solidified its competitive edge, allowing TCS to offer cutting-edge solutions. With a promoter holding of 71.77%, TCS reflects strong internal confidence in its future performance, which is crucial for maintaining investor trust and market stability.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31.9/100 (Bullish)</a:t>
            </a:r>
          </a:p>
          <a:p>
            <a:pPr>
              <a:lnSpc>
                <a:spcPct val="120000"/>
              </a:lnSpc>
              <a:spcBef>
                <a:spcPts val="800"/>
              </a:spcBef>
              <a:spcAft>
                <a:spcPts val="800"/>
              </a:spcAft>
              <a:defRPr sz="1600"/>
            </a:pPr>
            <a:r>
              <a:t>News Sentiment: 49.9/100 (Strongly Bullish)</a:t>
            </a:r>
          </a:p>
          <a:p>
            <a:pPr>
              <a:lnSpc>
                <a:spcPct val="120000"/>
              </a:lnSpc>
              <a:spcBef>
                <a:spcPts val="800"/>
              </a:spcBef>
              <a:spcAft>
                <a:spcPts val="800"/>
              </a:spcAft>
              <a:defRPr sz="1600"/>
            </a:pPr>
            <a:r>
              <a:t>Yahoo Finance Rating: 60.0/100 (Buy)</a:t>
            </a:r>
          </a:p>
          <a:p>
            <a:pPr>
              <a:lnSpc>
                <a:spcPct val="120000"/>
              </a:lnSpc>
              <a:spcBef>
                <a:spcPts val="800"/>
              </a:spcBef>
              <a:spcAft>
                <a:spcPts val="800"/>
              </a:spcAft>
              <a:defRPr sz="1600"/>
            </a:pPr>
            <a:r>
              <a:t>Positive Tweets: 35.3% vs Negative: 29.4%</a:t>
            </a:r>
          </a:p>
          <a:p>
            <a:pPr>
              <a:lnSpc>
                <a:spcPct val="120000"/>
              </a:lnSpc>
              <a:spcBef>
                <a:spcPts val="800"/>
              </a:spcBef>
              <a:spcAft>
                <a:spcPts val="800"/>
              </a:spcAft>
              <a:defRPr sz="1600"/>
            </a:pPr>
            <a:r>
              <a:t>Analysts see 30-50% upside over next 12-36 months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is markedly positive, supported by projections of an 8.8% CAGR in earnings and a 6.3% CAGR in revenue over the next three to five years. As TCS continues to innovate and expand its service offerings, particularly in AI and cloud solutions, the company is well-positioned to leverage market trends. Analysts anticipate a return on equity of 44.7% within three years, highlighting TCS's efficient capital use. The robust cash generation expected will facilitate ongoing dividends and potential acquisitions, further enhancing shareholder value. Overall, the consensus view remains bullish, with significant upside potential expected in the coming years.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potential for growth with AI and cloud expansion</a:t>
            </a:r>
          </a:p>
          <a:p>
            <a:pPr>
              <a:spcBef>
                <a:spcPts val="600"/>
              </a:spcBef>
              <a:spcAft>
                <a:spcPts val="600"/>
              </a:spcAft>
              <a:defRPr sz="1600"/>
            </a:pPr>
            <a:r>
              <a:t>Stable dividend yield offering attractive income</a:t>
            </a:r>
          </a:p>
          <a:p>
            <a:pPr>
              <a:spcBef>
                <a:spcPts val="600"/>
              </a:spcBef>
              <a:spcAft>
                <a:spcPts val="600"/>
              </a:spcAft>
              <a:defRPr sz="1600"/>
            </a:pPr>
            <a:r>
              <a:t>Current valuation appears undervalued relative to growth potential</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Considering Tata Consultancy Services' solid financial metrics, positive market sentiment, and strategic positioning in high-growth areas like AI, we recommend a 'Buy' for long-term investors. The company's strong dividend history and commitment to innovation make it an appealing option for those seeking both growth and income. With analysts projecting substantial upside potential, TCS stands out as a compelling investment opportunity in the technology sector.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Exposure to global economic fluctuations impacting IT spending</a:t>
            </a:r>
          </a:p>
          <a:p>
            <a:pPr>
              <a:lnSpc>
                <a:spcPct val="120000"/>
              </a:lnSpc>
              <a:spcBef>
                <a:spcPts val="800"/>
              </a:spcBef>
              <a:spcAft>
                <a:spcPts val="800"/>
              </a:spcAft>
              <a:defRPr sz="1600"/>
            </a:pPr>
            <a:r>
              <a:t>Rising competition from other IT service providers</a:t>
            </a:r>
          </a:p>
          <a:p>
            <a:pPr>
              <a:lnSpc>
                <a:spcPct val="120000"/>
              </a:lnSpc>
              <a:spcBef>
                <a:spcPts val="800"/>
              </a:spcBef>
              <a:spcAft>
                <a:spcPts val="800"/>
              </a:spcAft>
              <a:defRPr sz="1600"/>
            </a:pPr>
            <a:r>
              <a:t>Regulatory changes in key markets affecting operations</a:t>
            </a:r>
          </a:p>
          <a:p>
            <a:pPr>
              <a:lnSpc>
                <a:spcPct val="120000"/>
              </a:lnSpc>
              <a:spcBef>
                <a:spcPts val="800"/>
              </a:spcBef>
              <a:spcAft>
                <a:spcPts val="800"/>
              </a:spcAft>
              <a:defRPr sz="1600"/>
            </a:pPr>
            <a:r>
              <a:t>High dependence on the US market for revenue</a:t>
            </a:r>
          </a:p>
          <a:p>
            <a:pPr>
              <a:lnSpc>
                <a:spcPct val="120000"/>
              </a:lnSpc>
              <a:spcBef>
                <a:spcPts val="800"/>
              </a:spcBef>
              <a:spcAft>
                <a:spcPts val="800"/>
              </a:spcAft>
              <a:defRPr sz="1600"/>
            </a:pPr>
            <a:r>
              <a:t>Potential volatility due to AI-related uncertainties</a:t>
            </a:r>
          </a:p>
          <a:p>
            <a:pPr>
              <a:lnSpc>
                <a:spcPct val="120000"/>
              </a:lnSpc>
              <a:spcBef>
                <a:spcPts val="800"/>
              </a:spcBef>
              <a:spcAft>
                <a:spcPts val="800"/>
              </a:spcAft>
              <a:defRPr sz="1600"/>
            </a:pPr>
            <a:r>
              <a:t>Foreign exchange risk impacting earnings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presents a strong investment case backed by robust financial performance and positive market sentiment. While there are inherent risks, the company’s strategic focus on AI and cloud services positions it well for future growth. Investors should consider initiating or increasing their positions in TCS, capitalizing on its current undervaluation. Next steps include monitoring market trends, earnings reports, and updates on strategic initiatives to ensure informed decision-making moving forward.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
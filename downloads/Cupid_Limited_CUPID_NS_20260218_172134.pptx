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a prominent player in the consumer defensive sector, specializes in the design, manufacture, and export of condoms and personal care products. With a robust revenue of ₹294.23 Cr and a net profit of ₹83.48 Cr, Cupid Limited exhibits a strong financial position characterized by a profit margin of 28.23%. The company, operating from Nashik, India, has expanded its reach across global markets. Given the company's consistent growth trajectory, evidenced by a remarkable 511.82% increase in stock price over the past year, Cupid Limited presents a compelling investment opportunity for stakeholders looking for exposure in the household and personal products industry.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1993, Cupid Limited specializes in male and female condoms.</a:t>
            </a:r>
          </a:p>
          <a:p>
            <a:pPr>
              <a:spcBef>
                <a:spcPts val="600"/>
              </a:spcBef>
              <a:spcAft>
                <a:spcPts val="600"/>
              </a:spcAft>
              <a:defRPr sz="1600"/>
            </a:pPr>
            <a:r>
              <a:t>The company also offers a diverse range of personal care products.</a:t>
            </a:r>
          </a:p>
          <a:p>
            <a:pPr>
              <a:spcBef>
                <a:spcPts val="600"/>
              </a:spcBef>
              <a:spcAft>
                <a:spcPts val="600"/>
              </a:spcAft>
              <a:defRPr sz="1600"/>
            </a:pPr>
            <a:r>
              <a:t>Headquartered in Nashik, India, with a global export footprint.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Limited's business model is centered on innovation and quality, focusing on the design and production of safe and reliable personal care products. The company has diversified its portfolio to include lubricants, diagnostic kits, and personal hygiene items, catering to a wide demographic. This strategic expansion into various product categories not only enhances revenue streams but also strengthens its market presence domestically and internationally, making Cupid a key player in the household and personal products segment.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a:t>
            </a:r>
          </a:p>
          <a:p>
            <a:pPr>
              <a:lnSpc>
                <a:spcPct val="120000"/>
              </a:lnSpc>
              <a:spcBef>
                <a:spcPts val="800"/>
              </a:spcBef>
              <a:spcAft>
                <a:spcPts val="800"/>
              </a:spcAft>
              <a:defRPr sz="1600"/>
            </a:pPr>
            <a:r>
              <a:t>Net Profit (TTM): ₹83.48 Cr</a:t>
            </a:r>
          </a:p>
          <a:p>
            <a:pPr>
              <a:lnSpc>
                <a:spcPct val="120000"/>
              </a:lnSpc>
              <a:spcBef>
                <a:spcPts val="800"/>
              </a:spcBef>
              <a:spcAft>
                <a:spcPts val="800"/>
              </a:spcAft>
              <a:defRPr sz="1600"/>
            </a:pPr>
            <a:r>
              <a:t>EBITDA: ₹91.23 Cr</a:t>
            </a:r>
          </a:p>
          <a:p>
            <a:pPr>
              <a:lnSpc>
                <a:spcPct val="120000"/>
              </a:lnSpc>
              <a:spcBef>
                <a:spcPts val="800"/>
              </a:spcBef>
              <a:spcAft>
                <a:spcPts val="800"/>
              </a:spcAft>
              <a:defRPr sz="1600"/>
            </a:pPr>
            <a:r>
              <a:t>EPS: ₹3.09</a:t>
            </a:r>
          </a:p>
          <a:p>
            <a:pPr>
              <a:lnSpc>
                <a:spcPct val="120000"/>
              </a:lnSpc>
              <a:spcBef>
                <a:spcPts val="800"/>
              </a:spcBef>
              <a:spcAft>
                <a:spcPts val="800"/>
              </a:spcAft>
              <a:defRPr sz="1600"/>
            </a:pPr>
            <a:r>
              <a:t>Profit Margin: 28.23%</a:t>
            </a:r>
          </a:p>
          <a:p>
            <a:pPr>
              <a:lnSpc>
                <a:spcPct val="120000"/>
              </a:lnSpc>
              <a:spcBef>
                <a:spcPts val="800"/>
              </a:spcBef>
              <a:spcAft>
                <a:spcPts val="800"/>
              </a:spcAft>
              <a:defRPr sz="1600"/>
            </a:pPr>
            <a:r>
              <a:t>Operating Margin: 31.00%</a:t>
            </a:r>
          </a:p>
          <a:p>
            <a:pPr>
              <a:lnSpc>
                <a:spcPct val="120000"/>
              </a:lnSpc>
              <a:spcBef>
                <a:spcPts val="800"/>
              </a:spcBef>
              <a:spcAft>
                <a:spcPts val="800"/>
              </a:spcAft>
              <a:defRPr sz="1600"/>
            </a:pPr>
            <a:r>
              <a:t>Gross Margin: 62.22%</a:t>
            </a:r>
          </a:p>
          <a:p>
            <a:pPr>
              <a:lnSpc>
                <a:spcPct val="120000"/>
              </a:lnSpc>
              <a:spcBef>
                <a:spcPts val="800"/>
              </a:spcBef>
              <a:spcAft>
                <a:spcPts val="800"/>
              </a:spcAft>
              <a:defRPr sz="1600"/>
            </a:pPr>
            <a:r>
              <a:t>Total Assets: ₹152.00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has demonstrated a robust financial health profile with significant profitability margins. The company achieves a profit margin of 28.23%, indicating effective cost management and operational efficiency. With an EBITDA of ₹91.23 Cr, it showcases strong earnings potential. The debt-to-equity ratio of 7.02 suggests a high reliance on debt financing, which could be a concern for future growth. However, with a cash balance of ₹191.73 Cr, the company possesses a solid buffer to support ongoing operations and strategic investments. As such, its financial metrics suggest a company positioned for sustainable growth while cautiously navigating its leverage.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₹423.00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Market Capitalization: ₹11389.00 Cr</a:t>
            </a:r>
          </a:p>
          <a:p>
            <a:pPr>
              <a:lnSpc>
                <a:spcPct val="120000"/>
              </a:lnSpc>
              <a:spcBef>
                <a:spcPts val="800"/>
              </a:spcBef>
              <a:spcAft>
                <a:spcPts val="800"/>
              </a:spcAft>
              <a:defRPr sz="1600"/>
            </a:pPr>
            <a:r>
              <a:t>Beta (Volatility): 0.04</a:t>
            </a:r>
          </a:p>
          <a:p>
            <a:pPr>
              <a:lnSpc>
                <a:spcPct val="120000"/>
              </a:lnSpc>
              <a:spcBef>
                <a:spcPts val="800"/>
              </a:spcBef>
              <a:spcAft>
                <a:spcPts val="800"/>
              </a:spcAft>
              <a:defRPr sz="1600"/>
            </a:pPr>
            <a:r>
              <a:t>PE Ratio: 136.00</a:t>
            </a:r>
          </a:p>
          <a:p>
            <a:pPr>
              <a:lnSpc>
                <a:spcPct val="120000"/>
              </a:lnSpc>
              <a:spcBef>
                <a:spcPts val="800"/>
              </a:spcBef>
              <a:spcAft>
                <a:spcPts val="800"/>
              </a:spcAft>
              <a:defRPr sz="1600"/>
            </a:pPr>
            <a:r>
              <a:t>Debt-to-Equity Ratio: 7.02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market presence in the consumer defensive sector.</a:t>
            </a:r>
          </a:p>
          <a:p>
            <a:pPr>
              <a:spcBef>
                <a:spcPts val="600"/>
              </a:spcBef>
              <a:spcAft>
                <a:spcPts val="600"/>
              </a:spcAft>
              <a:defRPr sz="1600"/>
            </a:pPr>
            <a:r>
              <a:t>Competitive advantage through diverse product offerings.</a:t>
            </a:r>
          </a:p>
          <a:p>
            <a:pPr>
              <a:spcBef>
                <a:spcPts val="600"/>
              </a:spcBef>
              <a:spcAft>
                <a:spcPts val="600"/>
              </a:spcAft>
              <a:defRPr sz="1600"/>
            </a:pPr>
            <a:r>
              <a:t>Revenue growth driven by both domestic and international sales.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in a competitive landscape dominated by established players like Hindustan Unilever, Godrej Consumer Products, and Dabur India. While these competitors boast significantly higher revenues, Cupid Limited's unique focus on niche markets within the personal care segment allows it to capture a dedicated customer base. The company's ability to innovate and meet evolving consumer demands sets it apart, positioning it favorably to gain market share in the growing household and personal products industry.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No recent sentiment data available.</a:t>
            </a:r>
          </a:p>
          <a:p>
            <a:pPr>
              <a:lnSpc>
                <a:spcPct val="120000"/>
              </a:lnSpc>
              <a:spcBef>
                <a:spcPts val="800"/>
              </a:spcBef>
              <a:spcAft>
                <a:spcPts val="800"/>
              </a:spcAft>
              <a:defRPr sz="1600"/>
            </a:pPr>
            <a:r>
              <a:t>Stock has experienced a 1 Day change of -1.54%.</a:t>
            </a:r>
          </a:p>
          <a:p>
            <a:pPr>
              <a:lnSpc>
                <a:spcPct val="120000"/>
              </a:lnSpc>
              <a:spcBef>
                <a:spcPts val="800"/>
              </a:spcBef>
              <a:spcAft>
                <a:spcPts val="800"/>
              </a:spcAft>
              <a:defRPr sz="1600"/>
            </a:pPr>
            <a:r>
              <a:t>1 Month change stands at -2.50%.</a:t>
            </a:r>
          </a:p>
          <a:p>
            <a:pPr>
              <a:lnSpc>
                <a:spcPct val="120000"/>
              </a:lnSpc>
              <a:spcBef>
                <a:spcPts val="800"/>
              </a:spcBef>
              <a:spcAft>
                <a:spcPts val="800"/>
              </a:spcAft>
              <a:defRPr sz="1600"/>
            </a:pPr>
            <a:r>
              <a:t>1 Year change shows a substantial increase of 511.82%.</a:t>
            </a:r>
          </a:p>
          <a:p>
            <a:pPr>
              <a:lnSpc>
                <a:spcPct val="120000"/>
              </a:lnSpc>
              <a:spcBef>
                <a:spcPts val="800"/>
              </a:spcBef>
              <a:spcAft>
                <a:spcPts val="800"/>
              </a:spcAft>
              <a:defRPr sz="1600"/>
            </a:pPr>
            <a:r>
              <a:t>Recent volatility indicated by a Beta of 0.04.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Cupid Limited appears promising, driven by increasing awareness and demand for personal care products. As the global market for such products expands, Cupid is well-positioned to leverage its established distribution channels and innovative product lines. The company's strategic focus on export markets, particularly in emerging economies, will further enhance its growth potential. Continued investment in product development and marketing initiatives will be crucial in maintaining competitive advantage. Overall, Cupid Limited is poised for sustained growth, making it an attractive option for investors looking for long-term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Consider accumulating shares at current price levels.</a:t>
            </a:r>
          </a:p>
          <a:p>
            <a:pPr>
              <a:spcBef>
                <a:spcPts val="600"/>
              </a:spcBef>
              <a:spcAft>
                <a:spcPts val="600"/>
              </a:spcAft>
              <a:defRPr sz="1600"/>
            </a:pPr>
            <a:r>
              <a:t>Monitor financial performance and market trends closely.</a:t>
            </a:r>
          </a:p>
          <a:p>
            <a:pPr>
              <a:spcBef>
                <a:spcPts val="600"/>
              </a:spcBef>
              <a:spcAft>
                <a:spcPts val="600"/>
              </a:spcAft>
              <a:defRPr sz="1600"/>
            </a:pPr>
            <a:r>
              <a:t>Evaluate risk factors related to high debt levels.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Cupid Limited's strong financial metrics, significant profitability margins, and impressive historical growth, it is recommended for investors to consider accumulating shares at current levels. The stock's recent volatility and market fluctuations provide potential buying opportunities. However, it is essential to monitor financial performance closely, especially regarding debt management. Investing in Cupid Limited could yield substantial long-term returns as the company continues to innovate and expand in the personal care market.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debt-to-equity ratio could affect financial stability.</a:t>
            </a:r>
          </a:p>
          <a:p>
            <a:pPr>
              <a:lnSpc>
                <a:spcPct val="120000"/>
              </a:lnSpc>
              <a:spcBef>
                <a:spcPts val="800"/>
              </a:spcBef>
              <a:spcAft>
                <a:spcPts val="800"/>
              </a:spcAft>
              <a:defRPr sz="1600"/>
            </a:pPr>
            <a:r>
              <a:t>Market competition from established players.</a:t>
            </a:r>
          </a:p>
          <a:p>
            <a:pPr>
              <a:lnSpc>
                <a:spcPct val="120000"/>
              </a:lnSpc>
              <a:spcBef>
                <a:spcPts val="800"/>
              </a:spcBef>
              <a:spcAft>
                <a:spcPts val="800"/>
              </a:spcAft>
              <a:defRPr sz="1600"/>
            </a:pPr>
            <a:r>
              <a:t>Regulatory risks in product approvals.</a:t>
            </a:r>
          </a:p>
          <a:p>
            <a:pPr>
              <a:lnSpc>
                <a:spcPct val="120000"/>
              </a:lnSpc>
              <a:spcBef>
                <a:spcPts val="800"/>
              </a:spcBef>
              <a:spcAft>
                <a:spcPts val="800"/>
              </a:spcAft>
              <a:defRPr sz="1600"/>
            </a:pPr>
            <a:r>
              <a:t>Fluctuations in raw material costs.</a:t>
            </a:r>
          </a:p>
          <a:p>
            <a:pPr>
              <a:lnSpc>
                <a:spcPct val="120000"/>
              </a:lnSpc>
              <a:spcBef>
                <a:spcPts val="800"/>
              </a:spcBef>
              <a:spcAft>
                <a:spcPts val="800"/>
              </a:spcAft>
              <a:defRPr sz="1600"/>
            </a:pPr>
            <a:r>
              <a:t>Reliance on export markets increases currency risk.</a:t>
            </a:r>
          </a:p>
          <a:p>
            <a:pPr>
              <a:lnSpc>
                <a:spcPct val="120000"/>
              </a:lnSpc>
              <a:spcBef>
                <a:spcPts val="800"/>
              </a:spcBef>
              <a:spcAft>
                <a:spcPts val="800"/>
              </a:spcAft>
              <a:defRPr sz="1600"/>
            </a:pPr>
            <a:r>
              <a:t>Changes in consumer preferences and trends.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presents a compelling investment opportunity characterized by strong financials and a unique market position. As the company navigates challenges related to debt and competition, it is essential for investors to remain informed and vigilant. Next steps should include monitoring quarterly earnings reports, evaluating market developments, and assessing the company's strategic initiatives. Investors are encouraged to consider Cupid Limited for their portfolios while keeping an eye on the aforementioned risk factors that could impact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
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Reliance Industries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RELIANCE.NS | March 17,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Reliance Industries Limited, a leading player in the energy sector, operates through diverse segments including oil to chemicals, retail, and digital services. Founded in 1966 and headquartered in Mumbai, the company has established a strong market presence with a workforce of over 400,000 employees. Currently, the stock is regarded as 'strongly bullish' due to positive earnings reports and a robust business model that capitalizes on supply dynamics in the oil market. Analysts forecast significant upside potential, with a price target suggesting a 20-30% appreciation over the next year. This analysis underscores Reliance's strategic positioning and its ability to leverage growth across multiple verticals, making it an attractive investment opportunity.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1966, headquartered in Mumbai, India.</a:t>
            </a:r>
          </a:p>
          <a:p>
            <a:pPr>
              <a:spcBef>
                <a:spcPts val="600"/>
              </a:spcBef>
              <a:spcAft>
                <a:spcPts val="600"/>
              </a:spcAft>
              <a:defRPr sz="1600"/>
            </a:pPr>
            <a:r>
              <a:t>Operates across multiple sectors: oil, retail, digital services.</a:t>
            </a:r>
          </a:p>
          <a:p>
            <a:pPr>
              <a:spcBef>
                <a:spcPts val="600"/>
              </a:spcBef>
              <a:spcAft>
                <a:spcPts val="600"/>
              </a:spcAft>
              <a:defRPr sz="1600"/>
            </a:pPr>
            <a:r>
              <a:t>4.03 lakh employees.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Reliance Industries Limited is a diversified conglomerate engaged in various sectors including hydrocarbon exploration, oil refining, retail, and digital services. With a significant market share in the oil and gas industry, the company’s operations are segmented into Oil to Chemicals, Oil and Gas, Retail, and Digital Services. This multifaceted business model allows Reliance to capitalize on synergies across its divisions, enhancing its market competitiveness and ensuring steady revenue generation. The company has a robust geographic presence primarily in India, catering to a vast customer 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₹1024547.99 Cr</a:t>
            </a:r>
          </a:p>
          <a:p>
            <a:pPr>
              <a:lnSpc>
                <a:spcPct val="120000"/>
              </a:lnSpc>
              <a:spcBef>
                <a:spcPts val="800"/>
              </a:spcBef>
              <a:spcAft>
                <a:spcPts val="800"/>
              </a:spcAft>
              <a:defRPr sz="1600"/>
            </a:pPr>
            <a:r>
              <a:t>Net Profit (TTM): ₹83211.00 Cr</a:t>
            </a:r>
          </a:p>
          <a:p>
            <a:pPr>
              <a:lnSpc>
                <a:spcPct val="120000"/>
              </a:lnSpc>
              <a:spcBef>
                <a:spcPts val="800"/>
              </a:spcBef>
              <a:spcAft>
                <a:spcPts val="800"/>
              </a:spcAft>
              <a:defRPr sz="1600"/>
            </a:pPr>
            <a:r>
              <a:t>EBITDA: ₹168450.99 Cr</a:t>
            </a:r>
          </a:p>
          <a:p>
            <a:pPr>
              <a:lnSpc>
                <a:spcPct val="120000"/>
              </a:lnSpc>
              <a:spcBef>
                <a:spcPts val="800"/>
              </a:spcBef>
              <a:spcAft>
                <a:spcPts val="800"/>
              </a:spcAft>
              <a:defRPr sz="1600"/>
            </a:pPr>
            <a:r>
              <a:t>EPS: ₹62.08</a:t>
            </a:r>
          </a:p>
          <a:p>
            <a:pPr>
              <a:lnSpc>
                <a:spcPct val="120000"/>
              </a:lnSpc>
              <a:spcBef>
                <a:spcPts val="800"/>
              </a:spcBef>
              <a:spcAft>
                <a:spcPts val="800"/>
              </a:spcAft>
              <a:defRPr sz="1600"/>
            </a:pPr>
            <a:r>
              <a:t>Dividend Yield: 0.39%</a:t>
            </a:r>
          </a:p>
          <a:p>
            <a:pPr>
              <a:lnSpc>
                <a:spcPct val="120000"/>
              </a:lnSpc>
              <a:spcBef>
                <a:spcPts val="800"/>
              </a:spcBef>
              <a:spcAft>
                <a:spcPts val="800"/>
              </a:spcAft>
              <a:defRPr sz="1600"/>
            </a:pPr>
            <a:r>
              <a:t>Payout Ratio: 11.00%</a:t>
            </a:r>
          </a:p>
          <a:p>
            <a:pPr>
              <a:lnSpc>
                <a:spcPct val="120000"/>
              </a:lnSpc>
              <a:spcBef>
                <a:spcPts val="800"/>
              </a:spcBef>
              <a:spcAft>
                <a:spcPts val="800"/>
              </a:spcAft>
              <a:defRPr sz="1600"/>
            </a:pPr>
            <a:r>
              <a:t>Total Assets: ₹428843.00 Cr</a:t>
            </a:r>
          </a:p>
          <a:p>
            <a:pPr>
              <a:lnSpc>
                <a:spcPct val="120000"/>
              </a:lnSpc>
              <a:spcBef>
                <a:spcPts val="800"/>
              </a:spcBef>
              <a:spcAft>
                <a:spcPts val="800"/>
              </a:spcAft>
              <a:defRPr sz="1600"/>
            </a:pPr>
            <a:r>
              <a:t>Debt-to-Equity Ratio: 0.70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Reliance Industries Limited demonstrates robust financial health with a total revenue of ₹1,024,547.99 Cr and a net profit of ₹83,211 Cr, reflecting effective cost management and operational efficiency. The EBITDA of ₹168,450.99 Cr reveals strong earnings potential, while an EPS of ₹62.08 indicates solid shareholder value. The company maintains a healthy balance sheet with total assets of ₹428,843 Cr against liabilities of ₹20.39 lakh Cr, resulting in a manageable debt-to-equity ratio of 0.70. The profit margin stands at 9.54%, supported by an operating margin of 17.00%, showcasing the firm's ability to convert sales into actual profit. These metrics position Reliance as a financially stable entity with substantial growth prospects.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₹1402.00</a:t>
            </a:r>
          </a:p>
          <a:p>
            <a:pPr>
              <a:lnSpc>
                <a:spcPct val="120000"/>
              </a:lnSpc>
              <a:spcBef>
                <a:spcPts val="800"/>
              </a:spcBef>
              <a:spcAft>
                <a:spcPts val="800"/>
              </a:spcAft>
              <a:defRPr sz="1600"/>
            </a:pPr>
            <a:r>
              <a:t>52-Week High: ₹1611.80</a:t>
            </a:r>
          </a:p>
          <a:p>
            <a:pPr>
              <a:lnSpc>
                <a:spcPct val="120000"/>
              </a:lnSpc>
              <a:spcBef>
                <a:spcPts val="800"/>
              </a:spcBef>
              <a:spcAft>
                <a:spcPts val="800"/>
              </a:spcAft>
              <a:defRPr sz="1600"/>
            </a:pPr>
            <a:r>
              <a:t>52-Week Low: ₹1114.85</a:t>
            </a:r>
          </a:p>
          <a:p>
            <a:pPr>
              <a:lnSpc>
                <a:spcPct val="120000"/>
              </a:lnSpc>
              <a:spcBef>
                <a:spcPts val="800"/>
              </a:spcBef>
              <a:spcAft>
                <a:spcPts val="800"/>
              </a:spcAft>
              <a:defRPr sz="1600"/>
            </a:pPr>
            <a:r>
              <a:t>Market Capitalization: ₹1897861.00 Cr</a:t>
            </a:r>
          </a:p>
          <a:p>
            <a:pPr>
              <a:lnSpc>
                <a:spcPct val="120000"/>
              </a:lnSpc>
              <a:spcBef>
                <a:spcPts val="800"/>
              </a:spcBef>
              <a:spcAft>
                <a:spcPts val="800"/>
              </a:spcAft>
              <a:defRPr sz="1600"/>
            </a:pPr>
            <a:r>
              <a:t>Beta (Volatility): 0.20</a:t>
            </a:r>
          </a:p>
          <a:p>
            <a:pPr>
              <a:lnSpc>
                <a:spcPct val="120000"/>
              </a:lnSpc>
              <a:spcBef>
                <a:spcPts val="800"/>
              </a:spcBef>
              <a:spcAft>
                <a:spcPts val="800"/>
              </a:spcAft>
              <a:defRPr sz="1600"/>
            </a:pPr>
            <a:r>
              <a:t>1-Year Change: 13.55%</a:t>
            </a:r>
          </a:p>
          <a:p>
            <a:pPr>
              <a:lnSpc>
                <a:spcPct val="120000"/>
              </a:lnSpc>
              <a:spcBef>
                <a:spcPts val="800"/>
              </a:spcBef>
              <a:spcAft>
                <a:spcPts val="800"/>
              </a:spcAft>
              <a:defRPr sz="1600"/>
            </a:pPr>
            <a:r>
              <a:t>5-Year CAGR: 21.00%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Market Cap: ₹1,897,861.00 Cr.</a:t>
            </a:r>
          </a:p>
          <a:p>
            <a:pPr>
              <a:spcBef>
                <a:spcPts val="600"/>
              </a:spcBef>
              <a:spcAft>
                <a:spcPts val="600"/>
              </a:spcAft>
              <a:defRPr sz="1600"/>
            </a:pPr>
            <a:r>
              <a:t>Strong promoter holding at 50%.</a:t>
            </a:r>
          </a:p>
          <a:p>
            <a:pPr>
              <a:spcBef>
                <a:spcPts val="600"/>
              </a:spcBef>
              <a:spcAft>
                <a:spcPts val="600"/>
              </a:spcAft>
              <a:defRPr sz="1600"/>
            </a:pPr>
            <a:r>
              <a:t>FII and DII holdings at 19.09% and 20.10%, respectively.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Reliance Industries Limited stands as a formidable player in the oil and gas refining industry, with a market capitalization of ₹1,897,861 Cr. The company's strong promoter holding of 50% underscores significant insider confidence. Its strategic positioning is further reinforced by foreign institutional investors (FII) and domestic institutional investors (DII) holding 19.09% and 20.10%, respectively. This diversified ownership structure reflects investor trust and enhances market stability. In comparison with competitors, Reliance's broad operational scope and high market penetration make it a leader in the energy sector.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75.3/100 (Strongly Bullish)</a:t>
            </a:r>
          </a:p>
          <a:p>
            <a:pPr>
              <a:lnSpc>
                <a:spcPct val="120000"/>
              </a:lnSpc>
              <a:spcBef>
                <a:spcPts val="800"/>
              </a:spcBef>
              <a:spcAft>
                <a:spcPts val="800"/>
              </a:spcAft>
              <a:defRPr sz="1600"/>
            </a:pPr>
            <a:r>
              <a:t>News Sentiment: 81.7/100</a:t>
            </a:r>
          </a:p>
          <a:p>
            <a:pPr>
              <a:lnSpc>
                <a:spcPct val="120000"/>
              </a:lnSpc>
              <a:spcBef>
                <a:spcPts val="800"/>
              </a:spcBef>
              <a:spcAft>
                <a:spcPts val="800"/>
              </a:spcAft>
              <a:defRPr sz="1600"/>
            </a:pPr>
            <a:r>
              <a:t>Twitter/X Sentiment: 77.2/100</a:t>
            </a:r>
          </a:p>
          <a:p>
            <a:pPr>
              <a:lnSpc>
                <a:spcPct val="120000"/>
              </a:lnSpc>
              <a:spcBef>
                <a:spcPts val="800"/>
              </a:spcBef>
              <a:spcAft>
                <a:spcPts val="800"/>
              </a:spcAft>
              <a:defRPr sz="1600"/>
            </a:pPr>
            <a:r>
              <a:t>Majority of analysts recommend Buy/Strong-Buy</a:t>
            </a:r>
          </a:p>
          <a:p>
            <a:pPr>
              <a:lnSpc>
                <a:spcPct val="120000"/>
              </a:lnSpc>
              <a:spcBef>
                <a:spcPts val="800"/>
              </a:spcBef>
              <a:spcAft>
                <a:spcPts val="800"/>
              </a:spcAft>
              <a:defRPr sz="1600"/>
            </a:pPr>
            <a:r>
              <a:t>Positive sentiment driven by recent earnings and market strategies.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Looking ahead, Reliance Industries Limited is poised for sustained growth with analysts projecting an earnings CAGR of approximately 8-9% and revenue CAGR of 6-7% over the next 3-5 years. The firm is on track to achieve free cash flow positivity across all its major verticals, a significant milestone expected in FY26. Moreover, the current market price is estimated to be about 20% below its fair value, indicating substantial upside potential. Key growth drivers include ongoing expansion in retail, strategic partnerships in the digital space, and expected recovery in chemicals margins. The anticipated IPO of Jio Platforms is also expected to unlock additional value. With its diversified portfolio and strong cash generation capabilities, Reliance is well-positioned to capitalize on future opportunities.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price offers approximately 20-30% upside.</a:t>
            </a:r>
          </a:p>
          <a:p>
            <a:pPr>
              <a:spcBef>
                <a:spcPts val="600"/>
              </a:spcBef>
              <a:spcAft>
                <a:spcPts val="600"/>
              </a:spcAft>
              <a:defRPr sz="1600"/>
            </a:pPr>
            <a:r>
              <a:t>Analysts recommend a 'Buy/Strong-Buy' position.</a:t>
            </a:r>
          </a:p>
          <a:p>
            <a:pPr>
              <a:spcBef>
                <a:spcPts val="600"/>
              </a:spcBef>
              <a:spcAft>
                <a:spcPts val="600"/>
              </a:spcAft>
              <a:defRPr sz="1600"/>
            </a:pPr>
            <a:r>
              <a:t>Solid fundamentals and market position support investment.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strong fundamental metrics, a current share price that presents a 20-30% upside potential, and the overwhelmingly positive analyst sentiment, Reliance Industries Limited is recommended as a 'Buy/Strong-Buy'. The company’s diversified operations, solid revenue streams, and strategic growth initiatives position it well for future success. Investors are encouraged to consider entering or increasing their positions, especially in light of the anticipated positive developments in the coming quarters.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Potential regulatory changes affecting the energy sector.</a:t>
            </a:r>
          </a:p>
          <a:p>
            <a:pPr>
              <a:lnSpc>
                <a:spcPct val="120000"/>
              </a:lnSpc>
              <a:spcBef>
                <a:spcPts val="800"/>
              </a:spcBef>
              <a:spcAft>
                <a:spcPts val="800"/>
              </a:spcAft>
              <a:defRPr sz="1600"/>
            </a:pPr>
            <a:r>
              <a:t>Increased competition in retail and digital services.</a:t>
            </a:r>
          </a:p>
          <a:p>
            <a:pPr>
              <a:lnSpc>
                <a:spcPct val="120000"/>
              </a:lnSpc>
              <a:spcBef>
                <a:spcPts val="800"/>
              </a:spcBef>
              <a:spcAft>
                <a:spcPts val="800"/>
              </a:spcAft>
              <a:defRPr sz="1600"/>
            </a:pPr>
            <a:r>
              <a:t>Global oil price volatility impacting profitability.</a:t>
            </a:r>
          </a:p>
          <a:p>
            <a:pPr>
              <a:lnSpc>
                <a:spcPct val="120000"/>
              </a:lnSpc>
              <a:spcBef>
                <a:spcPts val="800"/>
              </a:spcBef>
              <a:spcAft>
                <a:spcPts val="800"/>
              </a:spcAft>
              <a:defRPr sz="1600"/>
            </a:pPr>
            <a:r>
              <a:t>Dependence on foreign oil imports, particularly Russian crude.</a:t>
            </a:r>
          </a:p>
          <a:p>
            <a:pPr>
              <a:lnSpc>
                <a:spcPct val="120000"/>
              </a:lnSpc>
              <a:spcBef>
                <a:spcPts val="800"/>
              </a:spcBef>
              <a:spcAft>
                <a:spcPts val="800"/>
              </a:spcAft>
              <a:defRPr sz="1600"/>
            </a:pPr>
            <a:r>
              <a:t>High capital expenditures may pressure cash flows.</a:t>
            </a:r>
          </a:p>
          <a:p>
            <a:pPr>
              <a:lnSpc>
                <a:spcPct val="120000"/>
              </a:lnSpc>
              <a:spcBef>
                <a:spcPts val="800"/>
              </a:spcBef>
              <a:spcAft>
                <a:spcPts val="800"/>
              </a:spcAft>
              <a:defRPr sz="1600"/>
            </a:pPr>
            <a:r>
              <a:t>Market sentiment fluctuations affecting stock price.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Reliance Industries Limited presents a compelling investment opportunity characterized by robust growth prospects and a strong market position. Investors should monitor upcoming earnings releases and strategic developments closely, particularly the potential IPO of Jio Platforms. Action items include assessing current portfolio exposure to Reliance and considering new positions to capitalize on expected future gains. By staying informed about industry trends and company-specific news, investors can make well-informed decisions regarding their investments in Reliance Industries.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
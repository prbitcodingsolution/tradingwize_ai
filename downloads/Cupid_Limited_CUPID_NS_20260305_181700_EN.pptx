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457200" y="2286000"/>
            <a:ext cx="11277295" cy="1371600"/>
          </a:xfrm>
          <a:prstGeom prst="rect">
            <a:avLst/>
          </a:prstGeom>
          <a:noFill/>
        </p:spPr>
        <p:txBody>
          <a:bodyPr wrap="none">
            <a:spAutoFit/>
          </a:bodyPr>
          <a:lstStyle/>
          <a:p>
            <a:pPr algn="ctr">
              <a:defRPr sz="4400" b="1">
                <a:solidFill>
                  <a:srgbClr val="FFFFFF"/>
                </a:solidFill>
              </a:defRPr>
            </a:pPr>
            <a:r>
              <a:t>Cupid Limited Stock Analysis</a:t>
            </a:r>
          </a:p>
        </p:txBody>
      </p:sp>
      <p:sp>
        <p:nvSpPr>
          <p:cNvPr id="3" name="TextBox 2"/>
          <p:cNvSpPr txBox="1"/>
          <p:nvPr/>
        </p:nvSpPr>
        <p:spPr>
          <a:xfrm>
            <a:off x="457200" y="3840480"/>
            <a:ext cx="11277295" cy="731520"/>
          </a:xfrm>
          <a:prstGeom prst="rect">
            <a:avLst/>
          </a:prstGeom>
          <a:noFill/>
        </p:spPr>
        <p:txBody>
          <a:bodyPr wrap="none">
            <a:spAutoFit/>
          </a:bodyPr>
          <a:lstStyle/>
          <a:p>
            <a:pPr algn="ctr">
              <a:defRPr sz="2400">
                <a:solidFill>
                  <a:srgbClr val="C8C8C8"/>
                </a:solidFill>
              </a:defRPr>
            </a:pPr>
            <a:r>
              <a:t>CUPID.NS | March 05,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Executive Summary</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(CUPID.NS) is a key player in the Consumer Defensive sector, specifically within the Household &amp; Personal Products industry. Founded in 1993 and headquartered in Nashik, India, the company specializes in designing, manufacturing, and exporting a wide range of products including male and female condoms, personal care items, and diagnostic kits. With a current market capitalization of ₹10,921 Crore and a recent strong financial performance, Cupid has demonstrated significant growth potential. The stock is currently experiencing a 'strongly bullish' sentiment, which reflects investor confidence in its growth trajectory. The robust financial metrics, including a profit margin of 28.23% and a net profit of ₹83.48 Crore, further bolster the investment thesis. Overall, Cupid Limited is positioned for continued growth, driven by its innovative product offerings and expanding market reach.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Company Overview</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Founded in 1993 with headquarters in Nashik, India</a:t>
            </a:r>
          </a:p>
          <a:p>
            <a:pPr>
              <a:spcBef>
                <a:spcPts val="600"/>
              </a:spcBef>
              <a:spcAft>
                <a:spcPts val="600"/>
              </a:spcAft>
              <a:defRPr sz="1600"/>
            </a:pPr>
            <a:r>
              <a:t>Specializes in household and personal products including condoms and personal care items</a:t>
            </a:r>
          </a:p>
          <a:p>
            <a:pPr>
              <a:spcBef>
                <a:spcPts val="600"/>
              </a:spcBef>
              <a:spcAft>
                <a:spcPts val="600"/>
              </a:spcAft>
              <a:defRPr sz="1600"/>
            </a:pPr>
            <a:r>
              <a:t>Geographic presence across multiple continents including Africa and Europe</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 has established itself as a prominent manufacturer in the personal care sector. The company’s diverse product portfolio includes not only male and female condoms but also a range of personal care products such as deodorants and lubricant jellies. With a workforce of 217 employees, Cupid has successfully expanded its reach, exporting to various countries across Africa, Europe, Asia-Pacific, North America, the Middle East, and South America. The strategic focus on innovation and quality has positioned Cupid as a trusted brand in its industry.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Performance</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Revenue (TTM): ₹294.23 Crore</a:t>
            </a:r>
          </a:p>
          <a:p>
            <a:pPr>
              <a:lnSpc>
                <a:spcPct val="120000"/>
              </a:lnSpc>
              <a:spcBef>
                <a:spcPts val="800"/>
              </a:spcBef>
              <a:spcAft>
                <a:spcPts val="800"/>
              </a:spcAft>
              <a:defRPr sz="1600"/>
            </a:pPr>
            <a:r>
              <a:t>Net Profit (TTM): ₹83.48 Crore</a:t>
            </a:r>
          </a:p>
          <a:p>
            <a:pPr>
              <a:lnSpc>
                <a:spcPct val="120000"/>
              </a:lnSpc>
              <a:spcBef>
                <a:spcPts val="800"/>
              </a:spcBef>
              <a:spcAft>
                <a:spcPts val="800"/>
              </a:spcAft>
              <a:defRPr sz="1600"/>
            </a:pPr>
            <a:r>
              <a:t>EBITDA: ₹91.23 Crore</a:t>
            </a:r>
          </a:p>
          <a:p>
            <a:pPr>
              <a:lnSpc>
                <a:spcPct val="120000"/>
              </a:lnSpc>
              <a:spcBef>
                <a:spcPts val="800"/>
              </a:spcBef>
              <a:spcAft>
                <a:spcPts val="800"/>
              </a:spcAft>
              <a:defRPr sz="1600"/>
            </a:pPr>
            <a:r>
              <a:t>Earnings Per Share (EPS): ₹3.11</a:t>
            </a:r>
          </a:p>
          <a:p>
            <a:pPr>
              <a:lnSpc>
                <a:spcPct val="120000"/>
              </a:lnSpc>
              <a:spcBef>
                <a:spcPts val="800"/>
              </a:spcBef>
              <a:spcAft>
                <a:spcPts val="800"/>
              </a:spcAft>
              <a:defRPr sz="1600"/>
            </a:pPr>
            <a:r>
              <a:t>Total Assets: ₹152.00 Crore</a:t>
            </a:r>
          </a:p>
          <a:p>
            <a:pPr>
              <a:lnSpc>
                <a:spcPct val="120000"/>
              </a:lnSpc>
              <a:spcBef>
                <a:spcPts val="800"/>
              </a:spcBef>
              <a:spcAft>
                <a:spcPts val="800"/>
              </a:spcAft>
              <a:defRPr sz="1600"/>
            </a:pPr>
            <a:r>
              <a:t>Total Liabilities: ₹44.20 Crore</a:t>
            </a:r>
          </a:p>
          <a:p>
            <a:pPr>
              <a:lnSpc>
                <a:spcPct val="120000"/>
              </a:lnSpc>
              <a:spcBef>
                <a:spcPts val="800"/>
              </a:spcBef>
              <a:spcAft>
                <a:spcPts val="800"/>
              </a:spcAft>
              <a:defRPr sz="1600"/>
            </a:pPr>
            <a:r>
              <a:t>Profit Margin: 28.23%</a:t>
            </a:r>
          </a:p>
          <a:p>
            <a:pPr>
              <a:lnSpc>
                <a:spcPct val="120000"/>
              </a:lnSpc>
              <a:spcBef>
                <a:spcPts val="800"/>
              </a:spcBef>
              <a:spcAft>
                <a:spcPts val="800"/>
              </a:spcAft>
              <a:defRPr sz="1600"/>
            </a:pPr>
            <a:r>
              <a:t>Market Capitalization: ₹10,921 Crore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Financial Analysis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Cupid Limited exhibits a strong financial profile characterized by high profitability and effective asset management. The company's revenue has increased significantly, reflecting a year-on-year growth trend, while net profit margins remain robust at 28.23%. With an EBITDA of ₹91.23 Crore, Cupid demonstrates solid operational efficiency. However, the company maintains a relatively high PE ratio of 131.00, indicating that investors may be pricing in optimistic future growth. Furthermore, the debt-to-equity ratio of 7.02 highlights a leveraged capital structure, which, while manageable, warrants close monitoring. The combination of strong revenue growth, healthy margins, and effective cost management makes Cupid an appealing investment, although potential valuation concerns exist.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Technical Analysis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Current Share Price: ₹406.00</a:t>
            </a:r>
          </a:p>
          <a:p>
            <a:pPr>
              <a:lnSpc>
                <a:spcPct val="120000"/>
              </a:lnSpc>
              <a:spcBef>
                <a:spcPts val="800"/>
              </a:spcBef>
              <a:spcAft>
                <a:spcPts val="800"/>
              </a:spcAft>
              <a:defRPr sz="1600"/>
            </a:pPr>
            <a:r>
              <a:t>52-Week High: ₹526.95</a:t>
            </a:r>
          </a:p>
          <a:p>
            <a:pPr>
              <a:lnSpc>
                <a:spcPct val="120000"/>
              </a:lnSpc>
              <a:spcBef>
                <a:spcPts val="800"/>
              </a:spcBef>
              <a:spcAft>
                <a:spcPts val="800"/>
              </a:spcAft>
              <a:defRPr sz="1600"/>
            </a:pPr>
            <a:r>
              <a:t>52-Week Low: ₹55.75</a:t>
            </a:r>
          </a:p>
          <a:p>
            <a:pPr>
              <a:lnSpc>
                <a:spcPct val="120000"/>
              </a:lnSpc>
              <a:spcBef>
                <a:spcPts val="800"/>
              </a:spcBef>
              <a:spcAft>
                <a:spcPts val="800"/>
              </a:spcAft>
              <a:defRPr sz="1600"/>
            </a:pPr>
            <a:r>
              <a:t>Average Volume: 98.61 L</a:t>
            </a:r>
          </a:p>
          <a:p>
            <a:pPr>
              <a:lnSpc>
                <a:spcPct val="120000"/>
              </a:lnSpc>
              <a:spcBef>
                <a:spcPts val="800"/>
              </a:spcBef>
              <a:spcAft>
                <a:spcPts val="800"/>
              </a:spcAft>
              <a:defRPr sz="1600"/>
            </a:pPr>
            <a:r>
              <a:t>Beta (Volatility): 0.00</a:t>
            </a:r>
          </a:p>
          <a:p>
            <a:pPr>
              <a:lnSpc>
                <a:spcPct val="120000"/>
              </a:lnSpc>
              <a:spcBef>
                <a:spcPts val="800"/>
              </a:spcBef>
              <a:spcAft>
                <a:spcPts val="800"/>
              </a:spcAft>
              <a:defRPr sz="1600"/>
            </a:pPr>
            <a:r>
              <a:t>Recent Price Change (1 Day): +7.12%</a:t>
            </a:r>
          </a:p>
          <a:p>
            <a:pPr>
              <a:lnSpc>
                <a:spcPct val="120000"/>
              </a:lnSpc>
              <a:spcBef>
                <a:spcPts val="800"/>
              </a:spcBef>
              <a:spcAft>
                <a:spcPts val="800"/>
              </a:spcAft>
              <a:defRPr sz="1600"/>
            </a:pPr>
            <a:r>
              <a:t>Recent Price Change (1 Month): +7.85%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Market Position &amp; Competitive Landscape</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Promoter Holding: 45.56%</a:t>
            </a:r>
          </a:p>
          <a:p>
            <a:pPr>
              <a:spcBef>
                <a:spcPts val="600"/>
              </a:spcBef>
              <a:spcAft>
                <a:spcPts val="600"/>
              </a:spcAft>
              <a:defRPr sz="1600"/>
            </a:pPr>
            <a:r>
              <a:t>DII Holding: 30.00%</a:t>
            </a:r>
          </a:p>
          <a:p>
            <a:pPr>
              <a:spcBef>
                <a:spcPts val="600"/>
              </a:spcBef>
              <a:spcAft>
                <a:spcPts val="600"/>
              </a:spcAft>
              <a:defRPr sz="1600"/>
            </a:pPr>
            <a:r>
              <a:t>Competing with major players like Godrej Consumer Products</a:t>
            </a:r>
          </a:p>
          <a:p>
            <a:pPr>
              <a:spcBef>
                <a:spcPts val="600"/>
              </a:spcBef>
              <a:spcAft>
                <a:spcPts val="600"/>
              </a:spcAft>
              <a:defRPr sz="1600"/>
            </a:pPr>
            <a:r>
              <a:t>Strong financial metrics compared to competitors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Cupid Limited operates in a competitive landscape dominated by established players such as Godrej Consumer Products. Despite the competition, Cupid's financial metrics, including a profit margin of 28.23% and a market cap of ₹10,921 Crore, position it favorably within the sector. The company’s significant promoter holding of 45.56% indicates strong insider confidence, while 30.00% DII holding further reflects institutional interest. Cupid's focus on product innovation and expanding market presence is crucial for maintaining its competitive advantage.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Current Market Sentiment</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Overall Sentiment Score: 70.2/100 (Strongly Bullish)</a:t>
            </a:r>
          </a:p>
          <a:p>
            <a:pPr>
              <a:lnSpc>
                <a:spcPct val="120000"/>
              </a:lnSpc>
              <a:spcBef>
                <a:spcPts val="800"/>
              </a:spcBef>
              <a:spcAft>
                <a:spcPts val="800"/>
              </a:spcAft>
              <a:defRPr sz="1600"/>
            </a:pPr>
            <a:r>
              <a:t>News Sentiment: 89.6/100 (Strongly Bullish)</a:t>
            </a:r>
          </a:p>
          <a:p>
            <a:pPr>
              <a:lnSpc>
                <a:spcPct val="120000"/>
              </a:lnSpc>
              <a:spcBef>
                <a:spcPts val="800"/>
              </a:spcBef>
              <a:spcAft>
                <a:spcPts val="800"/>
              </a:spcAft>
              <a:defRPr sz="1600"/>
            </a:pPr>
            <a:r>
              <a:t>Twitter Sentiment: 56.1/100 (Neutral)</a:t>
            </a:r>
          </a:p>
          <a:p>
            <a:pPr>
              <a:lnSpc>
                <a:spcPct val="120000"/>
              </a:lnSpc>
              <a:spcBef>
                <a:spcPts val="800"/>
              </a:spcBef>
              <a:spcAft>
                <a:spcPts val="800"/>
              </a:spcAft>
              <a:defRPr sz="1600"/>
            </a:pPr>
            <a:r>
              <a:t>Positive News: 140% YoY rise in net profit</a:t>
            </a:r>
          </a:p>
          <a:p>
            <a:pPr>
              <a:lnSpc>
                <a:spcPct val="120000"/>
              </a:lnSpc>
              <a:spcBef>
                <a:spcPts val="800"/>
              </a:spcBef>
              <a:spcAft>
                <a:spcPts val="800"/>
              </a:spcAft>
              <a:defRPr sz="1600"/>
            </a:pPr>
            <a:r>
              <a:t>Negative Pressure: Broader market selloff impacting sentiment</a:t>
            </a:r>
          </a:p>
          <a:p>
            <a:pPr>
              <a:lnSpc>
                <a:spcPct val="120000"/>
              </a:lnSpc>
              <a:spcBef>
                <a:spcPts val="800"/>
              </a:spcBef>
              <a:spcAft>
                <a:spcPts val="800"/>
              </a:spcAft>
              <a:defRPr sz="1600"/>
            </a:pPr>
            <a:r>
              <a:t>Analysts recommend a 'Buy' rating based on recent performance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Future Outlook &amp; Growth Drivers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The outlook for Cupid Limited appears promising, driven by robust revenue and earnings growth. With a reported revenue increase of approximately 35% year-on-year, the company is well-positioned to capitalize on growing demand for its diverse product offerings. Furthermore, the company's strategic focus on expanding into international markets enhances its growth potential. However, the current high valuation, evidenced by a price-to-sales ratio significantly above the industry median, poses a risk of correction if growth expectations are not met. Analysts suggest that maintaining revenue growth and improving margins will be essential for Cupid to sustain investor confidence and continue its upward trajectory.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Investment Recommendation</a:t>
            </a:r>
          </a:p>
        </p:txBody>
      </p:sp>
      <p:sp>
        <p:nvSpPr>
          <p:cNvPr id="3" name="TextBox 2"/>
          <p:cNvSpPr txBox="1"/>
          <p:nvPr/>
        </p:nvSpPr>
        <p:spPr>
          <a:xfrm>
            <a:off x="731520" y="1371600"/>
            <a:ext cx="10728655" cy="2286000"/>
          </a:xfrm>
          <a:prstGeom prst="rect">
            <a:avLst/>
          </a:prstGeom>
          <a:noFill/>
        </p:spPr>
        <p:txBody>
          <a:bodyPr wrap="square">
            <a:spAutoFit/>
          </a:bodyPr>
          <a:lstStyle/>
          <a:p>
            <a:pPr>
              <a:spcBef>
                <a:spcPts val="600"/>
              </a:spcBef>
              <a:spcAft>
                <a:spcPts val="600"/>
              </a:spcAft>
              <a:defRPr sz="1600"/>
            </a:pPr>
            <a:r>
              <a:t>Current sentiment is 'strongly bullish', suggesting positive momentum.</a:t>
            </a:r>
          </a:p>
          <a:p>
            <a:pPr>
              <a:spcBef>
                <a:spcPts val="600"/>
              </a:spcBef>
              <a:spcAft>
                <a:spcPts val="600"/>
              </a:spcAft>
              <a:defRPr sz="1600"/>
            </a:pPr>
            <a:r>
              <a:t>Robust financial metrics indicate a solid investment opportunity.</a:t>
            </a:r>
          </a:p>
          <a:p>
            <a:pPr>
              <a:spcBef>
                <a:spcPts val="600"/>
              </a:spcBef>
              <a:spcAft>
                <a:spcPts val="600"/>
              </a:spcAft>
              <a:defRPr sz="1600"/>
            </a:pPr>
            <a:r>
              <a:t>High PE ratio suggests caution regarding valuation.</a:t>
            </a:r>
          </a:p>
          <a:p>
            <a:pPr>
              <a:spcBef>
                <a:spcPts val="600"/>
              </a:spcBef>
              <a:spcAft>
                <a:spcPts val="600"/>
              </a:spcAft>
              <a:defRPr sz="1600"/>
            </a:pPr>
            <a:r>
              <a:t>Recommendation: Consider accumulating shares at current levels.</a:t>
            </a:r>
          </a:p>
        </p:txBody>
      </p:sp>
      <p:sp>
        <p:nvSpPr>
          <p:cNvPr id="4" name="TextBox 3"/>
          <p:cNvSpPr txBox="1"/>
          <p:nvPr/>
        </p:nvSpPr>
        <p:spPr>
          <a:xfrm>
            <a:off x="731520" y="3931920"/>
            <a:ext cx="10728655" cy="2468880"/>
          </a:xfrm>
          <a:prstGeom prst="rect">
            <a:avLst/>
          </a:prstGeom>
          <a:noFill/>
        </p:spPr>
        <p:txBody>
          <a:bodyPr wrap="square">
            <a:spAutoFit/>
          </a:bodyPr>
          <a:lstStyle/>
          <a:p>
            <a:pPr algn="l">
              <a:lnSpc>
                <a:spcPct val="140000"/>
              </a:lnSpc>
              <a:spcAft>
                <a:spcPts val="800"/>
              </a:spcAft>
              <a:defRPr sz="1400"/>
            </a:pPr>
            <a:r>
              <a:t>Given Cupid Limited's strong financial performance, robust market sentiment, and growth potential, it presents a compelling investment opportunity. The strong bullish sentiment and impressive revenue growth highlight the company’s resilience and ability to deliver value to shareholders. However, the high PE ratio indicates that investors should exercise caution. It may be prudent to consider accumulating shares, especially during any price corrections, as long as the company's growth trajectory remains intact.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Risk Factors</a:t>
            </a:r>
          </a:p>
        </p:txBody>
      </p:sp>
      <p:sp>
        <p:nvSpPr>
          <p:cNvPr id="3" name="TextBox 2"/>
          <p:cNvSpPr txBox="1"/>
          <p:nvPr/>
        </p:nvSpPr>
        <p:spPr>
          <a:xfrm>
            <a:off x="731520" y="1371600"/>
            <a:ext cx="10728655" cy="5029200"/>
          </a:xfrm>
          <a:prstGeom prst="rect">
            <a:avLst/>
          </a:prstGeom>
          <a:noFill/>
        </p:spPr>
        <p:txBody>
          <a:bodyPr wrap="square">
            <a:spAutoFit/>
          </a:bodyPr>
          <a:lstStyle/>
          <a:p>
            <a:pPr>
              <a:lnSpc>
                <a:spcPct val="120000"/>
              </a:lnSpc>
              <a:spcBef>
                <a:spcPts val="800"/>
              </a:spcBef>
              <a:spcAft>
                <a:spcPts val="800"/>
              </a:spcAft>
              <a:defRPr sz="1600"/>
            </a:pPr>
            <a:r>
              <a:t>High valuation may lead to price corrections.</a:t>
            </a:r>
          </a:p>
          <a:p>
            <a:pPr>
              <a:lnSpc>
                <a:spcPct val="120000"/>
              </a:lnSpc>
              <a:spcBef>
                <a:spcPts val="800"/>
              </a:spcBef>
              <a:spcAft>
                <a:spcPts val="800"/>
              </a:spcAft>
              <a:defRPr sz="1600"/>
            </a:pPr>
            <a:r>
              <a:t>Dependence on consumer discretionary spending.</a:t>
            </a:r>
          </a:p>
          <a:p>
            <a:pPr>
              <a:lnSpc>
                <a:spcPct val="120000"/>
              </a:lnSpc>
              <a:spcBef>
                <a:spcPts val="800"/>
              </a:spcBef>
              <a:spcAft>
                <a:spcPts val="800"/>
              </a:spcAft>
              <a:defRPr sz="1600"/>
            </a:pPr>
            <a:r>
              <a:t>Volatile market conditions could impact performance.</a:t>
            </a:r>
          </a:p>
          <a:p>
            <a:pPr>
              <a:lnSpc>
                <a:spcPct val="120000"/>
              </a:lnSpc>
              <a:spcBef>
                <a:spcPts val="800"/>
              </a:spcBef>
              <a:spcAft>
                <a:spcPts val="800"/>
              </a:spcAft>
              <a:defRPr sz="1600"/>
            </a:pPr>
            <a:r>
              <a:t>Limited analyst coverage raises uncertainty.</a:t>
            </a:r>
          </a:p>
          <a:p>
            <a:pPr>
              <a:lnSpc>
                <a:spcPct val="120000"/>
              </a:lnSpc>
              <a:spcBef>
                <a:spcPts val="800"/>
              </a:spcBef>
              <a:spcAft>
                <a:spcPts val="800"/>
              </a:spcAft>
              <a:defRPr sz="1600"/>
            </a:pPr>
            <a:r>
              <a:t>Potential regulatory changes affecting product categories.</a:t>
            </a:r>
          </a:p>
          <a:p>
            <a:pPr>
              <a:lnSpc>
                <a:spcPct val="120000"/>
              </a:lnSpc>
              <a:spcBef>
                <a:spcPts val="800"/>
              </a:spcBef>
              <a:spcAft>
                <a:spcPts val="800"/>
              </a:spcAft>
              <a:defRPr sz="1600"/>
            </a:pPr>
            <a:r>
              <a:t>Intense competition could pressure market share.</a:t>
            </a:r>
          </a:p>
          <a:p>
            <a:pPr>
              <a:lnSpc>
                <a:spcPct val="120000"/>
              </a:lnSpc>
              <a:spcBef>
                <a:spcPts val="800"/>
              </a:spcBef>
              <a:spcAft>
                <a:spcPts val="800"/>
              </a:spcAft>
              <a:defRPr sz="1600"/>
            </a:pPr>
            <a:r>
              <a:t>Economic downturns may affect consumer demand.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11277295" cy="731520"/>
          </a:xfrm>
          <a:prstGeom prst="rect">
            <a:avLst/>
          </a:prstGeom>
          <a:noFill/>
        </p:spPr>
        <p:txBody>
          <a:bodyPr wrap="none">
            <a:spAutoFit/>
          </a:bodyPr>
          <a:lstStyle/>
          <a:p>
            <a:pPr>
              <a:defRPr sz="3200" b="1">
                <a:solidFill>
                  <a:srgbClr val="003366"/>
                </a:solidFill>
              </a:defRPr>
            </a:pPr>
            <a:r>
              <a:t>Conclusion &amp; Next Steps</a:t>
            </a:r>
          </a:p>
        </p:txBody>
      </p:sp>
      <p:sp>
        <p:nvSpPr>
          <p:cNvPr id="3" name="TextBox 2"/>
          <p:cNvSpPr txBox="1"/>
          <p:nvPr/>
        </p:nvSpPr>
        <p:spPr>
          <a:xfrm>
            <a:off x="731520" y="1645920"/>
            <a:ext cx="10728655" cy="4572000"/>
          </a:xfrm>
          <a:prstGeom prst="rect">
            <a:avLst/>
          </a:prstGeom>
          <a:noFill/>
        </p:spPr>
        <p:txBody>
          <a:bodyPr wrap="square">
            <a:spAutoFit/>
          </a:bodyPr>
          <a:lstStyle/>
          <a:p>
            <a:pPr algn="l">
              <a:lnSpc>
                <a:spcPct val="150000"/>
              </a:lnSpc>
              <a:spcAft>
                <a:spcPts val="1200"/>
              </a:spcAft>
              <a:defRPr sz="1600"/>
            </a:pPr>
            <a:r>
              <a:t>In conclusion, Cupid Limited stands out as a promising investment opportunity within the consumer defensive sector, supported by strong financial metrics, a positive market sentiment, and growth potential. Investors are recommended to monitor the company's performance closely, especially in light of its high valuation and market conditions. Next steps should include setting target prices for accumulation during market fluctuations and keeping abreast of industry trends and competitor actions. Engaging with financial advisors for tailored investment strategies may also enhance decision-making.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
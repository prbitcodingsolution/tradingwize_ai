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457200" y="2286000"/>
            <a:ext cx="11277295" cy="1371600"/>
          </a:xfrm>
          <a:prstGeom prst="rect">
            <a:avLst/>
          </a:prstGeom>
          <a:noFill/>
        </p:spPr>
        <p:txBody>
          <a:bodyPr wrap="none">
            <a:spAutoFit/>
          </a:bodyPr>
          <a:lstStyle/>
          <a:p>
            <a:pPr algn="ctr">
              <a:defRPr sz="4400" b="1">
                <a:solidFill>
                  <a:srgbClr val="FFFFFF"/>
                </a:solidFill>
              </a:defRPr>
            </a:pPr>
            <a:r>
              <a:t>Reliance Industries Limited Stock Analysis</a:t>
            </a:r>
          </a:p>
        </p:txBody>
      </p:sp>
      <p:sp>
        <p:nvSpPr>
          <p:cNvPr id="3" name="TextBox 2"/>
          <p:cNvSpPr txBox="1"/>
          <p:nvPr/>
        </p:nvSpPr>
        <p:spPr>
          <a:xfrm>
            <a:off x="457200" y="3840480"/>
            <a:ext cx="11277295" cy="731520"/>
          </a:xfrm>
          <a:prstGeom prst="rect">
            <a:avLst/>
          </a:prstGeom>
          <a:noFill/>
        </p:spPr>
        <p:txBody>
          <a:bodyPr wrap="none">
            <a:spAutoFit/>
          </a:bodyPr>
          <a:lstStyle/>
          <a:p>
            <a:pPr algn="ctr">
              <a:defRPr sz="2400">
                <a:solidFill>
                  <a:srgbClr val="C8C8C8"/>
                </a:solidFill>
              </a:defRPr>
            </a:pPr>
            <a:r>
              <a:t>RELIANCE.NS | March 17,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Executive Summary</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रिलायंस इंडस्ट्रीज लिमिटेड, ऊर्जा क्षेत्र में एक प्रमुख खिलाड़ी, तेल से रसायनों, खुदरा और डिजिटल सेवाओं सहित विभिन्न खंडों के माध्यम से कार्य करता है। 1966 में स्थापित और मुंबई में मुख्यालय के साथ, कंपनी ने 400,000 से अधिक कर्मचारियों के साथ एक मजबूत बाजार उपस्थिति स्थापित की है। वर्तमान में, इस शेयर को 'मजबूत तेजी' के रूप में देखा जा रहा है, जो सकारात्मक लाभ रिपोर्टों और तेल बाजार में आपूर्ति गतिशीलता का लाभ उठाने वाले मजबूत व्यवसाय मॉडल के कारण है। विश्लेषक महत्वपूर्ण upside क्षमता की भविष्यवाणी करते हैं, जिसमें एक मूल्य लक्ष्य अगले वर्ष में 20-30% की वृद्धि का सुझाव देता है। यह विश्लेषण रिलायंस की रणनीतिक स्थिति और विभिन्न क्षेत्रों में वृद्धि का लाभ उठाने की क्षमता को उजागर करता है, जिससे यह एक आकर्षक निवेश अवसर बनता है।</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Company Overview</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Founded in 1966, headquartered in Mumbai, India.</a:t>
            </a:r>
          </a:p>
          <a:p>
            <a:pPr>
              <a:spcBef>
                <a:spcPts val="600"/>
              </a:spcBef>
              <a:spcAft>
                <a:spcPts val="600"/>
              </a:spcAft>
              <a:defRPr sz="1600"/>
            </a:pPr>
            <a:r>
              <a:t>Operates across multiple sectors: oil, retail, digital services.</a:t>
            </a:r>
          </a:p>
          <a:p>
            <a:pPr>
              <a:spcBef>
                <a:spcPts val="600"/>
              </a:spcBef>
              <a:spcAft>
                <a:spcPts val="600"/>
              </a:spcAft>
              <a:defRPr sz="1600"/>
            </a:pPr>
            <a:r>
              <a:t>4.03 lakh employees.</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रिलायंस इंडस्ट्रीज लिमिटेड एक विविधीकृत समूह है जो हाइड्रोकार्बन अन्वेषण, तेल रिफाइनिंग, खुदरा और डिजिटल सेवाओं सहित विभिन्न क्षेत्रों में संलग्न है। तेल और गैस उद्योग में महत्वपूर्ण बाजार हिस्सेदारी के साथ, कंपनी के संचालन को तेल से रसायनों, तेल और गैस, खुदरा और डिजिटल सेवाओं में विभाजित किया गया है। यह बहुआयामी व्यवसाय मॉडल रिलायंस को अपने विभागों के बीच समन्वय का लाभ उठाने की अनुमति देता है, जिससे इसकी बाजार प्रतिस्पर्धात्मकता बढ़ती है और स्थिर राजस्व उत्पन्न होता है। कंपनी की मुख्य रूप से भारत में मजबूत भौगोलिक उपस्थिति है, जो विशाल ग्राहक आधार की सेवा करती 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Performance</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Revenue (TTM): ₹1024547.99 Cr</a:t>
            </a:r>
          </a:p>
          <a:p>
            <a:pPr>
              <a:lnSpc>
                <a:spcPct val="120000"/>
              </a:lnSpc>
              <a:spcBef>
                <a:spcPts val="800"/>
              </a:spcBef>
              <a:spcAft>
                <a:spcPts val="800"/>
              </a:spcAft>
              <a:defRPr sz="1600"/>
            </a:pPr>
            <a:r>
              <a:t>Net Profit (TTM): ₹83211.00 Cr</a:t>
            </a:r>
          </a:p>
          <a:p>
            <a:pPr>
              <a:lnSpc>
                <a:spcPct val="120000"/>
              </a:lnSpc>
              <a:spcBef>
                <a:spcPts val="800"/>
              </a:spcBef>
              <a:spcAft>
                <a:spcPts val="800"/>
              </a:spcAft>
              <a:defRPr sz="1600"/>
            </a:pPr>
            <a:r>
              <a:t>EBITDA: ₹168450.99 Cr</a:t>
            </a:r>
          </a:p>
          <a:p>
            <a:pPr>
              <a:lnSpc>
                <a:spcPct val="120000"/>
              </a:lnSpc>
              <a:spcBef>
                <a:spcPts val="800"/>
              </a:spcBef>
              <a:spcAft>
                <a:spcPts val="800"/>
              </a:spcAft>
              <a:defRPr sz="1600"/>
            </a:pPr>
            <a:r>
              <a:t>EPS: ₹62.08</a:t>
            </a:r>
          </a:p>
          <a:p>
            <a:pPr>
              <a:lnSpc>
                <a:spcPct val="120000"/>
              </a:lnSpc>
              <a:spcBef>
                <a:spcPts val="800"/>
              </a:spcBef>
              <a:spcAft>
                <a:spcPts val="800"/>
              </a:spcAft>
              <a:defRPr sz="1600"/>
            </a:pPr>
            <a:r>
              <a:t>Dividend Yield: 0.39%</a:t>
            </a:r>
          </a:p>
          <a:p>
            <a:pPr>
              <a:lnSpc>
                <a:spcPct val="120000"/>
              </a:lnSpc>
              <a:spcBef>
                <a:spcPts val="800"/>
              </a:spcBef>
              <a:spcAft>
                <a:spcPts val="800"/>
              </a:spcAft>
              <a:defRPr sz="1600"/>
            </a:pPr>
            <a:r>
              <a:t>Payout Ratio: 11.00%</a:t>
            </a:r>
          </a:p>
          <a:p>
            <a:pPr>
              <a:lnSpc>
                <a:spcPct val="120000"/>
              </a:lnSpc>
              <a:spcBef>
                <a:spcPts val="800"/>
              </a:spcBef>
              <a:spcAft>
                <a:spcPts val="800"/>
              </a:spcAft>
              <a:defRPr sz="1600"/>
            </a:pPr>
            <a:r>
              <a:t>Total Assets: ₹428843.00 Cr</a:t>
            </a:r>
          </a:p>
          <a:p>
            <a:pPr>
              <a:lnSpc>
                <a:spcPct val="120000"/>
              </a:lnSpc>
              <a:spcBef>
                <a:spcPts val="800"/>
              </a:spcBef>
              <a:spcAft>
                <a:spcPts val="800"/>
              </a:spcAft>
              <a:defRPr sz="1600"/>
            </a:pPr>
            <a:r>
              <a:t>Debt-to-Equity Ratio: 0.70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Analysis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रिलायंस इंडस्ट्रीज लिमिटेड मजबूत वित्तीय स्वास्थ्य का प्रदर्शन करता है, जिसमें कुल राजस्व ₹1,024,547.99 करोड़ और शुद्ध लाभ ₹83,211 करोड़ है, जो प्रभावी लागत प्रबंधन और परिचालन दक्षता को दर्शाता है। EBITDA ₹168,450.99 करोड़ मजबूत कमाई की क्षमता को उजागर करता है, जबकि EPS ₹62.08 ठोस शेयरधारक मूल्य को इंगित करता है। कंपनी एक स्वस्थ बैलेंस शीट बनाए रखती है, जिसमें कुल संपत्तियां ₹428,843 करोड़ हैं और देनदारियां ₹20.39 लाख करोड़ हैं, जिसके परिणामस्वरूप 0.70 का प्रबंधनीय ऋण-से-इक्विटी अनुपात है। लाभ मार्जिन 9.54% पर है, जिसे 17.00% के परिचालन मार्जिन द्वारा समर्थन प्राप्त है, जो कंपनी की बिक्री को वास्तविक लाभ में बदलने की क्षमता को प्रदर्शित करता है। ये मेट्रिक्स रिलायंस को एक वित्तीय रूप से स्थिर इकाई के रूप में स्थिति में रखते हैं, जिसमें महत्वपूर्ण वृद्धि की संभावनाएं हैं।</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Technical Analysis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Current Share Price: ₹1402.00</a:t>
            </a:r>
          </a:p>
          <a:p>
            <a:pPr>
              <a:lnSpc>
                <a:spcPct val="120000"/>
              </a:lnSpc>
              <a:spcBef>
                <a:spcPts val="800"/>
              </a:spcBef>
              <a:spcAft>
                <a:spcPts val="800"/>
              </a:spcAft>
              <a:defRPr sz="1600"/>
            </a:pPr>
            <a:r>
              <a:t>52-Week High: ₹1611.80</a:t>
            </a:r>
          </a:p>
          <a:p>
            <a:pPr>
              <a:lnSpc>
                <a:spcPct val="120000"/>
              </a:lnSpc>
              <a:spcBef>
                <a:spcPts val="800"/>
              </a:spcBef>
              <a:spcAft>
                <a:spcPts val="800"/>
              </a:spcAft>
              <a:defRPr sz="1600"/>
            </a:pPr>
            <a:r>
              <a:t>52-Week Low: ₹1114.85</a:t>
            </a:r>
          </a:p>
          <a:p>
            <a:pPr>
              <a:lnSpc>
                <a:spcPct val="120000"/>
              </a:lnSpc>
              <a:spcBef>
                <a:spcPts val="800"/>
              </a:spcBef>
              <a:spcAft>
                <a:spcPts val="800"/>
              </a:spcAft>
              <a:defRPr sz="1600"/>
            </a:pPr>
            <a:r>
              <a:t>Market Capitalization: ₹1897861.00 Cr</a:t>
            </a:r>
          </a:p>
          <a:p>
            <a:pPr>
              <a:lnSpc>
                <a:spcPct val="120000"/>
              </a:lnSpc>
              <a:spcBef>
                <a:spcPts val="800"/>
              </a:spcBef>
              <a:spcAft>
                <a:spcPts val="800"/>
              </a:spcAft>
              <a:defRPr sz="1600"/>
            </a:pPr>
            <a:r>
              <a:t>Beta (Volatility): 0.20</a:t>
            </a:r>
          </a:p>
          <a:p>
            <a:pPr>
              <a:lnSpc>
                <a:spcPct val="120000"/>
              </a:lnSpc>
              <a:spcBef>
                <a:spcPts val="800"/>
              </a:spcBef>
              <a:spcAft>
                <a:spcPts val="800"/>
              </a:spcAft>
              <a:defRPr sz="1600"/>
            </a:pPr>
            <a:r>
              <a:t>1-Year Change: 13.55%</a:t>
            </a:r>
          </a:p>
          <a:p>
            <a:pPr>
              <a:lnSpc>
                <a:spcPct val="120000"/>
              </a:lnSpc>
              <a:spcBef>
                <a:spcPts val="800"/>
              </a:spcBef>
              <a:spcAft>
                <a:spcPts val="800"/>
              </a:spcAft>
              <a:defRPr sz="1600"/>
            </a:pPr>
            <a:r>
              <a:t>5-Year CAGR: 21.00%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Market Position &amp; Competitive Landscape</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Market Cap: ₹1,897,861.00 Cr.</a:t>
            </a:r>
          </a:p>
          <a:p>
            <a:pPr>
              <a:spcBef>
                <a:spcPts val="600"/>
              </a:spcBef>
              <a:spcAft>
                <a:spcPts val="600"/>
              </a:spcAft>
              <a:defRPr sz="1600"/>
            </a:pPr>
            <a:r>
              <a:t>Strong promoter holding at 50%.</a:t>
            </a:r>
          </a:p>
          <a:p>
            <a:pPr>
              <a:spcBef>
                <a:spcPts val="600"/>
              </a:spcBef>
              <a:spcAft>
                <a:spcPts val="600"/>
              </a:spcAft>
              <a:defRPr sz="1600"/>
            </a:pPr>
            <a:r>
              <a:t>FII and DII holdings at 19.09% and 20.10%, respectively.</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रिलायंस इंडस्ट्रीज लिमिटेड तेल और गैस रिफाइनिंग उद्योग में एक मजबूत खिलाड़ी के रूप में खड़ा है, जिसका बाजार पूंजीकरण ₹1,897,861 करोड़ है। कंपनी की 50% मजबूत प्रमोटर होल्डिंग महत्वपूर्ण अंदरूनी विश्वास को दर्शाती है। इसकी रणनीतिक स्थिति को विदेशी संस्थागत निवेशकों (FII) और घरेलू संस्थागत निवेशकों (DII) द्वारा क्रमशः 19.09% और 20.10% होल्डिंग से और मजबूत किया गया है। यह विविध स्वामित्व संरचना निवेशक विश्वास को दर्शाती है और बाजार स्थिरता को बढ़ाती है। प्रतिस्पर्धियों की तुलना में, रिलायंस का व्यापक परिचालन दायरा और उच्च बाजार पैठ इसे ऊर्जा क्षेत्र में एक नेता बनाता है।</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Current Market Sentiment</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Overall Sentiment Score: 75.3/100 (Strongly Bullish)</a:t>
            </a:r>
          </a:p>
          <a:p>
            <a:pPr>
              <a:lnSpc>
                <a:spcPct val="120000"/>
              </a:lnSpc>
              <a:spcBef>
                <a:spcPts val="800"/>
              </a:spcBef>
              <a:spcAft>
                <a:spcPts val="800"/>
              </a:spcAft>
              <a:defRPr sz="1600"/>
            </a:pPr>
            <a:r>
              <a:t>News Sentiment: 81.7/100</a:t>
            </a:r>
          </a:p>
          <a:p>
            <a:pPr>
              <a:lnSpc>
                <a:spcPct val="120000"/>
              </a:lnSpc>
              <a:spcBef>
                <a:spcPts val="800"/>
              </a:spcBef>
              <a:spcAft>
                <a:spcPts val="800"/>
              </a:spcAft>
              <a:defRPr sz="1600"/>
            </a:pPr>
            <a:r>
              <a:t>Twitter/X Sentiment: 77.2/100</a:t>
            </a:r>
          </a:p>
          <a:p>
            <a:pPr>
              <a:lnSpc>
                <a:spcPct val="120000"/>
              </a:lnSpc>
              <a:spcBef>
                <a:spcPts val="800"/>
              </a:spcBef>
              <a:spcAft>
                <a:spcPts val="800"/>
              </a:spcAft>
              <a:defRPr sz="1600"/>
            </a:pPr>
            <a:r>
              <a:t>Majority of analysts recommend Buy/Strong-Buy</a:t>
            </a:r>
          </a:p>
          <a:p>
            <a:pPr>
              <a:lnSpc>
                <a:spcPct val="120000"/>
              </a:lnSpc>
              <a:spcBef>
                <a:spcPts val="800"/>
              </a:spcBef>
              <a:spcAft>
                <a:spcPts val="800"/>
              </a:spcAft>
              <a:defRPr sz="1600"/>
            </a:pPr>
            <a:r>
              <a:t>Positive sentiment driven by recent earnings and market strategies.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Future Outlook &amp; Growth Drivers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आगे देखते हुए, रिलायंस इंडस्ट्रीज लिमिटेड निरंतर वृद्धि के लिए तैयार है, विश्लेषकों का अनुमान है कि अगले 3-5 वर्षों में इसकी आय का CAGR लगभग 8-9% और राजस्व का CAGR 6-7% होगा। कंपनी सभी प्रमुख क्षेत्रों में मुक्त नकद प्रवाह की सकारात्मकता प्राप्त करने की दिशा में है, जो FY26 में एक महत्वपूर्ण मील का पत्थर माना जा रहा है। इसके अलावा, वर्तमान बाजार मूल्य अपने उचित मूल्य से लगभग 20% नीचे होने का अनुमान है, जो महत्वपूर्ण upside क्षमता को दर्शाता है। प्रमुख वृद्धि के कारकों में खुदरा में निरंतर विस्तार, डिजिटल क्षेत्र में रणनीतिक साझेदारियां, और रसायनों के मार्जिन में अपेक्षित सुधार शामिल हैं। जियो प्लेटफॉर्म्स की अपेक्षित आईपीओ भी अतिरिक्त मूल्य को अनलॉक करने की उम्मीद है। अपने विविध पोर्टफोलियो और मजबूत नकद उत्पन्न करने की क्षमताओं के साथ, रिलायंस भविष्य के अवसरों का लाभ उठाने के लिए अच्छी स्थिति में है।</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Investment Recommendation</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Current price offers approximately 20-30% upside.</a:t>
            </a:r>
          </a:p>
          <a:p>
            <a:pPr>
              <a:spcBef>
                <a:spcPts val="600"/>
              </a:spcBef>
              <a:spcAft>
                <a:spcPts val="600"/>
              </a:spcAft>
              <a:defRPr sz="1600"/>
            </a:pPr>
            <a:r>
              <a:t>Analysts recommend a 'Buy/Strong-Buy' position.</a:t>
            </a:r>
          </a:p>
          <a:p>
            <a:pPr>
              <a:spcBef>
                <a:spcPts val="600"/>
              </a:spcBef>
              <a:spcAft>
                <a:spcPts val="600"/>
              </a:spcAft>
              <a:defRPr sz="1600"/>
            </a:pPr>
            <a:r>
              <a:t>Solid fundamentals and market position support investment.</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मजबूत मौलिक मापदंडों को देखते हुए, वर्तमान शेयर मूल्य जो 20-30% की वृद्धि क्षमता प्रस्तुत करता है, और विश्लेषकों की अत्यधिक सकारात्मक भावना के कारण, रिलायंस इंडस्ट्रीज लिमिटेड को 'खरीदें/मजबूत खरीदें' के रूप में अनुशंसित किया जाता है। कंपनी के विविधीकृत संचालन, ठोस राजस्व धाराएं, और रणनीतिक वृद्धि पहलों ने इसे भविष्य की सफलता के लिए अच्छी स्थिति में रखा है। निवेशकों को प्रोत्साहित किया जाता है कि वे अपनी स्थिति में प्रवेश करने या बढ़ाने पर विचार करें, विशेष रूप से आने वाले तिमाहियों में अपेक्षित सकारात्मक विकास के आलोक में।</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Risk Factors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Potential regulatory changes affecting the energy sector.</a:t>
            </a:r>
          </a:p>
          <a:p>
            <a:pPr>
              <a:lnSpc>
                <a:spcPct val="120000"/>
              </a:lnSpc>
              <a:spcBef>
                <a:spcPts val="800"/>
              </a:spcBef>
              <a:spcAft>
                <a:spcPts val="800"/>
              </a:spcAft>
              <a:defRPr sz="1600"/>
            </a:pPr>
            <a:r>
              <a:t>Increased competition in retail and digital services.</a:t>
            </a:r>
          </a:p>
          <a:p>
            <a:pPr>
              <a:lnSpc>
                <a:spcPct val="120000"/>
              </a:lnSpc>
              <a:spcBef>
                <a:spcPts val="800"/>
              </a:spcBef>
              <a:spcAft>
                <a:spcPts val="800"/>
              </a:spcAft>
              <a:defRPr sz="1600"/>
            </a:pPr>
            <a:r>
              <a:t>Global oil price volatility impacting profitability.</a:t>
            </a:r>
          </a:p>
          <a:p>
            <a:pPr>
              <a:lnSpc>
                <a:spcPct val="120000"/>
              </a:lnSpc>
              <a:spcBef>
                <a:spcPts val="800"/>
              </a:spcBef>
              <a:spcAft>
                <a:spcPts val="800"/>
              </a:spcAft>
              <a:defRPr sz="1600"/>
            </a:pPr>
            <a:r>
              <a:t>Dependence on foreign oil imports, particularly Russian crude.</a:t>
            </a:r>
          </a:p>
          <a:p>
            <a:pPr>
              <a:lnSpc>
                <a:spcPct val="120000"/>
              </a:lnSpc>
              <a:spcBef>
                <a:spcPts val="800"/>
              </a:spcBef>
              <a:spcAft>
                <a:spcPts val="800"/>
              </a:spcAft>
              <a:defRPr sz="1600"/>
            </a:pPr>
            <a:r>
              <a:t>High capital expenditures may pressure cash flows.</a:t>
            </a:r>
          </a:p>
          <a:p>
            <a:pPr>
              <a:lnSpc>
                <a:spcPct val="120000"/>
              </a:lnSpc>
              <a:spcBef>
                <a:spcPts val="800"/>
              </a:spcBef>
              <a:spcAft>
                <a:spcPts val="800"/>
              </a:spcAft>
              <a:defRPr sz="1600"/>
            </a:pPr>
            <a:r>
              <a:t>Market sentiment fluctuations affecting stock price.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Conclusion &amp; Next Steps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अंत में, रिलायंस इंडस्ट्रीज लिमिटेड एक आकर्षक निवेश अवसर प्रस्तुत करता है, जो मजबूत वृद्धि संभावनाओं और एक मजबूत बाजार स्थिति से विशेषता है। निवेशकों को आगामी आय रिलीज़ और रणनीतिक विकासों पर ध्यान देना चाहिए, विशेष रूप से जियो प्लेटफॉर्म्स के संभावित आईपीओ पर। कार्यों में रिलायंस के प्रति वर्तमान पोर्टफोलियो एक्सपोजर का आकलन करना और अपेक्षित भविष्य लाभों का लाभ उठाने के लिए नए पदों पर विचार करना शामिल है। उद्योग के रुझानों और कंपनी-विशिष्ट समाचारों के बारे में सूचित रहकर, निवेशक रिलायंस इंडस्ट्रीज में अपने निवेश के संबंध में अच्छी तरह से सूचित निर्णय ले सकते हैं।</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
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Cupid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CUPID.NS | March 05,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क्यूपिड लिमिटेड (CUPID.NS) उपभोक्ता सुरक्षा क्षेत्र में एक प्रमुख खिलाड़ी है, विशेष रूप से घरेलू और व्यक्तिगत उत्पाद उद्योग में। 1993 में स्थापित और नासिक, भारत में मुख्यालय के साथ, कंपनी पुरुष और महिला कंडोम, व्यक्तिगत देखभाल वस्तुएं, और निदान किट सहित विभिन्न उत्पादों के डिजाइन, निर्माण और निर्यात में विशेषज्ञता रखती है। वर्तमान में ₹10,921 करोड़ का बाजार पूंजीकरण और हालिया मजबूत वित्तीय प्रदर्शन के साथ, क्यूपिड ने महत्वपूर्ण वृद्धि क्षमता प्रदर्शित की है। स्टॉक वर्तमान में 'मजबूत तेजी' की भावना का अनुभव कर रहा है, जो इसके वृद्धि पथ में निवेशकों के विश्वास को दर्शाता है। मजबूत वित्तीय मेट्रिक्स, जिसमें 28.23% का लाभ मार्जिन और ₹83.48 करोड़ का शुद्ध लाभ शामिल है, निवेश के सिद्धांत को और मजबूत करते हैं। कुल मिलाकर, क्यूपिड लिमिटेड निरंतर वृद्धि के लिए स्थिति में है, जो इसके नवोन्मेषी उत्पाद पेशकशों और बढ़ते बाजार पहुंच द्वारा संचालित 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1993 with headquarters in Nashik, India</a:t>
            </a:r>
          </a:p>
          <a:p>
            <a:pPr>
              <a:spcBef>
                <a:spcPts val="600"/>
              </a:spcBef>
              <a:spcAft>
                <a:spcPts val="600"/>
              </a:spcAft>
              <a:defRPr sz="1600"/>
            </a:pPr>
            <a:r>
              <a:t>Specializes in household and personal products including condoms and personal care items</a:t>
            </a:r>
          </a:p>
          <a:p>
            <a:pPr>
              <a:spcBef>
                <a:spcPts val="600"/>
              </a:spcBef>
              <a:spcAft>
                <a:spcPts val="600"/>
              </a:spcAft>
              <a:defRPr sz="1600"/>
            </a:pPr>
            <a:r>
              <a:t>Geographic presence across multiple continents including Africa and Europe</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क्यूपिड लिमिटेड ने व्यक्तिगत देखभाल क्षेत्र में एक प्रमुख निर्माता के रूप में अपनी पहचान स्थापित की है। कंपनी का विविध उत्पाद पोर्टफोलियो केवल पुरुष और महिला कंडोम तक सीमित नहीं है, बल्कि इसमें डिओडोरेंट्स और ल्यूब्रिकेंट जैल जैसे व्यक्तिगत देखभाल उत्पादों की एक श्रृंखला भी शामिल है। 217 कर्मचारियों की कार्यबल के साथ, क्यूपिड ने विभिन्न देशों में निर्यात करके अपनी पहुंच को सफलतापूर्वक विस्तारित किया है, जिसमें अफ्रीका, यूरोप, एशिया-प्रशांत, उत्तरी अमेरिका, मध्य पूर्व और दक्षिण अमेरिका शामिल हैं। नवाचार और गुणवत्ता पर रणनीतिक ध्यान ने क्यूपिड को अपने उद्योग में एक विश्वसनीय ब्रांड के रूप में स्थापित किया 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₹294.23 Crore</a:t>
            </a:r>
          </a:p>
          <a:p>
            <a:pPr>
              <a:lnSpc>
                <a:spcPct val="120000"/>
              </a:lnSpc>
              <a:spcBef>
                <a:spcPts val="800"/>
              </a:spcBef>
              <a:spcAft>
                <a:spcPts val="800"/>
              </a:spcAft>
              <a:defRPr sz="1600"/>
            </a:pPr>
            <a:r>
              <a:t>Net Profit (TTM): ₹83.48 Crore</a:t>
            </a:r>
          </a:p>
          <a:p>
            <a:pPr>
              <a:lnSpc>
                <a:spcPct val="120000"/>
              </a:lnSpc>
              <a:spcBef>
                <a:spcPts val="800"/>
              </a:spcBef>
              <a:spcAft>
                <a:spcPts val="800"/>
              </a:spcAft>
              <a:defRPr sz="1600"/>
            </a:pPr>
            <a:r>
              <a:t>EBITDA: ₹91.23 Crore</a:t>
            </a:r>
          </a:p>
          <a:p>
            <a:pPr>
              <a:lnSpc>
                <a:spcPct val="120000"/>
              </a:lnSpc>
              <a:spcBef>
                <a:spcPts val="800"/>
              </a:spcBef>
              <a:spcAft>
                <a:spcPts val="800"/>
              </a:spcAft>
              <a:defRPr sz="1600"/>
            </a:pPr>
            <a:r>
              <a:t>Earnings Per Share (EPS): ₹3.11</a:t>
            </a:r>
          </a:p>
          <a:p>
            <a:pPr>
              <a:lnSpc>
                <a:spcPct val="120000"/>
              </a:lnSpc>
              <a:spcBef>
                <a:spcPts val="800"/>
              </a:spcBef>
              <a:spcAft>
                <a:spcPts val="800"/>
              </a:spcAft>
              <a:defRPr sz="1600"/>
            </a:pPr>
            <a:r>
              <a:t>Total Assets: ₹152.00 Crore</a:t>
            </a:r>
          </a:p>
          <a:p>
            <a:pPr>
              <a:lnSpc>
                <a:spcPct val="120000"/>
              </a:lnSpc>
              <a:spcBef>
                <a:spcPts val="800"/>
              </a:spcBef>
              <a:spcAft>
                <a:spcPts val="800"/>
              </a:spcAft>
              <a:defRPr sz="1600"/>
            </a:pPr>
            <a:r>
              <a:t>Total Liabilities: ₹44.20 Crore</a:t>
            </a:r>
          </a:p>
          <a:p>
            <a:pPr>
              <a:lnSpc>
                <a:spcPct val="120000"/>
              </a:lnSpc>
              <a:spcBef>
                <a:spcPts val="800"/>
              </a:spcBef>
              <a:spcAft>
                <a:spcPts val="800"/>
              </a:spcAft>
              <a:defRPr sz="1600"/>
            </a:pPr>
            <a:r>
              <a:t>Profit Margin: 28.23%</a:t>
            </a:r>
          </a:p>
          <a:p>
            <a:pPr>
              <a:lnSpc>
                <a:spcPct val="120000"/>
              </a:lnSpc>
              <a:spcBef>
                <a:spcPts val="800"/>
              </a:spcBef>
              <a:spcAft>
                <a:spcPts val="800"/>
              </a:spcAft>
              <a:defRPr sz="1600"/>
            </a:pPr>
            <a:r>
              <a:t>Market Capitalization: ₹10,921 Crore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क्यूपिड लिमिटेड एक मजबूत वित्तीय प्रोफ़ाइल प्रदर्शित करता है, जो उच्च लाभप्रदता और प्रभावी संपत्ति प्रबंधन से विशेष है। कंपनी का राजस्व महत्वपूर्ण रूप से बढ़ा है, जो वर्ष दर वर्ष वृद्धि के रुझान को दर्शाता है, जबकि शुद्ध लाभ मार्जिन 28.23% पर मजबूत बना हुआ है। ₹91.23 करोड़ का EBITDA क्यूपिड की ठोस परिचालन दक्षता को दर्शाता है। हालांकि, कंपनी का PE अनुपात 131.00 के साथ अपेक्षाकृत उच्च बना हुआ है, जो यह संकेत देता है कि निवेशक भविष्य की सकारात्मक वृद्धि को मूल्यांकन में शामिल कर रहे हैं। इसके अतिरिक्त, 7.02 का ऋण-से-इक्विटी अनुपात एक लीवरेज्ड पूंजी संरचना को उजागर करता है, जो कि प्रबंधनीय है, लेकिन इसकी निकटता से निगरानी की आवश्यकता है। मजबूत राजस्व वृद्धि, स्वस्थ मार्जिन और प्रभावी लागत प्रबंधन का संयोजन क्यूपिड को एक आकर्षक निवेश बनाता है, हालांकि संभावित मूल्यांकन चिंताएं मौजूद 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₹406.00</a:t>
            </a:r>
          </a:p>
          <a:p>
            <a:pPr>
              <a:lnSpc>
                <a:spcPct val="120000"/>
              </a:lnSpc>
              <a:spcBef>
                <a:spcPts val="800"/>
              </a:spcBef>
              <a:spcAft>
                <a:spcPts val="800"/>
              </a:spcAft>
              <a:defRPr sz="1600"/>
            </a:pPr>
            <a:r>
              <a:t>52-Week High: ₹526.95</a:t>
            </a:r>
          </a:p>
          <a:p>
            <a:pPr>
              <a:lnSpc>
                <a:spcPct val="120000"/>
              </a:lnSpc>
              <a:spcBef>
                <a:spcPts val="800"/>
              </a:spcBef>
              <a:spcAft>
                <a:spcPts val="800"/>
              </a:spcAft>
              <a:defRPr sz="1600"/>
            </a:pPr>
            <a:r>
              <a:t>52-Week Low: ₹55.75</a:t>
            </a:r>
          </a:p>
          <a:p>
            <a:pPr>
              <a:lnSpc>
                <a:spcPct val="120000"/>
              </a:lnSpc>
              <a:spcBef>
                <a:spcPts val="800"/>
              </a:spcBef>
              <a:spcAft>
                <a:spcPts val="800"/>
              </a:spcAft>
              <a:defRPr sz="1600"/>
            </a:pPr>
            <a:r>
              <a:t>Average Volume: 98.61 L</a:t>
            </a:r>
          </a:p>
          <a:p>
            <a:pPr>
              <a:lnSpc>
                <a:spcPct val="120000"/>
              </a:lnSpc>
              <a:spcBef>
                <a:spcPts val="800"/>
              </a:spcBef>
              <a:spcAft>
                <a:spcPts val="800"/>
              </a:spcAft>
              <a:defRPr sz="1600"/>
            </a:pPr>
            <a:r>
              <a:t>Beta (Volatility): 0.00</a:t>
            </a:r>
          </a:p>
          <a:p>
            <a:pPr>
              <a:lnSpc>
                <a:spcPct val="120000"/>
              </a:lnSpc>
              <a:spcBef>
                <a:spcPts val="800"/>
              </a:spcBef>
              <a:spcAft>
                <a:spcPts val="800"/>
              </a:spcAft>
              <a:defRPr sz="1600"/>
            </a:pPr>
            <a:r>
              <a:t>Recent Price Change (1 Day): +7.12%</a:t>
            </a:r>
          </a:p>
          <a:p>
            <a:pPr>
              <a:lnSpc>
                <a:spcPct val="120000"/>
              </a:lnSpc>
              <a:spcBef>
                <a:spcPts val="800"/>
              </a:spcBef>
              <a:spcAft>
                <a:spcPts val="800"/>
              </a:spcAft>
              <a:defRPr sz="1600"/>
            </a:pPr>
            <a:r>
              <a:t>Recent Price Change (1 Month): +7.85%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Promoter Holding: 45.56%</a:t>
            </a:r>
          </a:p>
          <a:p>
            <a:pPr>
              <a:spcBef>
                <a:spcPts val="600"/>
              </a:spcBef>
              <a:spcAft>
                <a:spcPts val="600"/>
              </a:spcAft>
              <a:defRPr sz="1600"/>
            </a:pPr>
            <a:r>
              <a:t>DII Holding: 30.00%</a:t>
            </a:r>
          </a:p>
          <a:p>
            <a:pPr>
              <a:spcBef>
                <a:spcPts val="600"/>
              </a:spcBef>
              <a:spcAft>
                <a:spcPts val="600"/>
              </a:spcAft>
              <a:defRPr sz="1600"/>
            </a:pPr>
            <a:r>
              <a:t>Competing with major players like Godrej Consumer Products</a:t>
            </a:r>
          </a:p>
          <a:p>
            <a:pPr>
              <a:spcBef>
                <a:spcPts val="600"/>
              </a:spcBef>
              <a:spcAft>
                <a:spcPts val="600"/>
              </a:spcAft>
              <a:defRPr sz="1600"/>
            </a:pPr>
            <a:r>
              <a:t>Strong financial metrics compared to competitors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क्यूपिड लिमिटेड एक प्रतिस्पर्धात्मक परिदृश्य में कार्यरत है, जिसमें स्थापित खिलाड़ी जैसे कि गोदरेज कंज्यूमर प्रोडक्ट्स का दबदबा है। प्रतिस्पर्धा के बावजूद, क्यूपिड के वित्तीय मापदंड, जिसमें 28.23% का लाभ मार्जिन और ₹10,921 करोड़ का बाजार पूंजीकरण शामिल है, इसे क्षेत्र में अनुकूल स्थिति में रखते हैं। कंपनी की महत्वपूर्ण प्रमोटर होल्डिंग 45.56% मजबूत आंतरिक विश्वास को दर्शाती है, जबकि 30.00% DII होल्डिंग संस्थागत रुचि को और भी दर्शाती है। क्यूपिड का उत्पाद नवाचार और बाजार उपस्थिति का विस्तार करना प्रतिस्पर्धात्मक लाभ बनाए रखने के लिए महत्वपूर्ण 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70.2/100 (Strongly Bullish)</a:t>
            </a:r>
          </a:p>
          <a:p>
            <a:pPr>
              <a:lnSpc>
                <a:spcPct val="120000"/>
              </a:lnSpc>
              <a:spcBef>
                <a:spcPts val="800"/>
              </a:spcBef>
              <a:spcAft>
                <a:spcPts val="800"/>
              </a:spcAft>
              <a:defRPr sz="1600"/>
            </a:pPr>
            <a:r>
              <a:t>News Sentiment: 89.6/100 (Strongly Bullish)</a:t>
            </a:r>
          </a:p>
          <a:p>
            <a:pPr>
              <a:lnSpc>
                <a:spcPct val="120000"/>
              </a:lnSpc>
              <a:spcBef>
                <a:spcPts val="800"/>
              </a:spcBef>
              <a:spcAft>
                <a:spcPts val="800"/>
              </a:spcAft>
              <a:defRPr sz="1600"/>
            </a:pPr>
            <a:r>
              <a:t>Twitter Sentiment: 56.1/100 (Neutral)</a:t>
            </a:r>
          </a:p>
          <a:p>
            <a:pPr>
              <a:lnSpc>
                <a:spcPct val="120000"/>
              </a:lnSpc>
              <a:spcBef>
                <a:spcPts val="800"/>
              </a:spcBef>
              <a:spcAft>
                <a:spcPts val="800"/>
              </a:spcAft>
              <a:defRPr sz="1600"/>
            </a:pPr>
            <a:r>
              <a:t>Positive News: 140% YoY rise in net profit</a:t>
            </a:r>
          </a:p>
          <a:p>
            <a:pPr>
              <a:lnSpc>
                <a:spcPct val="120000"/>
              </a:lnSpc>
              <a:spcBef>
                <a:spcPts val="800"/>
              </a:spcBef>
              <a:spcAft>
                <a:spcPts val="800"/>
              </a:spcAft>
              <a:defRPr sz="1600"/>
            </a:pPr>
            <a:r>
              <a:t>Negative Pressure: Broader market selloff impacting sentiment</a:t>
            </a:r>
          </a:p>
          <a:p>
            <a:pPr>
              <a:lnSpc>
                <a:spcPct val="120000"/>
              </a:lnSpc>
              <a:spcBef>
                <a:spcPts val="800"/>
              </a:spcBef>
              <a:spcAft>
                <a:spcPts val="800"/>
              </a:spcAft>
              <a:defRPr sz="1600"/>
            </a:pPr>
            <a:r>
              <a:t>Analysts recommend a 'Buy' rating based on recent performance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क्यूपिड लिमिटेड के लिए दृष्टिकोण आशाजनक प्रतीत होता है, जो मजबूत राजस्व और लाभ वृद्धि द्वारा संचालित है। वर्ष दर वर्ष लगभग 35% के राजस्व वृद्धि की रिपोर्ट के साथ, कंपनी अपने विविध उत्पाद पेशकशों की बढ़ती मांग का लाभ उठाने के लिए अच्छी स्थिति में है। इसके अलावा, कंपनी का अंतरराष्ट्रीय बाजारों में विस्तार पर रणनीतिक ध्यान उसकी वृद्धि क्षमता को बढ़ाता है। हालांकि, वर्तमान उच्च मूल्यांकन, जो उद्योग के मध्य के मुकाबले बिक्री के मूल्य अनुपात से स्पष्ट है, यदि वृद्धि की अपेक्षाएं पूरी नहीं होती हैं तो सुधार का जोखिम पैदा करता है। विश्लेषकों का सुझाव है कि क्यूपिड के लिए राजस्व वृद्धि बनाए रखना और मार्जिन में सुधार करना निवेशक विश्वास को बनाए रखने और अपनी upward trajectory को जारी रखने के लिए आवश्यक होगा।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Current sentiment is 'strongly bullish', suggesting positive momentum.</a:t>
            </a:r>
          </a:p>
          <a:p>
            <a:pPr>
              <a:spcBef>
                <a:spcPts val="600"/>
              </a:spcBef>
              <a:spcAft>
                <a:spcPts val="600"/>
              </a:spcAft>
              <a:defRPr sz="1600"/>
            </a:pPr>
            <a:r>
              <a:t>Robust financial metrics indicate a solid investment opportunity.</a:t>
            </a:r>
          </a:p>
          <a:p>
            <a:pPr>
              <a:spcBef>
                <a:spcPts val="600"/>
              </a:spcBef>
              <a:spcAft>
                <a:spcPts val="600"/>
              </a:spcAft>
              <a:defRPr sz="1600"/>
            </a:pPr>
            <a:r>
              <a:t>High PE ratio suggests caution regarding valuation.</a:t>
            </a:r>
          </a:p>
          <a:p>
            <a:pPr>
              <a:spcBef>
                <a:spcPts val="600"/>
              </a:spcBef>
              <a:spcAft>
                <a:spcPts val="600"/>
              </a:spcAft>
              <a:defRPr sz="1600"/>
            </a:pPr>
            <a:r>
              <a:t>Recommendation: Consider accumulating shares at current levels.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क्यूपिड लिमिटेड के मजबूत वित्तीय प्रदर्शन, मजबूत बाजार भावना और वृद्धि क्षमता को देखते हुए, यह एक आकर्षक निवेश अवसर प्रस्तुत करता है। मजबूत तेजी की भावना और प्रभावशाली राजस्व वृद्धि कंपनी की लचीलापन और शेयरधारकों को मूल्य प्रदान करने की क्षमता को उजागर करती है। हालांकि, उच्च PE अनुपात यह संकेत करता है कि निवेशकों को सतर्क रहना चाहिए। यह समझदारी होगी कि शेयरों को जमा करने पर विचार किया जाए, विशेष रूप से किसी भी मूल्य सुधार के दौरान, जब तक कंपनी की वृद्धि की दिशा बरकरार रहती 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High valuation may lead to price corrections.</a:t>
            </a:r>
          </a:p>
          <a:p>
            <a:pPr>
              <a:lnSpc>
                <a:spcPct val="120000"/>
              </a:lnSpc>
              <a:spcBef>
                <a:spcPts val="800"/>
              </a:spcBef>
              <a:spcAft>
                <a:spcPts val="800"/>
              </a:spcAft>
              <a:defRPr sz="1600"/>
            </a:pPr>
            <a:r>
              <a:t>Dependence on consumer discretionary spending.</a:t>
            </a:r>
          </a:p>
          <a:p>
            <a:pPr>
              <a:lnSpc>
                <a:spcPct val="120000"/>
              </a:lnSpc>
              <a:spcBef>
                <a:spcPts val="800"/>
              </a:spcBef>
              <a:spcAft>
                <a:spcPts val="800"/>
              </a:spcAft>
              <a:defRPr sz="1600"/>
            </a:pPr>
            <a:r>
              <a:t>Volatile market conditions could impact performance.</a:t>
            </a:r>
          </a:p>
          <a:p>
            <a:pPr>
              <a:lnSpc>
                <a:spcPct val="120000"/>
              </a:lnSpc>
              <a:spcBef>
                <a:spcPts val="800"/>
              </a:spcBef>
              <a:spcAft>
                <a:spcPts val="800"/>
              </a:spcAft>
              <a:defRPr sz="1600"/>
            </a:pPr>
            <a:r>
              <a:t>Limited analyst coverage raises uncertainty.</a:t>
            </a:r>
          </a:p>
          <a:p>
            <a:pPr>
              <a:lnSpc>
                <a:spcPct val="120000"/>
              </a:lnSpc>
              <a:spcBef>
                <a:spcPts val="800"/>
              </a:spcBef>
              <a:spcAft>
                <a:spcPts val="800"/>
              </a:spcAft>
              <a:defRPr sz="1600"/>
            </a:pPr>
            <a:r>
              <a:t>Potential regulatory changes affecting product categories.</a:t>
            </a:r>
          </a:p>
          <a:p>
            <a:pPr>
              <a:lnSpc>
                <a:spcPct val="120000"/>
              </a:lnSpc>
              <a:spcBef>
                <a:spcPts val="800"/>
              </a:spcBef>
              <a:spcAft>
                <a:spcPts val="800"/>
              </a:spcAft>
              <a:defRPr sz="1600"/>
            </a:pPr>
            <a:r>
              <a:t>Intense competition could pressure market share.</a:t>
            </a:r>
          </a:p>
          <a:p>
            <a:pPr>
              <a:lnSpc>
                <a:spcPct val="120000"/>
              </a:lnSpc>
              <a:spcBef>
                <a:spcPts val="800"/>
              </a:spcBef>
              <a:spcAft>
                <a:spcPts val="800"/>
              </a:spcAft>
              <a:defRPr sz="1600"/>
            </a:pPr>
            <a:r>
              <a:t>Economic downturns may affect consumer demand.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अंत में, कपिड लिमिटेड उपभोक्ता सुरक्षा क्षेत्र में एक आशाजनक निवेश अवसर के रूप में उभरता है, जिसे मजबूत वित्तीय मापदंडों, सकारात्मक बाजार भावना और वृद्धि क्षमता द्वारा समर्थित किया गया है। निवेशकों को कंपनी के प्रदर्शन पर ध्यानपूर्वक नज़र रखने की सिफारिश की जाती है, विशेष रूप से इसकी उच्च मूल्यांकन और बाजार स्थितियों के मद्देनज़र। अगले कदमों में बाजार में उतार-चढ़ाव के दौरान संचय के लिए लक्ष्य मूल्य निर्धारित करना और उद्योग के रुझानों तथा प्रतिस्पर्धियों की गतिविधियों से अवगत रहना शामिल होना चाहिए। वित्तीय सलाहकारों के साथ जुड़कर व्यक्तिगत निवेश रणनीतियों को विकसित करना भी निर्णय लेने में सुधार कर सकता 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
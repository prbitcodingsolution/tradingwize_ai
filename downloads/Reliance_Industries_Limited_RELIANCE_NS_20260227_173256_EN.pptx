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03366"/>
        </a:solidFill>
        <a:effectLst/>
      </p:bgPr>
    </p:bg>
    <p:spTree>
      <p:nvGrpSpPr>
        <p:cNvPr id="1" name=""/>
        <p:cNvGrpSpPr/>
        <p:nvPr/>
      </p:nvGrpSpPr>
      <p:grpSpPr/>
      <p:sp>
        <p:nvSpPr>
          <p:cNvPr id="2" name="TextBox 1"/>
          <p:cNvSpPr txBox="1"/>
          <p:nvPr/>
        </p:nvSpPr>
        <p:spPr>
          <a:xfrm>
            <a:off x="457200" y="2286000"/>
            <a:ext cx="11277295" cy="1371600"/>
          </a:xfrm>
          <a:prstGeom prst="rect">
            <a:avLst/>
          </a:prstGeom>
          <a:noFill/>
        </p:spPr>
        <p:txBody>
          <a:bodyPr wrap="none">
            <a:spAutoFit/>
          </a:bodyPr>
          <a:lstStyle/>
          <a:p>
            <a:pPr algn="ctr">
              <a:defRPr sz="4400" b="1">
                <a:solidFill>
                  <a:srgbClr val="FFFFFF"/>
                </a:solidFill>
              </a:defRPr>
            </a:pPr>
            <a:r>
              <a:t>Reliance Industries Limited Stock Analysis</a:t>
            </a:r>
          </a:p>
        </p:txBody>
      </p:sp>
      <p:sp>
        <p:nvSpPr>
          <p:cNvPr id="3" name="TextBox 2"/>
          <p:cNvSpPr txBox="1"/>
          <p:nvPr/>
        </p:nvSpPr>
        <p:spPr>
          <a:xfrm>
            <a:off x="457200" y="3840480"/>
            <a:ext cx="11277295" cy="731520"/>
          </a:xfrm>
          <a:prstGeom prst="rect">
            <a:avLst/>
          </a:prstGeom>
          <a:noFill/>
        </p:spPr>
        <p:txBody>
          <a:bodyPr wrap="none">
            <a:spAutoFit/>
          </a:bodyPr>
          <a:lstStyle/>
          <a:p>
            <a:pPr algn="ctr">
              <a:defRPr sz="2400">
                <a:solidFill>
                  <a:srgbClr val="C8C8C8"/>
                </a:solidFill>
              </a:defRPr>
            </a:pPr>
            <a:r>
              <a:t>RELIANCE.NS | February 27,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11277295" cy="731520"/>
          </a:xfrm>
          <a:prstGeom prst="rect">
            <a:avLst/>
          </a:prstGeom>
          <a:noFill/>
        </p:spPr>
        <p:txBody>
          <a:bodyPr wrap="none">
            <a:spAutoFit/>
          </a:bodyPr>
          <a:lstStyle/>
          <a:p>
            <a:pPr>
              <a:defRPr sz="3200" b="1">
                <a:solidFill>
                  <a:srgbClr val="003366"/>
                </a:solidFill>
              </a:defRPr>
            </a:pPr>
            <a:r>
              <a:t>Executive Summary</a:t>
            </a:r>
          </a:p>
        </p:txBody>
      </p:sp>
      <p:sp>
        <p:nvSpPr>
          <p:cNvPr id="3" name="TextBox 2"/>
          <p:cNvSpPr txBox="1"/>
          <p:nvPr/>
        </p:nvSpPr>
        <p:spPr>
          <a:xfrm>
            <a:off x="731520" y="1645920"/>
            <a:ext cx="10728655" cy="4572000"/>
          </a:xfrm>
          <a:prstGeom prst="rect">
            <a:avLst/>
          </a:prstGeom>
          <a:noFill/>
        </p:spPr>
        <p:txBody>
          <a:bodyPr wrap="square">
            <a:spAutoFit/>
          </a:bodyPr>
          <a:lstStyle/>
          <a:p>
            <a:pPr algn="l">
              <a:lnSpc>
                <a:spcPct val="150000"/>
              </a:lnSpc>
              <a:spcAft>
                <a:spcPts val="1200"/>
              </a:spcAft>
              <a:defRPr sz="1600"/>
            </a:pPr>
            <a:r>
              <a:t>Reliance Industries Limited (RELIANCE.NS) is a prominent energy sector player in India, operating across various segments including oil and gas refining, retail, and digital services. Founded in 1966 and headquartered in Mumbai, the company has evolved into a multi-faceted conglomerate under the leadership of Mukesh Ambani. With a current market capitalization of ₹1,888,645 crore and a bullish sentiment prevailing, Reliance is poised for growth driven by its robust business model and the ongoing monetization cycle. The company's diversified operations and strategic initiatives, such as potential expansions in oil sourcing and digital services, create a compelling investment thesis. Analysts project a 9-10% annual earnings growth through FY 2028, making Reliance an attractive option for investors seeking stable returns in the energy sector.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11277295" cy="731520"/>
          </a:xfrm>
          <a:prstGeom prst="rect">
            <a:avLst/>
          </a:prstGeom>
          <a:noFill/>
        </p:spPr>
        <p:txBody>
          <a:bodyPr wrap="none">
            <a:spAutoFit/>
          </a:bodyPr>
          <a:lstStyle/>
          <a:p>
            <a:pPr>
              <a:defRPr sz="3200" b="1">
                <a:solidFill>
                  <a:srgbClr val="003366"/>
                </a:solidFill>
              </a:defRPr>
            </a:pPr>
            <a:r>
              <a:t>Company Overview</a:t>
            </a:r>
          </a:p>
        </p:txBody>
      </p:sp>
      <p:sp>
        <p:nvSpPr>
          <p:cNvPr id="3" name="TextBox 2"/>
          <p:cNvSpPr txBox="1"/>
          <p:nvPr/>
        </p:nvSpPr>
        <p:spPr>
          <a:xfrm>
            <a:off x="731520" y="1371600"/>
            <a:ext cx="10728655" cy="2286000"/>
          </a:xfrm>
          <a:prstGeom prst="rect">
            <a:avLst/>
          </a:prstGeom>
          <a:noFill/>
        </p:spPr>
        <p:txBody>
          <a:bodyPr wrap="square">
            <a:spAutoFit/>
          </a:bodyPr>
          <a:lstStyle/>
          <a:p>
            <a:pPr>
              <a:spcBef>
                <a:spcPts val="600"/>
              </a:spcBef>
              <a:spcAft>
                <a:spcPts val="600"/>
              </a:spcAft>
              <a:defRPr sz="1600"/>
            </a:pPr>
            <a:r>
              <a:t>Founded in 1966, Reliance operates in multiple sectors.</a:t>
            </a:r>
          </a:p>
          <a:p>
            <a:pPr>
              <a:spcBef>
                <a:spcPts val="600"/>
              </a:spcBef>
              <a:spcAft>
                <a:spcPts val="600"/>
              </a:spcAft>
              <a:defRPr sz="1600"/>
            </a:pPr>
            <a:r>
              <a:t>Headquartered in Mumbai, India with 4.03 lakh employees.</a:t>
            </a:r>
          </a:p>
          <a:p>
            <a:pPr>
              <a:spcBef>
                <a:spcPts val="600"/>
              </a:spcBef>
              <a:spcAft>
                <a:spcPts val="600"/>
              </a:spcAft>
              <a:defRPr sz="1600"/>
            </a:pPr>
            <a:r>
              <a:t>Engages in hydrocarbon exploration, retail, and digital services.</a:t>
            </a:r>
          </a:p>
        </p:txBody>
      </p:sp>
      <p:sp>
        <p:nvSpPr>
          <p:cNvPr id="4" name="TextBox 3"/>
          <p:cNvSpPr txBox="1"/>
          <p:nvPr/>
        </p:nvSpPr>
        <p:spPr>
          <a:xfrm>
            <a:off x="731520" y="3931920"/>
            <a:ext cx="10728655" cy="2468880"/>
          </a:xfrm>
          <a:prstGeom prst="rect">
            <a:avLst/>
          </a:prstGeom>
          <a:noFill/>
        </p:spPr>
        <p:txBody>
          <a:bodyPr wrap="square">
            <a:spAutoFit/>
          </a:bodyPr>
          <a:lstStyle/>
          <a:p>
            <a:pPr algn="l">
              <a:lnSpc>
                <a:spcPct val="140000"/>
              </a:lnSpc>
              <a:spcAft>
                <a:spcPts val="800"/>
              </a:spcAft>
              <a:defRPr sz="1400"/>
            </a:pPr>
            <a:r>
              <a:t>Reliance Industries Limited is a diversified company that operates across several segments: Oil to Chemicals, Oil and Gas, Retail, and Digital Services. Its extensive product offerings include refined petroleum products, polymers, textiles, and elastomers. The company's strategic focus on innovation and expansion positions it favorably within the global energy landscape. Reliance's geographic presence is primarily in India, where it dominates the oil and gas refining and marketing industry, making it a key player in the energy sector.</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11277295" cy="731520"/>
          </a:xfrm>
          <a:prstGeom prst="rect">
            <a:avLst/>
          </a:prstGeom>
          <a:noFill/>
        </p:spPr>
        <p:txBody>
          <a:bodyPr wrap="none">
            <a:spAutoFit/>
          </a:bodyPr>
          <a:lstStyle/>
          <a:p>
            <a:pPr>
              <a:defRPr sz="3200" b="1">
                <a:solidFill>
                  <a:srgbClr val="003366"/>
                </a:solidFill>
              </a:defRPr>
            </a:pPr>
            <a:r>
              <a:t>Financial Performance</a:t>
            </a:r>
          </a:p>
        </p:txBody>
      </p:sp>
      <p:sp>
        <p:nvSpPr>
          <p:cNvPr id="3" name="TextBox 2"/>
          <p:cNvSpPr txBox="1"/>
          <p:nvPr/>
        </p:nvSpPr>
        <p:spPr>
          <a:xfrm>
            <a:off x="731520" y="1371600"/>
            <a:ext cx="10728655" cy="5029200"/>
          </a:xfrm>
          <a:prstGeom prst="rect">
            <a:avLst/>
          </a:prstGeom>
          <a:noFill/>
        </p:spPr>
        <p:txBody>
          <a:bodyPr wrap="square">
            <a:spAutoFit/>
          </a:bodyPr>
          <a:lstStyle/>
          <a:p>
            <a:pPr>
              <a:lnSpc>
                <a:spcPct val="120000"/>
              </a:lnSpc>
              <a:spcBef>
                <a:spcPts val="800"/>
              </a:spcBef>
              <a:spcAft>
                <a:spcPts val="800"/>
              </a:spcAft>
              <a:defRPr sz="1600"/>
            </a:pPr>
            <a:r>
              <a:t>Revenue (TTM): ₹1,024,547.99 Cr</a:t>
            </a:r>
          </a:p>
          <a:p>
            <a:pPr>
              <a:lnSpc>
                <a:spcPct val="120000"/>
              </a:lnSpc>
              <a:spcBef>
                <a:spcPts val="800"/>
              </a:spcBef>
              <a:spcAft>
                <a:spcPts val="800"/>
              </a:spcAft>
              <a:defRPr sz="1600"/>
            </a:pPr>
            <a:r>
              <a:t>Net Profit (TTM): ₹83,211.00 Cr</a:t>
            </a:r>
          </a:p>
          <a:p>
            <a:pPr>
              <a:lnSpc>
                <a:spcPct val="120000"/>
              </a:lnSpc>
              <a:spcBef>
                <a:spcPts val="800"/>
              </a:spcBef>
              <a:spcAft>
                <a:spcPts val="800"/>
              </a:spcAft>
              <a:defRPr sz="1600"/>
            </a:pPr>
            <a:r>
              <a:t>EBITDA: ₹168,450.99 Cr</a:t>
            </a:r>
          </a:p>
          <a:p>
            <a:pPr>
              <a:lnSpc>
                <a:spcPct val="120000"/>
              </a:lnSpc>
              <a:spcBef>
                <a:spcPts val="800"/>
              </a:spcBef>
              <a:spcAft>
                <a:spcPts val="800"/>
              </a:spcAft>
              <a:defRPr sz="1600"/>
            </a:pPr>
            <a:r>
              <a:t>EPS: ₹61.48</a:t>
            </a:r>
          </a:p>
          <a:p>
            <a:pPr>
              <a:lnSpc>
                <a:spcPct val="120000"/>
              </a:lnSpc>
              <a:spcBef>
                <a:spcPts val="800"/>
              </a:spcBef>
              <a:spcAft>
                <a:spcPts val="800"/>
              </a:spcAft>
              <a:defRPr sz="1600"/>
            </a:pPr>
            <a:r>
              <a:t>Dividend Yield: 0.39%</a:t>
            </a:r>
          </a:p>
          <a:p>
            <a:pPr>
              <a:lnSpc>
                <a:spcPct val="120000"/>
              </a:lnSpc>
              <a:spcBef>
                <a:spcPts val="800"/>
              </a:spcBef>
              <a:spcAft>
                <a:spcPts val="800"/>
              </a:spcAft>
              <a:defRPr sz="1600"/>
            </a:pPr>
            <a:r>
              <a:t>Payout Ratio: 11.00%</a:t>
            </a:r>
          </a:p>
          <a:p>
            <a:pPr>
              <a:lnSpc>
                <a:spcPct val="120000"/>
              </a:lnSpc>
              <a:spcBef>
                <a:spcPts val="800"/>
              </a:spcBef>
              <a:spcAft>
                <a:spcPts val="800"/>
              </a:spcAft>
              <a:defRPr sz="1600"/>
            </a:pPr>
            <a:r>
              <a:t>Total Assets: ₹428,843.00 Cr</a:t>
            </a:r>
          </a:p>
          <a:p>
            <a:pPr>
              <a:lnSpc>
                <a:spcPct val="120000"/>
              </a:lnSpc>
              <a:spcBef>
                <a:spcPts val="800"/>
              </a:spcBef>
              <a:spcAft>
                <a:spcPts val="800"/>
              </a:spcAft>
              <a:defRPr sz="1600"/>
            </a:pPr>
            <a:r>
              <a:t>Total Liabilities: ₹570.00 Cr</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11277295" cy="731520"/>
          </a:xfrm>
          <a:prstGeom prst="rect">
            <a:avLst/>
          </a:prstGeom>
          <a:noFill/>
        </p:spPr>
        <p:txBody>
          <a:bodyPr wrap="none">
            <a:spAutoFit/>
          </a:bodyPr>
          <a:lstStyle/>
          <a:p>
            <a:pPr>
              <a:defRPr sz="3200" b="1">
                <a:solidFill>
                  <a:srgbClr val="003366"/>
                </a:solidFill>
              </a:defRPr>
            </a:pPr>
            <a:r>
              <a:t>Financial Analysis</a:t>
            </a:r>
          </a:p>
        </p:txBody>
      </p:sp>
      <p:sp>
        <p:nvSpPr>
          <p:cNvPr id="3" name="TextBox 2"/>
          <p:cNvSpPr txBox="1"/>
          <p:nvPr/>
        </p:nvSpPr>
        <p:spPr>
          <a:xfrm>
            <a:off x="731520" y="1645920"/>
            <a:ext cx="10728655" cy="4572000"/>
          </a:xfrm>
          <a:prstGeom prst="rect">
            <a:avLst/>
          </a:prstGeom>
          <a:noFill/>
        </p:spPr>
        <p:txBody>
          <a:bodyPr wrap="square">
            <a:spAutoFit/>
          </a:bodyPr>
          <a:lstStyle/>
          <a:p>
            <a:pPr algn="l">
              <a:lnSpc>
                <a:spcPct val="150000"/>
              </a:lnSpc>
              <a:spcAft>
                <a:spcPts val="1200"/>
              </a:spcAft>
              <a:defRPr sz="1600"/>
            </a:pPr>
            <a:r>
              <a:t>Reliance Industries Limited presents a strong financial profile, evidenced by a significant revenue of ₹1,024,548 crore and a net profit of ₹83,211 crore in the trailing twelve months (TTM). The EBITDA stands at ₹168,451 crore, indicating robust operational efficiency with an operating margin of 17%. The company's profit margin of 9.54% reflects a healthy balance between revenue generation and expenses. Additionally, the debt-to-equity ratio is a manageable 0.70, showcasing prudent financial management. With a solid cash balance of ₹223,871 crore, Reliance is well-positioned to withstand market fluctuations and invest in growth opportunities.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11277295" cy="731520"/>
          </a:xfrm>
          <a:prstGeom prst="rect">
            <a:avLst/>
          </a:prstGeom>
          <a:noFill/>
        </p:spPr>
        <p:txBody>
          <a:bodyPr wrap="none">
            <a:spAutoFit/>
          </a:bodyPr>
          <a:lstStyle/>
          <a:p>
            <a:pPr>
              <a:defRPr sz="3200" b="1">
                <a:solidFill>
                  <a:srgbClr val="003366"/>
                </a:solidFill>
              </a:defRPr>
            </a:pPr>
            <a:r>
              <a:t>Technical Analysis</a:t>
            </a:r>
          </a:p>
        </p:txBody>
      </p:sp>
      <p:sp>
        <p:nvSpPr>
          <p:cNvPr id="3" name="TextBox 2"/>
          <p:cNvSpPr txBox="1"/>
          <p:nvPr/>
        </p:nvSpPr>
        <p:spPr>
          <a:xfrm>
            <a:off x="731520" y="1371600"/>
            <a:ext cx="10728655" cy="5029200"/>
          </a:xfrm>
          <a:prstGeom prst="rect">
            <a:avLst/>
          </a:prstGeom>
          <a:noFill/>
        </p:spPr>
        <p:txBody>
          <a:bodyPr wrap="square">
            <a:spAutoFit/>
          </a:bodyPr>
          <a:lstStyle/>
          <a:p>
            <a:pPr>
              <a:lnSpc>
                <a:spcPct val="120000"/>
              </a:lnSpc>
              <a:spcBef>
                <a:spcPts val="800"/>
              </a:spcBef>
              <a:spcAft>
                <a:spcPts val="800"/>
              </a:spcAft>
              <a:defRPr sz="1600"/>
            </a:pPr>
            <a:r>
              <a:t>Current Share Price: ₹1,394.00</a:t>
            </a:r>
          </a:p>
          <a:p>
            <a:pPr>
              <a:lnSpc>
                <a:spcPct val="120000"/>
              </a:lnSpc>
              <a:spcBef>
                <a:spcPts val="800"/>
              </a:spcBef>
              <a:spcAft>
                <a:spcPts val="800"/>
              </a:spcAft>
              <a:defRPr sz="1600"/>
            </a:pPr>
            <a:r>
              <a:t>52-Week High: ₹1,611.80</a:t>
            </a:r>
          </a:p>
          <a:p>
            <a:pPr>
              <a:lnSpc>
                <a:spcPct val="120000"/>
              </a:lnSpc>
              <a:spcBef>
                <a:spcPts val="800"/>
              </a:spcBef>
              <a:spcAft>
                <a:spcPts val="800"/>
              </a:spcAft>
              <a:defRPr sz="1600"/>
            </a:pPr>
            <a:r>
              <a:t>52-Week Low: ₹1,114.85</a:t>
            </a:r>
          </a:p>
          <a:p>
            <a:pPr>
              <a:lnSpc>
                <a:spcPct val="120000"/>
              </a:lnSpc>
              <a:spcBef>
                <a:spcPts val="800"/>
              </a:spcBef>
              <a:spcAft>
                <a:spcPts val="800"/>
              </a:spcAft>
              <a:defRPr sz="1600"/>
            </a:pPr>
            <a:r>
              <a:t>Market Capitalization: ₹1,888,645.00 Cr</a:t>
            </a:r>
          </a:p>
          <a:p>
            <a:pPr>
              <a:lnSpc>
                <a:spcPct val="120000"/>
              </a:lnSpc>
              <a:spcBef>
                <a:spcPts val="800"/>
              </a:spcBef>
              <a:spcAft>
                <a:spcPts val="800"/>
              </a:spcAft>
              <a:defRPr sz="1600"/>
            </a:pPr>
            <a:r>
              <a:t>Beta (Volatility): 0.22</a:t>
            </a:r>
          </a:p>
          <a:p>
            <a:pPr>
              <a:lnSpc>
                <a:spcPct val="120000"/>
              </a:lnSpc>
              <a:spcBef>
                <a:spcPts val="800"/>
              </a:spcBef>
              <a:spcAft>
                <a:spcPts val="800"/>
              </a:spcAft>
              <a:defRPr sz="1600"/>
            </a:pPr>
            <a:r>
              <a:t>Recent Price Changes: -0.92% (1 Day), -1.11% (1 Week)</a:t>
            </a:r>
          </a:p>
          <a:p>
            <a:pPr>
              <a:lnSpc>
                <a:spcPct val="120000"/>
              </a:lnSpc>
              <a:spcBef>
                <a:spcPts val="800"/>
              </a:spcBef>
              <a:spcAft>
                <a:spcPts val="800"/>
              </a:spcAft>
              <a:defRPr sz="1600"/>
            </a:pPr>
            <a:r>
              <a:t>1 Year Change: +13.95%</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11277295" cy="731520"/>
          </a:xfrm>
          <a:prstGeom prst="rect">
            <a:avLst/>
          </a:prstGeom>
          <a:noFill/>
        </p:spPr>
        <p:txBody>
          <a:bodyPr wrap="none">
            <a:spAutoFit/>
          </a:bodyPr>
          <a:lstStyle/>
          <a:p>
            <a:pPr>
              <a:defRPr sz="3200" b="1">
                <a:solidFill>
                  <a:srgbClr val="003366"/>
                </a:solidFill>
              </a:defRPr>
            </a:pPr>
            <a:r>
              <a:t>Market Position &amp; Competitive Landscape</a:t>
            </a:r>
          </a:p>
        </p:txBody>
      </p:sp>
      <p:sp>
        <p:nvSpPr>
          <p:cNvPr id="3" name="TextBox 2"/>
          <p:cNvSpPr txBox="1"/>
          <p:nvPr/>
        </p:nvSpPr>
        <p:spPr>
          <a:xfrm>
            <a:off x="731520" y="1371600"/>
            <a:ext cx="10728655" cy="2286000"/>
          </a:xfrm>
          <a:prstGeom prst="rect">
            <a:avLst/>
          </a:prstGeom>
          <a:noFill/>
        </p:spPr>
        <p:txBody>
          <a:bodyPr wrap="square">
            <a:spAutoFit/>
          </a:bodyPr>
          <a:lstStyle/>
          <a:p>
            <a:pPr>
              <a:spcBef>
                <a:spcPts val="600"/>
              </a:spcBef>
              <a:spcAft>
                <a:spcPts val="600"/>
              </a:spcAft>
              <a:defRPr sz="1600"/>
            </a:pPr>
            <a:r>
              <a:t>Promoter Holding: 50.00%</a:t>
            </a:r>
          </a:p>
          <a:p>
            <a:pPr>
              <a:spcBef>
                <a:spcPts val="600"/>
              </a:spcBef>
              <a:spcAft>
                <a:spcPts val="600"/>
              </a:spcAft>
              <a:defRPr sz="1600"/>
            </a:pPr>
            <a:r>
              <a:t>FII Holding: 19.09%</a:t>
            </a:r>
          </a:p>
          <a:p>
            <a:pPr>
              <a:spcBef>
                <a:spcPts val="600"/>
              </a:spcBef>
              <a:spcAft>
                <a:spcPts val="600"/>
              </a:spcAft>
              <a:defRPr sz="1600"/>
            </a:pPr>
            <a:r>
              <a:t>DII Holding: 20.10%</a:t>
            </a:r>
          </a:p>
        </p:txBody>
      </p:sp>
      <p:sp>
        <p:nvSpPr>
          <p:cNvPr id="4" name="TextBox 3"/>
          <p:cNvSpPr txBox="1"/>
          <p:nvPr/>
        </p:nvSpPr>
        <p:spPr>
          <a:xfrm>
            <a:off x="731520" y="3931920"/>
            <a:ext cx="10728655" cy="2468880"/>
          </a:xfrm>
          <a:prstGeom prst="rect">
            <a:avLst/>
          </a:prstGeom>
          <a:noFill/>
        </p:spPr>
        <p:txBody>
          <a:bodyPr wrap="square">
            <a:spAutoFit/>
          </a:bodyPr>
          <a:lstStyle/>
          <a:p>
            <a:pPr algn="l">
              <a:lnSpc>
                <a:spcPct val="140000"/>
              </a:lnSpc>
              <a:spcAft>
                <a:spcPts val="800"/>
              </a:spcAft>
              <a:defRPr sz="1400"/>
            </a:pPr>
            <a:r>
              <a:t>Reliance Industries Limited maintains a strong market position with significant promoter holdings at 50%, ensuring stability and control in its strategic direction. The presence of foreign institutional investors (FIIs) at 19.09% and domestic institutional investors (DIIs) at 20.10% reflects confidence in the company's growth prospects. In a competitive landscape where Reliance faces peers in the energy sector, its diversified business model and strong market share in refining and retailing provide a competitive edge, contributing to its bullish sentiment and future growth potential.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11277295" cy="731520"/>
          </a:xfrm>
          <a:prstGeom prst="rect">
            <a:avLst/>
          </a:prstGeom>
          <a:noFill/>
        </p:spPr>
        <p:txBody>
          <a:bodyPr wrap="none">
            <a:spAutoFit/>
          </a:bodyPr>
          <a:lstStyle/>
          <a:p>
            <a:pPr>
              <a:defRPr sz="3200" b="1">
                <a:solidFill>
                  <a:srgbClr val="003366"/>
                </a:solidFill>
              </a:defRPr>
            </a:pPr>
            <a:r>
              <a:t>Current Market Sentiment</a:t>
            </a:r>
          </a:p>
        </p:txBody>
      </p:sp>
      <p:sp>
        <p:nvSpPr>
          <p:cNvPr id="3" name="TextBox 2"/>
          <p:cNvSpPr txBox="1"/>
          <p:nvPr/>
        </p:nvSpPr>
        <p:spPr>
          <a:xfrm>
            <a:off x="731520" y="1371600"/>
            <a:ext cx="10728655" cy="5029200"/>
          </a:xfrm>
          <a:prstGeom prst="rect">
            <a:avLst/>
          </a:prstGeom>
          <a:noFill/>
        </p:spPr>
        <p:txBody>
          <a:bodyPr wrap="square">
            <a:spAutoFit/>
          </a:bodyPr>
          <a:lstStyle/>
          <a:p>
            <a:pPr>
              <a:lnSpc>
                <a:spcPct val="120000"/>
              </a:lnSpc>
              <a:spcBef>
                <a:spcPts val="800"/>
              </a:spcBef>
              <a:spcAft>
                <a:spcPts val="800"/>
              </a:spcAft>
              <a:defRPr sz="1600"/>
            </a:pPr>
            <a:r>
              <a:t>Overall Sentiment Score: 35.9/100 (Bullish)</a:t>
            </a:r>
          </a:p>
          <a:p>
            <a:pPr>
              <a:lnSpc>
                <a:spcPct val="120000"/>
              </a:lnSpc>
              <a:spcBef>
                <a:spcPts val="800"/>
              </a:spcBef>
              <a:spcAft>
                <a:spcPts val="800"/>
              </a:spcAft>
              <a:defRPr sz="1600"/>
            </a:pPr>
            <a:r>
              <a:t>News Sentiment: 42.3/100 (Strongly Bullish)</a:t>
            </a:r>
          </a:p>
          <a:p>
            <a:pPr>
              <a:lnSpc>
                <a:spcPct val="120000"/>
              </a:lnSpc>
              <a:spcBef>
                <a:spcPts val="800"/>
              </a:spcBef>
              <a:spcAft>
                <a:spcPts val="800"/>
              </a:spcAft>
              <a:defRPr sz="1600"/>
            </a:pPr>
            <a:r>
              <a:t>Yahoo Finance: 89.2/100 (Buy)</a:t>
            </a:r>
          </a:p>
          <a:p>
            <a:pPr>
              <a:lnSpc>
                <a:spcPct val="120000"/>
              </a:lnSpc>
              <a:spcBef>
                <a:spcPts val="800"/>
              </a:spcBef>
              <a:spcAft>
                <a:spcPts val="800"/>
              </a:spcAft>
              <a:defRPr sz="1600"/>
            </a:pPr>
            <a:r>
              <a:t>Twitter/X Sentiment: 0.0/100 (Neutral)</a:t>
            </a:r>
          </a:p>
          <a:p>
            <a:pPr>
              <a:lnSpc>
                <a:spcPct val="120000"/>
              </a:lnSpc>
              <a:spcBef>
                <a:spcPts val="800"/>
              </a:spcBef>
              <a:spcAft>
                <a:spcPts val="800"/>
              </a:spcAft>
              <a:defRPr sz="1600"/>
            </a:pPr>
            <a:r>
              <a:t>Positive Factors: 43.8% vs 50.0% Negative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11277295" cy="731520"/>
          </a:xfrm>
          <a:prstGeom prst="rect">
            <a:avLst/>
          </a:prstGeom>
          <a:noFill/>
        </p:spPr>
        <p:txBody>
          <a:bodyPr wrap="none">
            <a:spAutoFit/>
          </a:bodyPr>
          <a:lstStyle/>
          <a:p>
            <a:pPr>
              <a:defRPr sz="3200" b="1">
                <a:solidFill>
                  <a:srgbClr val="003366"/>
                </a:solidFill>
              </a:defRPr>
            </a:pPr>
            <a:r>
              <a:t>Future Outlook &amp; Growth Drivers</a:t>
            </a:r>
          </a:p>
        </p:txBody>
      </p:sp>
      <p:sp>
        <p:nvSpPr>
          <p:cNvPr id="3" name="TextBox 2"/>
          <p:cNvSpPr txBox="1"/>
          <p:nvPr/>
        </p:nvSpPr>
        <p:spPr>
          <a:xfrm>
            <a:off x="731520" y="1645920"/>
            <a:ext cx="10728655" cy="4572000"/>
          </a:xfrm>
          <a:prstGeom prst="rect">
            <a:avLst/>
          </a:prstGeom>
          <a:noFill/>
        </p:spPr>
        <p:txBody>
          <a:bodyPr wrap="square">
            <a:spAutoFit/>
          </a:bodyPr>
          <a:lstStyle/>
          <a:p>
            <a:pPr algn="l">
              <a:lnSpc>
                <a:spcPct val="150000"/>
              </a:lnSpc>
              <a:spcAft>
                <a:spcPts val="1200"/>
              </a:spcAft>
              <a:defRPr sz="1600"/>
            </a:pPr>
            <a:r>
              <a:t>The future outlook for Reliance Industries Limited is promising, with analysts predicting a sustainable growth trajectory driven by multiple catalysts. The company is expected to leverage its strong cash position and low-beta status to navigate market volatility effectively. Earnings are anticipated to grow approximately 9-10% year-on-year through FY 2028, supported by the refining 'golden age', retail expansion, and telecom cash flow generation. Furthermore, potential new energy initiatives, including solar and battery storage, could significantly enhance revenue streams. The consensus price target of ₹1,715-₹1,720 suggests a potential upside of nearly 20% from current levels, making Reliance an attractive investment opportunity.</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11277295" cy="731520"/>
          </a:xfrm>
          <a:prstGeom prst="rect">
            <a:avLst/>
          </a:prstGeom>
          <a:noFill/>
        </p:spPr>
        <p:txBody>
          <a:bodyPr wrap="none">
            <a:spAutoFit/>
          </a:bodyPr>
          <a:lstStyle/>
          <a:p>
            <a:pPr>
              <a:defRPr sz="3200" b="1">
                <a:solidFill>
                  <a:srgbClr val="003366"/>
                </a:solidFill>
              </a:defRPr>
            </a:pPr>
            <a:r>
              <a:t>Investment Recommendation</a:t>
            </a:r>
          </a:p>
        </p:txBody>
      </p:sp>
      <p:sp>
        <p:nvSpPr>
          <p:cNvPr id="3" name="TextBox 2"/>
          <p:cNvSpPr txBox="1"/>
          <p:nvPr/>
        </p:nvSpPr>
        <p:spPr>
          <a:xfrm>
            <a:off x="731520" y="1371600"/>
            <a:ext cx="10728655" cy="2286000"/>
          </a:xfrm>
          <a:prstGeom prst="rect">
            <a:avLst/>
          </a:prstGeom>
          <a:noFill/>
        </p:spPr>
        <p:txBody>
          <a:bodyPr wrap="square">
            <a:spAutoFit/>
          </a:bodyPr>
          <a:lstStyle/>
          <a:p>
            <a:pPr>
              <a:spcBef>
                <a:spcPts val="600"/>
              </a:spcBef>
              <a:spcAft>
                <a:spcPts val="600"/>
              </a:spcAft>
              <a:defRPr sz="1600"/>
            </a:pPr>
            <a:r>
              <a:t>Current Price: ₹1,394.00 presents a buying opportunity.</a:t>
            </a:r>
          </a:p>
          <a:p>
            <a:pPr>
              <a:spcBef>
                <a:spcPts val="600"/>
              </a:spcBef>
              <a:spcAft>
                <a:spcPts val="600"/>
              </a:spcAft>
              <a:defRPr sz="1600"/>
            </a:pPr>
            <a:r>
              <a:t>Analysts suggest a potential upside of 20%.</a:t>
            </a:r>
          </a:p>
          <a:p>
            <a:pPr>
              <a:spcBef>
                <a:spcPts val="600"/>
              </a:spcBef>
              <a:spcAft>
                <a:spcPts val="600"/>
              </a:spcAft>
              <a:defRPr sz="1600"/>
            </a:pPr>
            <a:r>
              <a:t>Strong fundamentals and market position support investment.</a:t>
            </a:r>
          </a:p>
        </p:txBody>
      </p:sp>
      <p:sp>
        <p:nvSpPr>
          <p:cNvPr id="4" name="TextBox 3"/>
          <p:cNvSpPr txBox="1"/>
          <p:nvPr/>
        </p:nvSpPr>
        <p:spPr>
          <a:xfrm>
            <a:off x="731520" y="3931920"/>
            <a:ext cx="10728655" cy="2468880"/>
          </a:xfrm>
          <a:prstGeom prst="rect">
            <a:avLst/>
          </a:prstGeom>
          <a:noFill/>
        </p:spPr>
        <p:txBody>
          <a:bodyPr wrap="square">
            <a:spAutoFit/>
          </a:bodyPr>
          <a:lstStyle/>
          <a:p>
            <a:pPr algn="l">
              <a:lnSpc>
                <a:spcPct val="140000"/>
              </a:lnSpc>
              <a:spcAft>
                <a:spcPts val="800"/>
              </a:spcAft>
              <a:defRPr sz="1400"/>
            </a:pPr>
            <a:r>
              <a:t>Given the current market conditions and robust financial metrics, it is recommended that investors consider acquiring shares of Reliance Industries Limited. The current price of ₹1,394.00 represents a strategic entry point, especially with analysts projecting a potential upside of up to 20%. Reliance's strong fundamentals, coupled with its dominant market position and diversified revenue streams, reinforce the investment case, making it a favorable option for long-term growth.</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11277295" cy="731520"/>
          </a:xfrm>
          <a:prstGeom prst="rect">
            <a:avLst/>
          </a:prstGeom>
          <a:noFill/>
        </p:spPr>
        <p:txBody>
          <a:bodyPr wrap="none">
            <a:spAutoFit/>
          </a:bodyPr>
          <a:lstStyle/>
          <a:p>
            <a:pPr>
              <a:defRPr sz="3200" b="1">
                <a:solidFill>
                  <a:srgbClr val="003366"/>
                </a:solidFill>
              </a:defRPr>
            </a:pPr>
            <a:r>
              <a:t>Risk Factors</a:t>
            </a:r>
          </a:p>
        </p:txBody>
      </p:sp>
      <p:sp>
        <p:nvSpPr>
          <p:cNvPr id="3" name="TextBox 2"/>
          <p:cNvSpPr txBox="1"/>
          <p:nvPr/>
        </p:nvSpPr>
        <p:spPr>
          <a:xfrm>
            <a:off x="731520" y="1371600"/>
            <a:ext cx="10728655" cy="5029200"/>
          </a:xfrm>
          <a:prstGeom prst="rect">
            <a:avLst/>
          </a:prstGeom>
          <a:noFill/>
        </p:spPr>
        <p:txBody>
          <a:bodyPr wrap="square">
            <a:spAutoFit/>
          </a:bodyPr>
          <a:lstStyle/>
          <a:p>
            <a:pPr>
              <a:lnSpc>
                <a:spcPct val="120000"/>
              </a:lnSpc>
              <a:spcBef>
                <a:spcPts val="800"/>
              </a:spcBef>
              <a:spcAft>
                <a:spcPts val="800"/>
              </a:spcAft>
              <a:defRPr sz="1600"/>
            </a:pPr>
            <a:r>
              <a:t>Potential volatility in global oil prices.</a:t>
            </a:r>
          </a:p>
          <a:p>
            <a:pPr>
              <a:lnSpc>
                <a:spcPct val="120000"/>
              </a:lnSpc>
              <a:spcBef>
                <a:spcPts val="800"/>
              </a:spcBef>
              <a:spcAft>
                <a:spcPts val="800"/>
              </a:spcAft>
              <a:defRPr sz="1600"/>
            </a:pPr>
            <a:r>
              <a:t>Dependence on international oil supply chains.</a:t>
            </a:r>
          </a:p>
          <a:p>
            <a:pPr>
              <a:lnSpc>
                <a:spcPct val="120000"/>
              </a:lnSpc>
              <a:spcBef>
                <a:spcPts val="800"/>
              </a:spcBef>
              <a:spcAft>
                <a:spcPts val="800"/>
              </a:spcAft>
              <a:defRPr sz="1600"/>
            </a:pPr>
            <a:r>
              <a:t>Regulatory changes affecting the energy sector.</a:t>
            </a:r>
          </a:p>
          <a:p>
            <a:pPr>
              <a:lnSpc>
                <a:spcPct val="120000"/>
              </a:lnSpc>
              <a:spcBef>
                <a:spcPts val="800"/>
              </a:spcBef>
              <a:spcAft>
                <a:spcPts val="800"/>
              </a:spcAft>
              <a:defRPr sz="1600"/>
            </a:pPr>
            <a:r>
              <a:t>Geopolitical tensions impacting oil imports.</a:t>
            </a:r>
          </a:p>
          <a:p>
            <a:pPr>
              <a:lnSpc>
                <a:spcPct val="120000"/>
              </a:lnSpc>
              <a:spcBef>
                <a:spcPts val="800"/>
              </a:spcBef>
              <a:spcAft>
                <a:spcPts val="800"/>
              </a:spcAft>
              <a:defRPr sz="1600"/>
            </a:pPr>
            <a:r>
              <a:t>Market competition from domestic and international players.</a:t>
            </a:r>
          </a:p>
          <a:p>
            <a:pPr>
              <a:lnSpc>
                <a:spcPct val="120000"/>
              </a:lnSpc>
              <a:spcBef>
                <a:spcPts val="800"/>
              </a:spcBef>
              <a:spcAft>
                <a:spcPts val="800"/>
              </a:spcAft>
              <a:defRPr sz="1600"/>
            </a:pPr>
            <a:r>
              <a:t>Fluctuations in demand for petrochemical products.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11277295" cy="731520"/>
          </a:xfrm>
          <a:prstGeom prst="rect">
            <a:avLst/>
          </a:prstGeom>
          <a:noFill/>
        </p:spPr>
        <p:txBody>
          <a:bodyPr wrap="none">
            <a:spAutoFit/>
          </a:bodyPr>
          <a:lstStyle/>
          <a:p>
            <a:pPr>
              <a:defRPr sz="3200" b="1">
                <a:solidFill>
                  <a:srgbClr val="003366"/>
                </a:solidFill>
              </a:defRPr>
            </a:pPr>
            <a:r>
              <a:t>Conclusion &amp; Next Steps</a:t>
            </a:r>
          </a:p>
        </p:txBody>
      </p:sp>
      <p:sp>
        <p:nvSpPr>
          <p:cNvPr id="3" name="TextBox 2"/>
          <p:cNvSpPr txBox="1"/>
          <p:nvPr/>
        </p:nvSpPr>
        <p:spPr>
          <a:xfrm>
            <a:off x="731520" y="1645920"/>
            <a:ext cx="10728655" cy="4572000"/>
          </a:xfrm>
          <a:prstGeom prst="rect">
            <a:avLst/>
          </a:prstGeom>
          <a:noFill/>
        </p:spPr>
        <p:txBody>
          <a:bodyPr wrap="square">
            <a:spAutoFit/>
          </a:bodyPr>
          <a:lstStyle/>
          <a:p>
            <a:pPr algn="l">
              <a:lnSpc>
                <a:spcPct val="150000"/>
              </a:lnSpc>
              <a:spcAft>
                <a:spcPts val="1200"/>
              </a:spcAft>
              <a:defRPr sz="1600"/>
            </a:pPr>
            <a:r>
              <a:t>In conclusion, Reliance Industries Limited is well-positioned for growth, supported by strong financial health and a diversified business model. The current bullish sentiment reflects positive market expectations, making it an attractive investment opportunity. Moving forward, investors are encouraged to monitor upcoming earnings reports and market developments closely. Engaging with financial advisors to assess individual investment strategies in the context of Reliance's performance will be beneficial. Overall, Reliance's potential for capital appreciation remains significant, warranting a proactive approach from investors.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
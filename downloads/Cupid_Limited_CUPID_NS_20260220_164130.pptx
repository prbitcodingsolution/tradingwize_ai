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February 20,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(CUPID.NS) is a prominent player in the consumer defensive sector, specifically within the household and personal products industry. Founded in 2000 and headquartered in Nashik, India, the company specializes in manufacturing and marketing a diverse array of products, including male and female condoms, personal care items, and diagnostic kits. With a bullish sentiment in the market, Cupid Limited has demonstrated impressive growth, highlighted by a 515% increase in share price over the past year. This rapid escalation in valuation, coupled with robust financial results, positions Cupid as a compelling investment opportunity. Investors can benefit from the company's expanding market share and positive future outlook, driven by increasing demand for personal care products and diagnostics.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2000, Cupid Limited is based in Nashik, India.</a:t>
            </a:r>
          </a:p>
          <a:p>
            <a:pPr>
              <a:spcBef>
                <a:spcPts val="600"/>
              </a:spcBef>
              <a:spcAft>
                <a:spcPts val="600"/>
              </a:spcAft>
              <a:defRPr sz="1600"/>
            </a:pPr>
            <a:r>
              <a:t>Specializes in manufacturing condoms, lubricants, and personal care products.</a:t>
            </a:r>
          </a:p>
          <a:p>
            <a:pPr>
              <a:spcBef>
                <a:spcPts val="600"/>
              </a:spcBef>
              <a:spcAft>
                <a:spcPts val="600"/>
              </a:spcAft>
              <a:defRPr sz="1600"/>
            </a:pPr>
            <a:r>
              <a:t>Exports products to multiple regions including Africa and Europe.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within the consumer defensive sector, focusing on household and personal products. The company has carved out a niche in designing and manufacturing male and female condoms, water-based lubricants, and a variety of personal hygiene items. Its product portfolio also includes advanced diagnostic kits and personal care products, showcasing a commitment to innovation and quality. The company has a significant geographic presence, exporting to various markets across Africa, Europe, Asia-Pacific, North America, the Middle East, and South America, which enhances its growth potential.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a:t>
            </a:r>
          </a:p>
          <a:p>
            <a:pPr>
              <a:lnSpc>
                <a:spcPct val="120000"/>
              </a:lnSpc>
              <a:spcBef>
                <a:spcPts val="800"/>
              </a:spcBef>
              <a:spcAft>
                <a:spcPts val="800"/>
              </a:spcAft>
              <a:defRPr sz="1600"/>
            </a:pPr>
            <a:r>
              <a:t>Net Profit (TTM): ₹83.48 Cr</a:t>
            </a:r>
          </a:p>
          <a:p>
            <a:pPr>
              <a:lnSpc>
                <a:spcPct val="120000"/>
              </a:lnSpc>
              <a:spcBef>
                <a:spcPts val="800"/>
              </a:spcBef>
              <a:spcAft>
                <a:spcPts val="800"/>
              </a:spcAft>
              <a:defRPr sz="1600"/>
            </a:pPr>
            <a:r>
              <a:t>EBITDA: ₹91.23 Cr</a:t>
            </a:r>
          </a:p>
          <a:p>
            <a:pPr>
              <a:lnSpc>
                <a:spcPct val="120000"/>
              </a:lnSpc>
              <a:spcBef>
                <a:spcPts val="800"/>
              </a:spcBef>
              <a:spcAft>
                <a:spcPts val="800"/>
              </a:spcAft>
              <a:defRPr sz="1600"/>
            </a:pPr>
            <a:r>
              <a:t>EPS: ₹3.11</a:t>
            </a:r>
          </a:p>
          <a:p>
            <a:pPr>
              <a:lnSpc>
                <a:spcPct val="120000"/>
              </a:lnSpc>
              <a:spcBef>
                <a:spcPts val="800"/>
              </a:spcBef>
              <a:spcAft>
                <a:spcPts val="800"/>
              </a:spcAft>
              <a:defRPr sz="1600"/>
            </a:pPr>
            <a:r>
              <a:t>Profit Margin: 28.23%</a:t>
            </a:r>
          </a:p>
          <a:p>
            <a:pPr>
              <a:lnSpc>
                <a:spcPct val="120000"/>
              </a:lnSpc>
              <a:spcBef>
                <a:spcPts val="800"/>
              </a:spcBef>
              <a:spcAft>
                <a:spcPts val="800"/>
              </a:spcAft>
              <a:defRPr sz="1600"/>
            </a:pPr>
            <a:r>
              <a:t>Operating Margin: 31.00%</a:t>
            </a:r>
          </a:p>
          <a:p>
            <a:pPr>
              <a:lnSpc>
                <a:spcPct val="120000"/>
              </a:lnSpc>
              <a:spcBef>
                <a:spcPts val="800"/>
              </a:spcBef>
              <a:spcAft>
                <a:spcPts val="800"/>
              </a:spcAft>
              <a:defRPr sz="1600"/>
            </a:pPr>
            <a:r>
              <a:t>Gross Margin: 62.22%</a:t>
            </a:r>
          </a:p>
          <a:p>
            <a:pPr>
              <a:lnSpc>
                <a:spcPct val="120000"/>
              </a:lnSpc>
              <a:spcBef>
                <a:spcPts val="800"/>
              </a:spcBef>
              <a:spcAft>
                <a:spcPts val="800"/>
              </a:spcAft>
              <a:defRPr sz="1600"/>
            </a:pPr>
            <a:r>
              <a:t>Market Capitalization: ₹11336.00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showcases a strong financial performance with a total revenue of ₹294.23 Cr and a net profit of ₹83.48 Cr over the trailing twelve months. The company’s EBITDA stands at ₹91.23 Cr, reflecting its operational efficiency and capability to generate earnings before interest, taxes, depreciation, and amortization. With a profit margin of 28.23%, Cupid demonstrates robust profitability, backed by operating and gross margins of 31.00% and 62.22%, respectively. These metrics indicate effective cost management and a strong market position, underscoring the company's ability to maintain competitive pricing while achieving substantial profit margins. Overall, Cupid Limited is positioned favorably within its industry, contributing to a positive investment 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₹421.00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Beta: 0.04 (Low Volatility)</a:t>
            </a:r>
          </a:p>
          <a:p>
            <a:pPr>
              <a:lnSpc>
                <a:spcPct val="120000"/>
              </a:lnSpc>
              <a:spcBef>
                <a:spcPts val="800"/>
              </a:spcBef>
              <a:spcAft>
                <a:spcPts val="800"/>
              </a:spcAft>
              <a:defRPr sz="1600"/>
            </a:pPr>
            <a:r>
              <a:t>Debt-to-Equity Ratio: 7.02</a:t>
            </a:r>
          </a:p>
          <a:p>
            <a:pPr>
              <a:lnSpc>
                <a:spcPct val="120000"/>
              </a:lnSpc>
              <a:spcBef>
                <a:spcPts val="800"/>
              </a:spcBef>
              <a:spcAft>
                <a:spcPts val="800"/>
              </a:spcAft>
              <a:defRPr sz="1600"/>
            </a:pPr>
            <a:r>
              <a:t>Average Volume: 96.92 L</a:t>
            </a:r>
          </a:p>
          <a:p>
            <a:pPr>
              <a:lnSpc>
                <a:spcPct val="120000"/>
              </a:lnSpc>
              <a:spcBef>
                <a:spcPts val="800"/>
              </a:spcBef>
              <a:spcAft>
                <a:spcPts val="800"/>
              </a:spcAft>
              <a:defRPr sz="1600"/>
            </a:pPr>
            <a:r>
              <a:t>1-Year Change: 515.02%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revenue growth outpacing competitors.</a:t>
            </a:r>
          </a:p>
          <a:p>
            <a:pPr>
              <a:spcBef>
                <a:spcPts val="600"/>
              </a:spcBef>
              <a:spcAft>
                <a:spcPts val="600"/>
              </a:spcAft>
              <a:defRPr sz="1600"/>
            </a:pPr>
            <a:r>
              <a:t>High PE Ratio: 136.00 indicates premium pricing.</a:t>
            </a:r>
          </a:p>
          <a:p>
            <a:pPr>
              <a:spcBef>
                <a:spcPts val="600"/>
              </a:spcBef>
              <a:spcAft>
                <a:spcPts val="600"/>
              </a:spcAft>
              <a:defRPr sz="1600"/>
            </a:pPr>
            <a:r>
              <a:t>Significant market capitalization of ₹11336.00 Cr.</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stands out in a competitive landscape characterized by established players such as Godrej Consumer Products and Dabur. With an impressive revenue growth rate and a high PE ratio of 136.00, the company is perceived as a premium investment, reflecting strong market confidence in its future prospects. Despite facing robust competition, Cupid’s unique product offerings and strategic export initiatives have positioned it favorably, allowing for significant market capitalization of ₹11336.00 Cr. The bullish sentiment surrounding the stock reinforces its potential as a leading player in the household and personal products industry.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58.5/100 (Bullish)</a:t>
            </a:r>
          </a:p>
          <a:p>
            <a:pPr>
              <a:lnSpc>
                <a:spcPct val="120000"/>
              </a:lnSpc>
              <a:spcBef>
                <a:spcPts val="800"/>
              </a:spcBef>
              <a:spcAft>
                <a:spcPts val="800"/>
              </a:spcAft>
              <a:defRPr sz="1600"/>
            </a:pPr>
            <a:r>
              <a:t>News Sentiment: 75/100 (Strong Bullish)</a:t>
            </a:r>
          </a:p>
          <a:p>
            <a:pPr>
              <a:lnSpc>
                <a:spcPct val="120000"/>
              </a:lnSpc>
              <a:spcBef>
                <a:spcPts val="800"/>
              </a:spcBef>
              <a:spcAft>
                <a:spcPts val="800"/>
              </a:spcAft>
              <a:defRPr sz="1600"/>
            </a:pPr>
            <a:r>
              <a:t>Yahoo Finance: 50/100 (Hold)</a:t>
            </a:r>
          </a:p>
          <a:p>
            <a:pPr>
              <a:lnSpc>
                <a:spcPct val="120000"/>
              </a:lnSpc>
              <a:spcBef>
                <a:spcPts val="800"/>
              </a:spcBef>
              <a:spcAft>
                <a:spcPts val="800"/>
              </a:spcAft>
              <a:defRPr sz="1600"/>
            </a:pPr>
            <a:r>
              <a:t>Twitter/X Sentiment: 45/100 (Bullish)</a:t>
            </a:r>
          </a:p>
          <a:p>
            <a:pPr>
              <a:lnSpc>
                <a:spcPct val="120000"/>
              </a:lnSpc>
              <a:spcBef>
                <a:spcPts val="800"/>
              </a:spcBef>
              <a:spcAft>
                <a:spcPts val="800"/>
              </a:spcAft>
              <a:defRPr sz="1600"/>
            </a:pPr>
            <a:r>
              <a:t>Positive Tweets: 70%, Negative: 10%</a:t>
            </a:r>
          </a:p>
          <a:p>
            <a:pPr>
              <a:lnSpc>
                <a:spcPct val="120000"/>
              </a:lnSpc>
              <a:spcBef>
                <a:spcPts val="800"/>
              </a:spcBef>
              <a:spcAft>
                <a:spcPts val="800"/>
              </a:spcAft>
              <a:defRPr sz="1600"/>
            </a:pPr>
            <a:r>
              <a:t>Recent surge of 13% following quarterly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Cupid Limited appears promising, driven by robust revenue growth and a positive market sentiment. With a projected revenue increase of 35% YoY and a significant rise in earnings per share (EPS) by 57.4%, the company is poised for continued expansion. The EBITDA margin improvement to 37% indicates strong operational efficiencies, further enhancing profitability. Moreover, the company has been recognized for its innovative product offerings in personal care and diagnostics, positioning it well to capitalize on emerging market trends. While investor sentiment has shifted positively following recent earnings beats, market volatility remains a concern, necessitating a cautious yet optimistic approach towards future investments.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Bullish sentiment indicates a strong buying opportunity.</a:t>
            </a:r>
          </a:p>
          <a:p>
            <a:pPr>
              <a:spcBef>
                <a:spcPts val="600"/>
              </a:spcBef>
              <a:spcAft>
                <a:spcPts val="600"/>
              </a:spcAft>
              <a:defRPr sz="1600"/>
            </a:pPr>
            <a:r>
              <a:t>Solid financial performance supports growth potential.</a:t>
            </a:r>
          </a:p>
          <a:p>
            <a:pPr>
              <a:spcBef>
                <a:spcPts val="600"/>
              </a:spcBef>
              <a:spcAft>
                <a:spcPts val="600"/>
              </a:spcAft>
              <a:defRPr sz="1600"/>
            </a:pPr>
            <a:r>
              <a:t>Consider long-term holding for potential upside.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Based on the comprehensive analysis, Cupid Limited presents a compelling investment opportunity for investors looking to capitalize on growth in the personal care and diagnostics sectors. The bullish sentiment and solid financial metrics suggest that now may be an excellent time to consider an investment in CUPID.NS. Given the company's track record of strong earnings growth and expanding market share, a long-term holding strategy could yield significant returns. Investors are encouraged to monitor market conditions closely while evaluating their investment strategies.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debt-to-equity ratio of 7.02 may pose financial risk.</a:t>
            </a:r>
          </a:p>
          <a:p>
            <a:pPr>
              <a:lnSpc>
                <a:spcPct val="120000"/>
              </a:lnSpc>
              <a:spcBef>
                <a:spcPts val="800"/>
              </a:spcBef>
              <a:spcAft>
                <a:spcPts val="800"/>
              </a:spcAft>
              <a:defRPr sz="1600"/>
            </a:pPr>
            <a:r>
              <a:t>Market volatility could impact stock price stability.</a:t>
            </a:r>
          </a:p>
          <a:p>
            <a:pPr>
              <a:lnSpc>
                <a:spcPct val="120000"/>
              </a:lnSpc>
              <a:spcBef>
                <a:spcPts val="800"/>
              </a:spcBef>
              <a:spcAft>
                <a:spcPts val="800"/>
              </a:spcAft>
              <a:defRPr sz="1600"/>
            </a:pPr>
            <a:r>
              <a:t>Increased competition in the personal care industry.</a:t>
            </a:r>
          </a:p>
          <a:p>
            <a:pPr>
              <a:lnSpc>
                <a:spcPct val="120000"/>
              </a:lnSpc>
              <a:spcBef>
                <a:spcPts val="800"/>
              </a:spcBef>
              <a:spcAft>
                <a:spcPts val="800"/>
              </a:spcAft>
              <a:defRPr sz="1600"/>
            </a:pPr>
            <a:r>
              <a:t>Dependency on export markets for growth.</a:t>
            </a:r>
          </a:p>
          <a:p>
            <a:pPr>
              <a:lnSpc>
                <a:spcPct val="120000"/>
              </a:lnSpc>
              <a:spcBef>
                <a:spcPts val="800"/>
              </a:spcBef>
              <a:spcAft>
                <a:spcPts val="800"/>
              </a:spcAft>
              <a:defRPr sz="1600"/>
            </a:pPr>
            <a:r>
              <a:t>Potential regulatory changes affecting product sales.</a:t>
            </a:r>
          </a:p>
          <a:p>
            <a:pPr>
              <a:lnSpc>
                <a:spcPct val="120000"/>
              </a:lnSpc>
              <a:spcBef>
                <a:spcPts val="800"/>
              </a:spcBef>
              <a:spcAft>
                <a:spcPts val="800"/>
              </a:spcAft>
              <a:defRPr sz="1600"/>
            </a:pPr>
            <a:r>
              <a:t>Economic downturns could affect consumer spending.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Cupid Limited (CUPID.NS) represents a robust investment opportunity, supported by strong financial performance and positive market sentiment. While there are inherent risks, including high debt levels and market volatility, the overall outlook remains favorable. Investors are advised to conduct further due diligence and consider a long-term investment strategy to leverage the company's growth potential. Next steps should include monitoring market trends, staying updated on financial performance, and assessing competitive dynamics to make informed investment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
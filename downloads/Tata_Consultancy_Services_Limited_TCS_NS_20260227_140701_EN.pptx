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Tata Consultancy Services Limited - Stock Analysis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TCS.NS | February 27,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Consultancy Services Limited (TCS.NS) is a leading player in the global technology sector, providing a wide array of information technology (IT) and IT-enabled services. Founded in 1968 and headquartered in Mumbai, India, TCS has established itself as a powerhouse in digital transformation, AI, and cloud solutions. With a robust workforce of over 600,000 employees, TCS is well-positioned to capitalize on the growing demand for technology services. The company's strong financial performance, characterized by a revenue of ₹260,802.01 Cr and a net profit of ₹47,716.00 Cr, reflects its operational efficiency and strategic investments in high-growth areas. Current market sentiment is bullish, supported by a future outlook that emphasizes growth in AI and cloud services, making TCS an attractive investment opportunity.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Sector: Technology</a:t>
            </a:r>
          </a:p>
          <a:p>
            <a:pPr>
              <a:spcBef>
                <a:spcPts val="600"/>
              </a:spcBef>
              <a:spcAft>
                <a:spcPts val="600"/>
              </a:spcAft>
              <a:defRPr sz="1600"/>
            </a:pPr>
            <a:r>
              <a:t>Industry: Information Technology Services</a:t>
            </a:r>
          </a:p>
          <a:p>
            <a:pPr>
              <a:spcBef>
                <a:spcPts val="600"/>
              </a:spcBef>
              <a:spcAft>
                <a:spcPts val="600"/>
              </a:spcAft>
              <a:defRPr sz="1600"/>
            </a:pPr>
            <a:r>
              <a:t>Founded: 1968</a:t>
            </a:r>
          </a:p>
          <a:p>
            <a:pPr>
              <a:spcBef>
                <a:spcPts val="600"/>
              </a:spcBef>
              <a:spcAft>
                <a:spcPts val="600"/>
              </a:spcAft>
              <a:defRPr sz="1600"/>
            </a:pPr>
            <a:r>
              <a:t>Headquarters: Mumbai, India</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Tata Consultancy Services Limited (TCS) operates primarily in the technology sector, delivering innovative IT solutions across multiple geographic regions including the Americas, Europe, and India. The company's extensive portfolio includes platforms such as TCS ADD for life sciences, TCS BaNCS for financial services, and TCS OmniStore for retail. TCS focuses on leveraging advanced technologies such as AI and cloud computing to enhance its offerings and drive business growth. By continually evolving its service model and expanding its market reach, TCS is well-equipped to meet the dynamic needs of its diverse clientele.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₹260,802.01 Cr</a:t>
            </a:r>
          </a:p>
          <a:p>
            <a:pPr>
              <a:lnSpc>
                <a:spcPct val="120000"/>
              </a:lnSpc>
              <a:spcBef>
                <a:spcPts val="800"/>
              </a:spcBef>
              <a:spcAft>
                <a:spcPts val="800"/>
              </a:spcAft>
              <a:defRPr sz="1600"/>
            </a:pPr>
            <a:r>
              <a:t>Net Profit (TTM): ₹47,716.00 Cr</a:t>
            </a:r>
          </a:p>
          <a:p>
            <a:pPr>
              <a:lnSpc>
                <a:spcPct val="120000"/>
              </a:lnSpc>
              <a:spcBef>
                <a:spcPts val="800"/>
              </a:spcBef>
              <a:spcAft>
                <a:spcPts val="800"/>
              </a:spcAft>
              <a:defRPr sz="1600"/>
            </a:pPr>
            <a:r>
              <a:t>EBITDA: ₹68,208.00 Cr</a:t>
            </a:r>
          </a:p>
          <a:p>
            <a:pPr>
              <a:lnSpc>
                <a:spcPct val="120000"/>
              </a:lnSpc>
              <a:spcBef>
                <a:spcPts val="800"/>
              </a:spcBef>
              <a:spcAft>
                <a:spcPts val="800"/>
              </a:spcAft>
              <a:defRPr sz="1600"/>
            </a:pPr>
            <a:r>
              <a:t>EPS: ₹131.86</a:t>
            </a:r>
          </a:p>
          <a:p>
            <a:pPr>
              <a:lnSpc>
                <a:spcPct val="120000"/>
              </a:lnSpc>
              <a:spcBef>
                <a:spcPts val="800"/>
              </a:spcBef>
              <a:spcAft>
                <a:spcPts val="800"/>
              </a:spcAft>
              <a:defRPr sz="1600"/>
            </a:pPr>
            <a:r>
              <a:t>Dividend Yield: 2.25%</a:t>
            </a:r>
          </a:p>
          <a:p>
            <a:pPr>
              <a:lnSpc>
                <a:spcPct val="120000"/>
              </a:lnSpc>
              <a:spcBef>
                <a:spcPts val="800"/>
              </a:spcBef>
              <a:spcAft>
                <a:spcPts val="800"/>
              </a:spcAft>
              <a:defRPr sz="1600"/>
            </a:pPr>
            <a:r>
              <a:t>Payout Ratio: 94.00%</a:t>
            </a:r>
          </a:p>
          <a:p>
            <a:pPr>
              <a:lnSpc>
                <a:spcPct val="120000"/>
              </a:lnSpc>
              <a:spcBef>
                <a:spcPts val="800"/>
              </a:spcBef>
              <a:spcAft>
                <a:spcPts val="800"/>
              </a:spcAft>
              <a:defRPr sz="1600"/>
            </a:pPr>
            <a:r>
              <a:t>Total Assets: ₹66,829.00 Cr</a:t>
            </a:r>
          </a:p>
          <a:p>
            <a:pPr>
              <a:lnSpc>
                <a:spcPct val="120000"/>
              </a:lnSpc>
              <a:spcBef>
                <a:spcPts val="800"/>
              </a:spcBef>
              <a:spcAft>
                <a:spcPts val="800"/>
              </a:spcAft>
              <a:defRPr sz="1600"/>
            </a:pPr>
            <a:r>
              <a:t>Cash Balance: ₹56,743.00 Cr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Consultancy Services Limited exhibits a strong financial profile characterized by solid revenue growth and profitability. The company has achieved a remarkable net profit margin of 18.39% and an operating margin of 27.00%, indicating effective cost management and operational efficiency. With a PE ratio of 18.70 and a low debt-to-equity ratio of 0.01, TCS is well-positioned in terms of valuation and financial stability. The consistent cash flow generation, highlighted by an operating cash flow of ₹52,727.00 Cr, allows TCS to invest in growth initiatives while maintaining healthy returns to shareholders. Overall, TCS's financial metrics suggest a resilient business model capable of navigating economic fluctuations.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₹2,648.00</a:t>
            </a:r>
          </a:p>
          <a:p>
            <a:pPr>
              <a:lnSpc>
                <a:spcPct val="120000"/>
              </a:lnSpc>
              <a:spcBef>
                <a:spcPts val="800"/>
              </a:spcBef>
              <a:spcAft>
                <a:spcPts val="800"/>
              </a:spcAft>
              <a:defRPr sz="1600"/>
            </a:pPr>
            <a:r>
              <a:t>52-Week High: ₹3,710.00</a:t>
            </a:r>
          </a:p>
          <a:p>
            <a:pPr>
              <a:lnSpc>
                <a:spcPct val="120000"/>
              </a:lnSpc>
              <a:spcBef>
                <a:spcPts val="800"/>
              </a:spcBef>
              <a:spcAft>
                <a:spcPts val="800"/>
              </a:spcAft>
              <a:defRPr sz="1600"/>
            </a:pPr>
            <a:r>
              <a:t>52-Week Low: ₹2,561.30</a:t>
            </a:r>
          </a:p>
          <a:p>
            <a:pPr>
              <a:lnSpc>
                <a:spcPct val="120000"/>
              </a:lnSpc>
              <a:spcBef>
                <a:spcPts val="800"/>
              </a:spcBef>
              <a:spcAft>
                <a:spcPts val="800"/>
              </a:spcAft>
              <a:defRPr sz="1600"/>
            </a:pPr>
            <a:r>
              <a:t>Market Capitalization: ₹957,997.00 Cr</a:t>
            </a:r>
          </a:p>
          <a:p>
            <a:pPr>
              <a:lnSpc>
                <a:spcPct val="120000"/>
              </a:lnSpc>
              <a:spcBef>
                <a:spcPts val="800"/>
              </a:spcBef>
              <a:spcAft>
                <a:spcPts val="800"/>
              </a:spcAft>
              <a:defRPr sz="1600"/>
            </a:pPr>
            <a:r>
              <a:t>Beta (Volatility): 0.25</a:t>
            </a:r>
          </a:p>
          <a:p>
            <a:pPr>
              <a:lnSpc>
                <a:spcPct val="120000"/>
              </a:lnSpc>
              <a:spcBef>
                <a:spcPts val="800"/>
              </a:spcBef>
              <a:spcAft>
                <a:spcPts val="800"/>
              </a:spcAft>
              <a:defRPr sz="1600"/>
            </a:pPr>
            <a:r>
              <a:t>1 Year Change: -27.72%</a:t>
            </a:r>
          </a:p>
          <a:p>
            <a:pPr>
              <a:lnSpc>
                <a:spcPct val="120000"/>
              </a:lnSpc>
              <a:spcBef>
                <a:spcPts val="800"/>
              </a:spcBef>
              <a:spcAft>
                <a:spcPts val="800"/>
              </a:spcAft>
              <a:defRPr sz="1600"/>
            </a:pPr>
            <a:r>
              <a:t>5 Year CAGR: 27.00%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Promoter Holding: 71.77%</a:t>
            </a:r>
          </a:p>
          <a:p>
            <a:pPr>
              <a:spcBef>
                <a:spcPts val="600"/>
              </a:spcBef>
              <a:spcAft>
                <a:spcPts val="600"/>
              </a:spcAft>
              <a:defRPr sz="1600"/>
            </a:pPr>
            <a:r>
              <a:t>FII Holding: 10.37%</a:t>
            </a:r>
          </a:p>
          <a:p>
            <a:pPr>
              <a:spcBef>
                <a:spcPts val="600"/>
              </a:spcBef>
              <a:spcAft>
                <a:spcPts val="600"/>
              </a:spcAft>
              <a:defRPr sz="1600"/>
            </a:pPr>
            <a:r>
              <a:t>DII Holding: 12.81%</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Tata Consultancy Services holds a prominent position in the IT services industry, backed by a strong promoter holding of 71.77%. The competitive landscape includes major players such as Infosys and Wipro, yet TCS stands out due to its comprehensive service offerings and strategic investments in emerging technologies. The company's focus on AI and cloud solutions positions it favorably against competitors, enabling it to capture a larger market share and maintain growth momentum.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Sentiment Score: 39.0/100 (Bullish)</a:t>
            </a:r>
          </a:p>
          <a:p>
            <a:pPr>
              <a:lnSpc>
                <a:spcPct val="120000"/>
              </a:lnSpc>
              <a:spcBef>
                <a:spcPts val="800"/>
              </a:spcBef>
              <a:spcAft>
                <a:spcPts val="800"/>
              </a:spcAft>
              <a:defRPr sz="1600"/>
            </a:pPr>
            <a:r>
              <a:t>News Sentiment: 66.7/100 (Strongly Bullish)</a:t>
            </a:r>
          </a:p>
          <a:p>
            <a:pPr>
              <a:lnSpc>
                <a:spcPct val="120000"/>
              </a:lnSpc>
              <a:spcBef>
                <a:spcPts val="800"/>
              </a:spcBef>
              <a:spcAft>
                <a:spcPts val="800"/>
              </a:spcAft>
              <a:defRPr sz="1600"/>
            </a:pPr>
            <a:r>
              <a:t>Yahoo Finance Rating: 60.0/100 (Buy)</a:t>
            </a:r>
          </a:p>
          <a:p>
            <a:pPr>
              <a:lnSpc>
                <a:spcPct val="120000"/>
              </a:lnSpc>
              <a:spcBef>
                <a:spcPts val="800"/>
              </a:spcBef>
              <a:spcAft>
                <a:spcPts val="800"/>
              </a:spcAft>
              <a:defRPr sz="1600"/>
            </a:pPr>
            <a:r>
              <a:t>Twitter Sentiment: 16.1/100 (Bullish)</a:t>
            </a:r>
          </a:p>
          <a:p>
            <a:pPr>
              <a:lnSpc>
                <a:spcPct val="120000"/>
              </a:lnSpc>
              <a:spcBef>
                <a:spcPts val="800"/>
              </a:spcBef>
              <a:spcAft>
                <a:spcPts val="800"/>
              </a:spcAft>
              <a:defRPr sz="1600"/>
            </a:pPr>
            <a:r>
              <a:t>Positive Tweets: 37.5%, Negative: 18.8%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The future outlook for Tata Consultancy Services Limited is predominantly optimistic, with analysts projecting earnings growth of approximately 8.8% per annum and revenue growth of about 6.3% per annum. Key growth drivers include significant investments in AI and cloud infrastructure, which are expected to enhance service delivery and operational efficiency. Additionally, TCS's recent acquisitions and partnerships are set to expand its capabilities, particularly in the rapidly evolving digital landscape. With a strong focus on innovation and margin expansion, TCS is well-positioned to achieve a substantial increase in its stock price over the next 12-18 months, potentially trading 30-40% above current levels.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Buy Rating Based on Strong Fundamentals</a:t>
            </a:r>
          </a:p>
          <a:p>
            <a:pPr>
              <a:spcBef>
                <a:spcPts val="600"/>
              </a:spcBef>
              <a:spcAft>
                <a:spcPts val="600"/>
              </a:spcAft>
              <a:defRPr sz="1600"/>
            </a:pPr>
            <a:r>
              <a:t>Growth Potential from AI and Cloud Investments</a:t>
            </a:r>
          </a:p>
          <a:p>
            <a:pPr>
              <a:spcBef>
                <a:spcPts val="600"/>
              </a:spcBef>
              <a:spcAft>
                <a:spcPts val="600"/>
              </a:spcAft>
              <a:defRPr sz="1600"/>
            </a:pPr>
            <a:r>
              <a:t>Healthy Dividend Yield of 2.25%</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Given Tata Consultancy Services Limited's robust financial health, strong market position, and positive growth outlook, we recommend a 'Buy' rating for investors. The company’s strategic initiatives in AI and cloud computing are expected to drive future revenue and profitability, making it an attractive investment opportunity. Furthermore, TCS's commitment to returning value to shareholders through dividends enhances its appeal for long-term investors. As the technology landscape continues to evolve, TCS is poised to leverage its strengths to capture new growth opportunities.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Economic Slowdown Impact on IT Spending</a:t>
            </a:r>
          </a:p>
          <a:p>
            <a:pPr>
              <a:lnSpc>
                <a:spcPct val="120000"/>
              </a:lnSpc>
              <a:spcBef>
                <a:spcPts val="800"/>
              </a:spcBef>
              <a:spcAft>
                <a:spcPts val="800"/>
              </a:spcAft>
              <a:defRPr sz="1600"/>
            </a:pPr>
            <a:r>
              <a:t>Competition from Emerging Tech Firms</a:t>
            </a:r>
          </a:p>
          <a:p>
            <a:pPr>
              <a:lnSpc>
                <a:spcPct val="120000"/>
              </a:lnSpc>
              <a:spcBef>
                <a:spcPts val="800"/>
              </a:spcBef>
              <a:spcAft>
                <a:spcPts val="800"/>
              </a:spcAft>
              <a:defRPr sz="1600"/>
            </a:pPr>
            <a:r>
              <a:t>Regulatory Changes Affecting Operations</a:t>
            </a:r>
          </a:p>
          <a:p>
            <a:pPr>
              <a:lnSpc>
                <a:spcPct val="120000"/>
              </a:lnSpc>
              <a:spcBef>
                <a:spcPts val="800"/>
              </a:spcBef>
              <a:spcAft>
                <a:spcPts val="800"/>
              </a:spcAft>
              <a:defRPr sz="1600"/>
            </a:pPr>
            <a:r>
              <a:t>Potential Disruption from AI Technologies</a:t>
            </a:r>
          </a:p>
          <a:p>
            <a:pPr>
              <a:lnSpc>
                <a:spcPct val="120000"/>
              </a:lnSpc>
              <a:spcBef>
                <a:spcPts val="800"/>
              </a:spcBef>
              <a:spcAft>
                <a:spcPts val="800"/>
              </a:spcAft>
              <a:defRPr sz="1600"/>
            </a:pPr>
            <a:r>
              <a:t>Geopolitical Risks in Key Markets</a:t>
            </a:r>
          </a:p>
          <a:p>
            <a:pPr>
              <a:lnSpc>
                <a:spcPct val="120000"/>
              </a:lnSpc>
              <a:spcBef>
                <a:spcPts val="800"/>
              </a:spcBef>
              <a:spcAft>
                <a:spcPts val="800"/>
              </a:spcAft>
              <a:defRPr sz="1600"/>
            </a:pPr>
            <a:r>
              <a:t>Employee Layoffs and Hiring Trends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In conclusion, Tata Consultancy Services Limited presents a compelling investment case driven by its strong financial performance, strategic investments in technology, and positive market sentiment. However, investors should remain vigilant of the potential risks that could impact future performance. Moving forward, we recommend closely monitoring industry trends, financial metrics, and market sentiment to inform investment decisions. Engaging with TCS's announcements and analyzing competitive positioning will be crucial for making informed choices in this dynamic sector.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
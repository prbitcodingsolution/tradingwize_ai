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Steel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TATASTEEL.NS | February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Steel Limited, a leading player in the global steel industry, has established itself as a dominant force in the Basic Materials sector. Founded in 1907 and headquartered in Mumbai, India, the company specializes in the manufacture and distribution of a wide array of steel products. With a current sentiment classified as bullish, Tata Steel is poised for positive growth driven by strong domestic demand and strategic capacity expansions. The company's robust financial metrics, including a revenue of ₹225,087.93 Cr and a net profit of ₹9,168.94 Cr, underscore its operational strength. Investors should consider Tata Steel as a compelling investment opportunity given its promising outlook, recent price performance, and favorable market conditions.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1907, headquartered in Mumbai, India.</a:t>
            </a:r>
          </a:p>
          <a:p>
            <a:pPr>
              <a:spcBef>
                <a:spcPts val="600"/>
              </a:spcBef>
              <a:spcAft>
                <a:spcPts val="600"/>
              </a:spcAft>
              <a:defRPr sz="1600"/>
            </a:pPr>
            <a:r>
              <a:t>Sector: Basic Materials | Industry: Steel</a:t>
            </a:r>
          </a:p>
          <a:p>
            <a:pPr>
              <a:spcBef>
                <a:spcPts val="600"/>
              </a:spcBef>
              <a:spcAft>
                <a:spcPts val="600"/>
              </a:spcAft>
              <a:defRPr sz="1600"/>
            </a:pPr>
            <a:r>
              <a:t>CEO: Mr. Thachat Viswanath Narendran</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Steel Limited engages in the manufacture and distribution of a diverse range of steel products, including reinforcement bars, wire rods, and various coated coils. The company serves multiple industries such as automotive, construction, and energy, reflecting its broad geographic presence and robust business model. With a workforce of approximately 116,000 employees, Tata Steel operates not only in India but also internationally, positioning itself as a critical player in the global steel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₹225,087.93 Cr</a:t>
            </a:r>
          </a:p>
          <a:p>
            <a:pPr>
              <a:lnSpc>
                <a:spcPct val="120000"/>
              </a:lnSpc>
              <a:spcBef>
                <a:spcPts val="800"/>
              </a:spcBef>
              <a:spcAft>
                <a:spcPts val="800"/>
              </a:spcAft>
              <a:defRPr sz="1600"/>
            </a:pPr>
            <a:r>
              <a:t>Net Profit (TTM): ₹9,168.94 Cr</a:t>
            </a:r>
          </a:p>
          <a:p>
            <a:pPr>
              <a:lnSpc>
                <a:spcPct val="120000"/>
              </a:lnSpc>
              <a:spcBef>
                <a:spcPts val="800"/>
              </a:spcBef>
              <a:spcAft>
                <a:spcPts val="800"/>
              </a:spcAft>
              <a:defRPr sz="1600"/>
            </a:pPr>
            <a:r>
              <a:t>EBITDA: ₹29,218.29 Cr</a:t>
            </a:r>
          </a:p>
          <a:p>
            <a:pPr>
              <a:lnSpc>
                <a:spcPct val="120000"/>
              </a:lnSpc>
              <a:spcBef>
                <a:spcPts val="800"/>
              </a:spcBef>
              <a:spcAft>
                <a:spcPts val="800"/>
              </a:spcAft>
              <a:defRPr sz="1600"/>
            </a:pPr>
            <a:r>
              <a:t>EPS: ₹632.05</a:t>
            </a:r>
          </a:p>
          <a:p>
            <a:pPr>
              <a:lnSpc>
                <a:spcPct val="120000"/>
              </a:lnSpc>
              <a:spcBef>
                <a:spcPts val="800"/>
              </a:spcBef>
              <a:spcAft>
                <a:spcPts val="800"/>
              </a:spcAft>
              <a:defRPr sz="1600"/>
            </a:pPr>
            <a:r>
              <a:t>Dividend Yield: 177.00%</a:t>
            </a:r>
          </a:p>
          <a:p>
            <a:pPr>
              <a:lnSpc>
                <a:spcPct val="120000"/>
              </a:lnSpc>
              <a:spcBef>
                <a:spcPts val="800"/>
              </a:spcBef>
              <a:spcAft>
                <a:spcPts val="800"/>
              </a:spcAft>
              <a:defRPr sz="1600"/>
            </a:pPr>
            <a:r>
              <a:t>Total Assets: ₹265,269.00 Cr</a:t>
            </a:r>
          </a:p>
          <a:p>
            <a:pPr>
              <a:lnSpc>
                <a:spcPct val="120000"/>
              </a:lnSpc>
              <a:spcBef>
                <a:spcPts val="800"/>
              </a:spcBef>
              <a:spcAft>
                <a:spcPts val="800"/>
              </a:spcAft>
              <a:defRPr sz="1600"/>
            </a:pPr>
            <a:r>
              <a:t>Total Liabilities: ₹168,194.44 Cr</a:t>
            </a:r>
          </a:p>
          <a:p>
            <a:pPr>
              <a:lnSpc>
                <a:spcPct val="120000"/>
              </a:lnSpc>
              <a:spcBef>
                <a:spcPts val="800"/>
              </a:spcBef>
              <a:spcAft>
                <a:spcPts val="800"/>
              </a:spcAft>
              <a:defRPr sz="1600"/>
            </a:pPr>
            <a:r>
              <a:t>Market Capitalization: ₹259,464.31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Steel's financial health indicates a well-managed enterprise with increasing revenue and profitability. The company reported a total revenue of ₹225,087.93 Cr, yielding a robust net profit margin of 4.07%. With an EBITDA of ₹29,218.29 Cr, Tata Steel demonstrates strong operational efficiency. The company's PE ratio stands at an attractive 0.33, suggesting potential undervaluation relative to earnings. Despite a high debt-to-equity ratio of 99.70, Tata Steel's solid cash balance of ₹8,485.61 Cr provides a buffer against financial strain, positioning it for future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₹208.04</a:t>
            </a:r>
          </a:p>
          <a:p>
            <a:pPr>
              <a:lnSpc>
                <a:spcPct val="120000"/>
              </a:lnSpc>
              <a:spcBef>
                <a:spcPts val="800"/>
              </a:spcBef>
              <a:spcAft>
                <a:spcPts val="800"/>
              </a:spcAft>
              <a:defRPr sz="1600"/>
            </a:pPr>
            <a:r>
              <a:t>52-Week High: ₹211.10</a:t>
            </a:r>
          </a:p>
          <a:p>
            <a:pPr>
              <a:lnSpc>
                <a:spcPct val="120000"/>
              </a:lnSpc>
              <a:spcBef>
                <a:spcPts val="800"/>
              </a:spcBef>
              <a:spcAft>
                <a:spcPts val="800"/>
              </a:spcAft>
              <a:defRPr sz="1600"/>
            </a:pPr>
            <a:r>
              <a:t>52-Week Low: ₹125.30</a:t>
            </a:r>
          </a:p>
          <a:p>
            <a:pPr>
              <a:lnSpc>
                <a:spcPct val="120000"/>
              </a:lnSpc>
              <a:spcBef>
                <a:spcPts val="800"/>
              </a:spcBef>
              <a:spcAft>
                <a:spcPts val="800"/>
              </a:spcAft>
              <a:defRPr sz="1600"/>
            </a:pPr>
            <a:r>
              <a:t>Market Capitalization: ₹259,464.31 Cr</a:t>
            </a:r>
          </a:p>
          <a:p>
            <a:pPr>
              <a:lnSpc>
                <a:spcPct val="120000"/>
              </a:lnSpc>
              <a:spcBef>
                <a:spcPts val="800"/>
              </a:spcBef>
              <a:spcAft>
                <a:spcPts val="800"/>
              </a:spcAft>
              <a:defRPr sz="1600"/>
            </a:pPr>
            <a:r>
              <a:t>Beta (Volatility): 0.81</a:t>
            </a:r>
          </a:p>
          <a:p>
            <a:pPr>
              <a:lnSpc>
                <a:spcPct val="120000"/>
              </a:lnSpc>
              <a:spcBef>
                <a:spcPts val="800"/>
              </a:spcBef>
              <a:spcAft>
                <a:spcPts val="800"/>
              </a:spcAft>
              <a:defRPr sz="1600"/>
            </a:pPr>
            <a:r>
              <a:t>1-Year Change: 60.94%</a:t>
            </a:r>
          </a:p>
          <a:p>
            <a:pPr>
              <a:lnSpc>
                <a:spcPct val="120000"/>
              </a:lnSpc>
              <a:spcBef>
                <a:spcPts val="800"/>
              </a:spcBef>
              <a:spcAft>
                <a:spcPts val="800"/>
              </a:spcAft>
              <a:defRPr sz="1600"/>
            </a:pPr>
            <a:r>
              <a:t>Average Volume: 2.82 Cr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Tata Steel holds a market cap of ₹259,464.31 Cr.</a:t>
            </a:r>
          </a:p>
          <a:p>
            <a:pPr>
              <a:spcBef>
                <a:spcPts val="600"/>
              </a:spcBef>
              <a:spcAft>
                <a:spcPts val="600"/>
              </a:spcAft>
              <a:defRPr sz="1600"/>
            </a:pPr>
            <a:r>
              <a:t>Competitors include JSW Steel and Steel Authority of India.</a:t>
            </a:r>
          </a:p>
          <a:p>
            <a:pPr>
              <a:spcBef>
                <a:spcPts val="600"/>
              </a:spcBef>
              <a:spcAft>
                <a:spcPts val="600"/>
              </a:spcAft>
              <a:defRPr sz="1600"/>
            </a:pPr>
            <a:r>
              <a:t>Promoter holding stands at 34.55%.</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Steel Limited maintains a strong competitive position in the steel industry, with a market capitalization of ₹259,464.31 Cr. It competes with other industry giants such as JSW Steel, which has a market cap of ₹307,409.74 Cr, and Steel Authority of India, with a lower revenue profile. The company's significant promoter holding of 34.55% reflects confidence from its management and stakeholders, an essential factor for investors assessing long-term stability and growth potential.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57.0/100 (Bullish)</a:t>
            </a:r>
          </a:p>
          <a:p>
            <a:pPr>
              <a:lnSpc>
                <a:spcPct val="120000"/>
              </a:lnSpc>
              <a:spcBef>
                <a:spcPts val="800"/>
              </a:spcBef>
              <a:spcAft>
                <a:spcPts val="800"/>
              </a:spcAft>
              <a:defRPr sz="1600"/>
            </a:pPr>
            <a:r>
              <a:t>News Sentiment: 30/100 (Bullish)</a:t>
            </a:r>
          </a:p>
          <a:p>
            <a:pPr>
              <a:lnSpc>
                <a:spcPct val="120000"/>
              </a:lnSpc>
              <a:spcBef>
                <a:spcPts val="800"/>
              </a:spcBef>
              <a:spcAft>
                <a:spcPts val="800"/>
              </a:spcAft>
              <a:defRPr sz="1600"/>
            </a:pPr>
            <a:r>
              <a:t>Yahoo Finance Rating: 75/100 (Buy)</a:t>
            </a:r>
          </a:p>
          <a:p>
            <a:pPr>
              <a:lnSpc>
                <a:spcPct val="120000"/>
              </a:lnSpc>
              <a:spcBef>
                <a:spcPts val="800"/>
              </a:spcBef>
              <a:spcAft>
                <a:spcPts val="800"/>
              </a:spcAft>
              <a:defRPr sz="1600"/>
            </a:pPr>
            <a:r>
              <a:t>Twitter/X Sentiment: 75/100 (Bullish)</a:t>
            </a:r>
          </a:p>
          <a:p>
            <a:pPr>
              <a:lnSpc>
                <a:spcPct val="120000"/>
              </a:lnSpc>
              <a:spcBef>
                <a:spcPts val="800"/>
              </a:spcBef>
              <a:spcAft>
                <a:spcPts val="800"/>
              </a:spcAft>
              <a:defRPr sz="1600"/>
            </a:pPr>
            <a:r>
              <a:t>Positive Tweets: 70%, Negative: 10%</a:t>
            </a:r>
          </a:p>
          <a:p>
            <a:pPr>
              <a:lnSpc>
                <a:spcPct val="120000"/>
              </a:lnSpc>
              <a:spcBef>
                <a:spcPts val="800"/>
              </a:spcBef>
              <a:spcAft>
                <a:spcPts val="800"/>
              </a:spcAft>
              <a:defRPr sz="1600"/>
            </a:pPr>
            <a:r>
              <a:t>Analysts bullish on future EBITDA growth.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Steel Limited appears promising, driven by domestic market growth and strategic capacity expansions. Analysts project that the Indian segment will contribute around 72% of total volumes by FY28, enhancing profitability. The company is set to increase steelmaking capacity significantly over the next few years, which is expected to drive EBITDA growth by approximately 46% in FY26. Additionally, supportive government policies on import tariffs are likely to provide a favorable pricing environment domestically, further bolstering Tata Steel's market position.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market sentiment is bullish overall.</a:t>
            </a:r>
          </a:p>
          <a:p>
            <a:pPr>
              <a:spcBef>
                <a:spcPts val="600"/>
              </a:spcBef>
              <a:spcAft>
                <a:spcPts val="600"/>
              </a:spcAft>
              <a:defRPr sz="1600"/>
            </a:pPr>
            <a:r>
              <a:t>Strong financial metrics support growth potential.</a:t>
            </a:r>
          </a:p>
          <a:p>
            <a:pPr>
              <a:spcBef>
                <a:spcPts val="600"/>
              </a:spcBef>
              <a:spcAft>
                <a:spcPts val="600"/>
              </a:spcAft>
              <a:defRPr sz="1600"/>
            </a:pPr>
            <a:r>
              <a:t>Analysts recommend a buy with a target price of ₹230.</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bullish market sentiment and Tata Steel's solid financial performance, a buy recommendation is warranted for investors seeking exposure in the steel sector. The company’s strategic plans for capacity expansion coupled with anticipated EBITDA growth present a compelling investment case. Analysts have set a target price of ₹230, indicating a potential upside of approximately 31% from the current price level, making it an attractive opportunity for both short-term and long-term investors.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Weak demand and pricing pressure in European markets.</a:t>
            </a:r>
          </a:p>
          <a:p>
            <a:pPr>
              <a:lnSpc>
                <a:spcPct val="120000"/>
              </a:lnSpc>
              <a:spcBef>
                <a:spcPts val="800"/>
              </a:spcBef>
              <a:spcAft>
                <a:spcPts val="800"/>
              </a:spcAft>
              <a:defRPr sz="1600"/>
            </a:pPr>
            <a:r>
              <a:t>Challenges in UK operations impacting profitability.</a:t>
            </a:r>
          </a:p>
          <a:p>
            <a:pPr>
              <a:lnSpc>
                <a:spcPct val="120000"/>
              </a:lnSpc>
              <a:spcBef>
                <a:spcPts val="800"/>
              </a:spcBef>
              <a:spcAft>
                <a:spcPts val="800"/>
              </a:spcAft>
              <a:defRPr sz="1600"/>
            </a:pPr>
            <a:r>
              <a:t>High debt-to-equity ratio could pose financial risks.</a:t>
            </a:r>
          </a:p>
          <a:p>
            <a:pPr>
              <a:lnSpc>
                <a:spcPct val="120000"/>
              </a:lnSpc>
              <a:spcBef>
                <a:spcPts val="800"/>
              </a:spcBef>
              <a:spcAft>
                <a:spcPts val="800"/>
              </a:spcAft>
              <a:defRPr sz="1600"/>
            </a:pPr>
            <a:r>
              <a:t>Raw material cost volatility affecting margins.</a:t>
            </a:r>
          </a:p>
          <a:p>
            <a:pPr>
              <a:lnSpc>
                <a:spcPct val="120000"/>
              </a:lnSpc>
              <a:spcBef>
                <a:spcPts val="800"/>
              </a:spcBef>
              <a:spcAft>
                <a:spcPts val="800"/>
              </a:spcAft>
              <a:defRPr sz="1600"/>
            </a:pPr>
            <a:r>
              <a:t>Potential regulatory changes impacting operations.</a:t>
            </a:r>
          </a:p>
          <a:p>
            <a:pPr>
              <a:lnSpc>
                <a:spcPct val="120000"/>
              </a:lnSpc>
              <a:spcBef>
                <a:spcPts val="800"/>
              </a:spcBef>
              <a:spcAft>
                <a:spcPts val="800"/>
              </a:spcAft>
              <a:defRPr sz="1600"/>
            </a:pPr>
            <a:r>
              <a:t>Dependence on domestic market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Steel Limited presents a robust investment opportunity characterized by its strong financials and positive market sentiment. However, potential investors should remain cognizant of the risks associated with fluctuating market dynamics and operational challenges in Europe. The recommended next steps include monitoring the company's capacity expansion initiatives and global market conditions, along with periodic reviews of financial performance metrics. Engaging with the company's updates and analyst reports will further inform investment decisions in this promising stock.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
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400"/>
            </a:pPr>
            <a:r>
              <a:t>Tata Consultancy Services Limited (TCS) stands as a titan in the Information Technology Services sector, headquartered in Mumbai, India. With a robust workforce of over 600,000 employees, TCS is not only a leader in IT solutions but also a pioneer in digital transformation, particularly focusing on AI and cloud services. The company's diverse portfolio includes platforms for life sciences, financial services, and human resource management. Currently, TCS is experiencing a bullish sentiment in the market, driven by strong financial metrics and positive growth projections. Analysts have a consensus 'Strong-Buy' rating, underpinned by a projected revenue growth of approximately 6.3% per annum. This presentation will delve into TCS's financial performance, competitive positioning, and future growth drivers, making a compelling case for investment.</a:t>
            </a:r>
          </a:p>
          <a:p>
            <a:pPr algn="l">
              <a:lnSpc>
                <a:spcPct val="150000"/>
              </a:lnSpc>
              <a:spcAft>
                <a:spcPts val="1200"/>
              </a:spcAft>
              <a:defRPr sz="1400"/>
            </a:pPr>
          </a:p>
          <a:p>
            <a:pPr algn="l">
              <a:lnSpc>
                <a:spcPct val="150000"/>
              </a:lnSpc>
              <a:spcAft>
                <a:spcPts val="1200"/>
              </a:spcAft>
              <a:defRPr sz="1400"/>
            </a:pPr>
            <a:r>
              <a:t>टाटा कंसल्टेंसी सर्विसेज लिमिटेड (TCS) सूचना प्रौद्योगिकी सेवाओं के क्षेत्र में एक विशालकाय के रूप में खड़ा है, जिसका मुख्यालय मुंबई, भारत में है। 600,000 से अधिक कर्मचारियों की मजबूत कार्यबल के साथ, TCS न केवल IT समाधानों में एक नेता है बल्कि डिजिटल परिवर्तन में भी एक पायनियर है, विशेष रूप से AI और क्लाउड सेवाओं पर ध्यान केंद्रित करते हुए। कंपनी का विविध पोर्टफोलियो जीवन विज्ञान, वित्तीय सेवाओं और मानव संसाधन प्रबंधन के लिए प्लेटफार्मों को शामिल करता है। वर्तमान में, TCS बाजार में एक बुलिश भावना का अनुभव कर रहा है, जो मजबूत वित्तीय मेट्रिक्स और सकारात्मक विकास प्रक्षेपणों द्वारा संचालित है। विश्लेषकों का सहमति 'Strong-Buy' रेटिंग है, जो लगभग 6.3% प्रति वर्ष की अनुमानित राजस्व वृद्धि द्वारा समर्थित है। यह प्रस्तुति TCS के वित्तीय प्रदर्शन, प्रतिस्पर्धात्मक स्थिति, और भविष्य के विकास चालकों में गहराई से जाएगी, जो निवेश के लिए एक मजबूत मामला प्रस्तुत करती 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400"/>
              </a:spcBef>
              <a:spcAft>
                <a:spcPts val="400"/>
              </a:spcAft>
              <a:defRPr sz="1300"/>
            </a:pPr>
            <a:r>
              <a:t>• Sector: Technology</a:t>
            </a:r>
          </a:p>
          <a:p>
            <a:pPr>
              <a:spcBef>
                <a:spcPts val="400"/>
              </a:spcBef>
              <a:spcAft>
                <a:spcPts val="400"/>
              </a:spcAft>
              <a:defRPr sz="1300"/>
            </a:pPr>
            <a:r>
              <a:t>  क्षेत्र: प्रौद्योगिकी</a:t>
            </a:r>
          </a:p>
          <a:p>
            <a:pPr>
              <a:spcBef>
                <a:spcPts val="400"/>
              </a:spcBef>
              <a:spcAft>
                <a:spcPts val="400"/>
              </a:spcAft>
              <a:defRPr sz="1300"/>
            </a:pPr>
            <a:r>
              <a:t>• Founded: 1968</a:t>
            </a:r>
          </a:p>
          <a:p>
            <a:pPr>
              <a:spcBef>
                <a:spcPts val="400"/>
              </a:spcBef>
              <a:spcAft>
                <a:spcPts val="400"/>
              </a:spcAft>
              <a:defRPr sz="1300"/>
            </a:pPr>
            <a:r>
              <a:t>  स्थापित: 1968</a:t>
            </a:r>
          </a:p>
          <a:p>
            <a:pPr>
              <a:spcBef>
                <a:spcPts val="400"/>
              </a:spcBef>
              <a:spcAft>
                <a:spcPts val="400"/>
              </a:spcAft>
              <a:defRPr sz="1300"/>
            </a:pPr>
            <a:r>
              <a:t>• CEO: K Krithivasan</a:t>
            </a:r>
          </a:p>
          <a:p>
            <a:pPr>
              <a:spcBef>
                <a:spcPts val="400"/>
              </a:spcBef>
              <a:spcAft>
                <a:spcPts val="400"/>
              </a:spcAft>
              <a:defRPr sz="1300"/>
            </a:pPr>
            <a:r>
              <a:t>  सीईओ: के कृथिवासन</a:t>
            </a:r>
          </a:p>
          <a:p>
            <a:pPr>
              <a:spcBef>
                <a:spcPts val="400"/>
              </a:spcBef>
              <a:spcAft>
                <a:spcPts val="400"/>
              </a:spcAft>
              <a:defRPr sz="1300"/>
            </a:pPr>
            <a:r>
              <a:t>• Headquarters: Mumbai, India</a:t>
            </a:r>
          </a:p>
          <a:p>
            <a:pPr>
              <a:spcBef>
                <a:spcPts val="400"/>
              </a:spcBef>
              <a:spcAft>
                <a:spcPts val="400"/>
              </a:spcAft>
              <a:defRPr sz="1300"/>
            </a:pPr>
            <a:r>
              <a:t>  मुख्यालय: मुंबई, भारत</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200"/>
            </a:pPr>
            <a:r>
              <a:t>Tata Consultancy Services Limited is a global leader in IT services and consulting, providing comprehensive solutions across various sectors, including financial services, healthcare, and retail. The company operates a suite of advanced platforms tailored to meet the needs of its diverse clientele. TCS's innovative offerings such as TCS BaNCS and TCS ADD leverage cutting-edge technologies like AI and cloud computing to deliver exceptional value. With a strong geographic presence across the Americas, Europe, and Asia, TCS is well-positioned to capitalize on emerging technological trends and maintain its competitive edge.</a:t>
            </a:r>
          </a:p>
          <a:p>
            <a:pPr algn="l">
              <a:lnSpc>
                <a:spcPct val="140000"/>
              </a:lnSpc>
              <a:spcAft>
                <a:spcPts val="800"/>
              </a:spcAft>
              <a:defRPr sz="1200"/>
            </a:pPr>
          </a:p>
          <a:p>
            <a:pPr algn="l">
              <a:lnSpc>
                <a:spcPct val="140000"/>
              </a:lnSpc>
              <a:spcAft>
                <a:spcPts val="800"/>
              </a:spcAft>
              <a:defRPr sz="1200"/>
            </a:pPr>
            <a:r>
              <a:t>टाटा कंसल्टेंसी सर्विसेज लिमिटेड आईटी सेवाओं और परामर्श में एक वैश्विक नेता है, जो वित्तीय सेवाओं, स्वास्थ्य देखभाल और खुदरा सहित विभिन्न क्षेत्रों में व्यापक समाधान प्रदान करता है। कंपनी अपने विविध ग्राहक आधार की आवश्यकताओं को पूरा करने के लिए उन्नत प्लेटफार्मों का एक सेट संचालित करती है। TCS की अभिनव पेशकशें जैसे TCS BaNCS और TCS ADD अत्याधुनिक तकनीकों जैसे AI और क्लाउड कंप्यूटिंग का लाभ उठाकर असाधारण मूल्य प्रदान करती हैं। अमेरिका, यूरोप और एशिया में मजबूत भौगोलिक उपस्थिति के साथ, TCS उभरती तकनीकी प्रवृत्तियों का लाभ उठाने और अपनी प्रतिस्पर्धात्मक बढ़त बनाए रखने के लिए अच्छी स्थिति में 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600"/>
              </a:spcBef>
              <a:spcAft>
                <a:spcPts val="600"/>
              </a:spcAft>
              <a:defRPr sz="1400"/>
            </a:pPr>
            <a:r>
              <a:t>• Revenue (TTM): ₹260802.01 Cr</a:t>
            </a:r>
          </a:p>
          <a:p>
            <a:pPr>
              <a:lnSpc>
                <a:spcPct val="120000"/>
              </a:lnSpc>
              <a:spcBef>
                <a:spcPts val="600"/>
              </a:spcBef>
              <a:spcAft>
                <a:spcPts val="600"/>
              </a:spcAft>
              <a:defRPr sz="1400"/>
            </a:pPr>
            <a:r>
              <a:t>  राजस्व (TTM): ₹260802.01 Cr</a:t>
            </a:r>
          </a:p>
          <a:p>
            <a:pPr>
              <a:lnSpc>
                <a:spcPct val="120000"/>
              </a:lnSpc>
              <a:spcBef>
                <a:spcPts val="600"/>
              </a:spcBef>
              <a:spcAft>
                <a:spcPts val="600"/>
              </a:spcAft>
              <a:defRPr sz="1400"/>
            </a:pPr>
            <a:r>
              <a:t>• Net Profit (TTM): ₹47716.00 Cr</a:t>
            </a:r>
          </a:p>
          <a:p>
            <a:pPr>
              <a:lnSpc>
                <a:spcPct val="120000"/>
              </a:lnSpc>
              <a:spcBef>
                <a:spcPts val="600"/>
              </a:spcBef>
              <a:spcAft>
                <a:spcPts val="600"/>
              </a:spcAft>
              <a:defRPr sz="1400"/>
            </a:pPr>
            <a:r>
              <a:t>  शुद्ध लाभ (TTM): ₹47716.00 Cr</a:t>
            </a:r>
          </a:p>
          <a:p>
            <a:pPr>
              <a:lnSpc>
                <a:spcPct val="120000"/>
              </a:lnSpc>
              <a:spcBef>
                <a:spcPts val="600"/>
              </a:spcBef>
              <a:spcAft>
                <a:spcPts val="600"/>
              </a:spcAft>
              <a:defRPr sz="1400"/>
            </a:pPr>
            <a:r>
              <a:t>• EBITDA: ₹68208.00 Cr</a:t>
            </a:r>
          </a:p>
          <a:p>
            <a:pPr>
              <a:lnSpc>
                <a:spcPct val="120000"/>
              </a:lnSpc>
              <a:spcBef>
                <a:spcPts val="600"/>
              </a:spcBef>
              <a:spcAft>
                <a:spcPts val="600"/>
              </a:spcAft>
              <a:defRPr sz="1400"/>
            </a:pPr>
            <a:r>
              <a:t>  EBITDA: ₹68208.00 Cr</a:t>
            </a:r>
          </a:p>
          <a:p>
            <a:pPr>
              <a:lnSpc>
                <a:spcPct val="120000"/>
              </a:lnSpc>
              <a:spcBef>
                <a:spcPts val="600"/>
              </a:spcBef>
              <a:spcAft>
                <a:spcPts val="600"/>
              </a:spcAft>
              <a:defRPr sz="1400"/>
            </a:pPr>
            <a:r>
              <a:t>• EPS: ₹131.86</a:t>
            </a:r>
          </a:p>
          <a:p>
            <a:pPr>
              <a:lnSpc>
                <a:spcPct val="120000"/>
              </a:lnSpc>
              <a:spcBef>
                <a:spcPts val="600"/>
              </a:spcBef>
              <a:spcAft>
                <a:spcPts val="600"/>
              </a:spcAft>
              <a:defRPr sz="1400"/>
            </a:pPr>
            <a:r>
              <a:t>  EPS: ₹131.86</a:t>
            </a:r>
          </a:p>
          <a:p>
            <a:pPr>
              <a:lnSpc>
                <a:spcPct val="120000"/>
              </a:lnSpc>
              <a:spcBef>
                <a:spcPts val="600"/>
              </a:spcBef>
              <a:spcAft>
                <a:spcPts val="600"/>
              </a:spcAft>
              <a:defRPr sz="1400"/>
            </a:pPr>
            <a:r>
              <a:t>• Dividend Yield: 2.25%</a:t>
            </a:r>
          </a:p>
          <a:p>
            <a:pPr>
              <a:lnSpc>
                <a:spcPct val="120000"/>
              </a:lnSpc>
              <a:spcBef>
                <a:spcPts val="600"/>
              </a:spcBef>
              <a:spcAft>
                <a:spcPts val="600"/>
              </a:spcAft>
              <a:defRPr sz="1400"/>
            </a:pPr>
            <a:r>
              <a:t>  डिविडेंड यील्ड: 2.25%</a:t>
            </a:r>
          </a:p>
          <a:p>
            <a:pPr>
              <a:lnSpc>
                <a:spcPct val="120000"/>
              </a:lnSpc>
              <a:spcBef>
                <a:spcPts val="600"/>
              </a:spcBef>
              <a:spcAft>
                <a:spcPts val="600"/>
              </a:spcAft>
              <a:defRPr sz="1400"/>
            </a:pPr>
            <a:r>
              <a:t>• Debt-to-Equity Ratio: 0.01</a:t>
            </a:r>
          </a:p>
          <a:p>
            <a:pPr>
              <a:lnSpc>
                <a:spcPct val="120000"/>
              </a:lnSpc>
              <a:spcBef>
                <a:spcPts val="600"/>
              </a:spcBef>
              <a:spcAft>
                <a:spcPts val="600"/>
              </a:spcAft>
              <a:defRPr sz="1400"/>
            </a:pPr>
            <a:r>
              <a:t>  कर्ज-से-इक्विटी अनुपात: 0.01</a:t>
            </a:r>
          </a:p>
          <a:p>
            <a:pPr>
              <a:lnSpc>
                <a:spcPct val="120000"/>
              </a:lnSpc>
              <a:spcBef>
                <a:spcPts val="600"/>
              </a:spcBef>
              <a:spcAft>
                <a:spcPts val="600"/>
              </a:spcAft>
              <a:defRPr sz="1400"/>
            </a:pPr>
            <a:r>
              <a:t>• Profit Margin: 18.39%</a:t>
            </a:r>
          </a:p>
          <a:p>
            <a:pPr>
              <a:lnSpc>
                <a:spcPct val="120000"/>
              </a:lnSpc>
              <a:spcBef>
                <a:spcPts val="600"/>
              </a:spcBef>
              <a:spcAft>
                <a:spcPts val="600"/>
              </a:spcAft>
              <a:defRPr sz="1400"/>
            </a:pPr>
            <a:r>
              <a:t>  लाभ मार्जिन: 18.39%</a:t>
            </a:r>
          </a:p>
          <a:p>
            <a:pPr>
              <a:lnSpc>
                <a:spcPct val="120000"/>
              </a:lnSpc>
              <a:spcBef>
                <a:spcPts val="600"/>
              </a:spcBef>
              <a:spcAft>
                <a:spcPts val="600"/>
              </a:spcAft>
              <a:defRPr sz="1400"/>
            </a:pPr>
            <a:r>
              <a:t>• Operating Cash Flow: ₹52727.00 Cr</a:t>
            </a:r>
          </a:p>
          <a:p>
            <a:pPr>
              <a:lnSpc>
                <a:spcPct val="120000"/>
              </a:lnSpc>
              <a:spcBef>
                <a:spcPts val="600"/>
              </a:spcBef>
              <a:spcAft>
                <a:spcPts val="600"/>
              </a:spcAft>
              <a:defRPr sz="1400"/>
            </a:pPr>
            <a:r>
              <a:t>  ऑपरेटिंग कैश फ्लो: ₹52727.00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400"/>
            </a:pPr>
            <a:r>
              <a:t>Tata Consultancy Services Limited exhibits a strong financial health characterized by impressive revenue and profit margins. With a TTM revenue of ₹260,802.01 Crore and net profit of ₹47,716 Crore, TCS demonstrates robust operational efficiency. The EBITDA stands at ₹68,208 Crore, showcasing the company's ability to generate significant earnings before interest, taxes, depreciation, and amortization. Notably, a healthy profit margin of 18.39% reflects TCS's effective cost management strategies. Additionally, the company's low debt-to-equity ratio of 0.01 indicates minimal reliance on debt, further strengthening its financial stability. Overall, TCS is well-positioned for sustainable growth, backed by solid cash flow and profitability metrics.</a:t>
            </a:r>
          </a:p>
          <a:p>
            <a:pPr algn="l">
              <a:lnSpc>
                <a:spcPct val="150000"/>
              </a:lnSpc>
              <a:spcAft>
                <a:spcPts val="1200"/>
              </a:spcAft>
              <a:defRPr sz="1400"/>
            </a:pPr>
          </a:p>
          <a:p>
            <a:pPr algn="l">
              <a:lnSpc>
                <a:spcPct val="150000"/>
              </a:lnSpc>
              <a:spcAft>
                <a:spcPts val="1200"/>
              </a:spcAft>
              <a:defRPr sz="1400"/>
            </a:pPr>
            <a:r>
              <a:t>टाटा कंसल्टेंसी सर्विसेज लिमिटेड एक मजबूत वित्तीय स्वास्थ्य का प्रदर्शन करता है, जो प्रभावशाली राजस्व और लाभ मार्जिन द्वारा विशेषता है। TTM राजस्व ₹260,802.01 करोड़ और शुद्ध लाभ ₹47,716 करोड़ के साथ, TCS मजबूत परिचालन दक्षता को दर्शाता है। EBITDA ₹68,208 करोड़ पर है, जो कंपनी की ब्याज, कर, मूल्यह्रास और अमोर्टाइजेशन से पहले महत्वपूर्ण आय उत्पन्न करने की क्षमता को दर्शाता है। विशेष रूप से, 18.39% का स्वस्थ लाभ मार्जिन TCS की प्रभावी लागत प्रबंधन रणनीतियों को दर्शाता है। इसके अतिरिक्त, कंपनी का कम ऋण-से-इक्विटी अनुपात 0.01 न्यूनतम ऋण पर निर्भरता को इंगित करता है, जो इसकी वित्तीय स्थिरता को और मजबूत करता है। कुल मिलाकर, TCS टिकाऊ विकास के लिए अच्छी स्थिति में है, जो ठोस नकद प्रवाह और लाभप्रदता मेट्रिक्स द्वारा समर्थित 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600"/>
              </a:spcBef>
              <a:spcAft>
                <a:spcPts val="600"/>
              </a:spcAft>
              <a:defRPr sz="1400"/>
            </a:pPr>
            <a:r>
              <a:t>• Current Share Price: ₹2648.00</a:t>
            </a:r>
          </a:p>
          <a:p>
            <a:pPr>
              <a:lnSpc>
                <a:spcPct val="120000"/>
              </a:lnSpc>
              <a:spcBef>
                <a:spcPts val="600"/>
              </a:spcBef>
              <a:spcAft>
                <a:spcPts val="600"/>
              </a:spcAft>
              <a:defRPr sz="1400"/>
            </a:pPr>
            <a:r>
              <a:t>  वर्तमान शेयर मूल्य: ₹2648.00</a:t>
            </a:r>
          </a:p>
          <a:p>
            <a:pPr>
              <a:lnSpc>
                <a:spcPct val="120000"/>
              </a:lnSpc>
              <a:spcBef>
                <a:spcPts val="600"/>
              </a:spcBef>
              <a:spcAft>
                <a:spcPts val="600"/>
              </a:spcAft>
              <a:defRPr sz="1400"/>
            </a:pPr>
            <a:r>
              <a:t>• 52-Week High: ₹3710.00</a:t>
            </a:r>
          </a:p>
          <a:p>
            <a:pPr>
              <a:lnSpc>
                <a:spcPct val="120000"/>
              </a:lnSpc>
              <a:spcBef>
                <a:spcPts val="600"/>
              </a:spcBef>
              <a:spcAft>
                <a:spcPts val="600"/>
              </a:spcAft>
              <a:defRPr sz="1400"/>
            </a:pPr>
            <a:r>
              <a:t>  52-सप्ताह का उच्चतम: ₹3710.00</a:t>
            </a:r>
          </a:p>
          <a:p>
            <a:pPr>
              <a:lnSpc>
                <a:spcPct val="120000"/>
              </a:lnSpc>
              <a:spcBef>
                <a:spcPts val="600"/>
              </a:spcBef>
              <a:spcAft>
                <a:spcPts val="600"/>
              </a:spcAft>
              <a:defRPr sz="1400"/>
            </a:pPr>
            <a:r>
              <a:t>• 52-Week Low: ₹2561.30</a:t>
            </a:r>
          </a:p>
          <a:p>
            <a:pPr>
              <a:lnSpc>
                <a:spcPct val="120000"/>
              </a:lnSpc>
              <a:spcBef>
                <a:spcPts val="600"/>
              </a:spcBef>
              <a:spcAft>
                <a:spcPts val="600"/>
              </a:spcAft>
              <a:defRPr sz="1400"/>
            </a:pPr>
            <a:r>
              <a:t>  52-सप्ताह का न्यूनतम: ₹2561.30</a:t>
            </a:r>
          </a:p>
          <a:p>
            <a:pPr>
              <a:lnSpc>
                <a:spcPct val="120000"/>
              </a:lnSpc>
              <a:spcBef>
                <a:spcPts val="600"/>
              </a:spcBef>
              <a:spcAft>
                <a:spcPts val="600"/>
              </a:spcAft>
              <a:defRPr sz="1400"/>
            </a:pPr>
            <a:r>
              <a:t>• Market Capitalization: ₹957997.00 Cr</a:t>
            </a:r>
          </a:p>
          <a:p>
            <a:pPr>
              <a:lnSpc>
                <a:spcPct val="120000"/>
              </a:lnSpc>
              <a:spcBef>
                <a:spcPts val="600"/>
              </a:spcBef>
              <a:spcAft>
                <a:spcPts val="600"/>
              </a:spcAft>
              <a:defRPr sz="1400"/>
            </a:pPr>
            <a:r>
              <a:t>  बाजार पूंजीकरण: ₹957997.00 Cr</a:t>
            </a:r>
          </a:p>
          <a:p>
            <a:pPr>
              <a:lnSpc>
                <a:spcPct val="120000"/>
              </a:lnSpc>
              <a:spcBef>
                <a:spcPts val="600"/>
              </a:spcBef>
              <a:spcAft>
                <a:spcPts val="600"/>
              </a:spcAft>
              <a:defRPr sz="1400"/>
            </a:pPr>
            <a:r>
              <a:t>• Beta (Volatility): 0.25</a:t>
            </a:r>
          </a:p>
          <a:p>
            <a:pPr>
              <a:lnSpc>
                <a:spcPct val="120000"/>
              </a:lnSpc>
              <a:spcBef>
                <a:spcPts val="600"/>
              </a:spcBef>
              <a:spcAft>
                <a:spcPts val="600"/>
              </a:spcAft>
              <a:defRPr sz="1400"/>
            </a:pPr>
            <a:r>
              <a:t>  बीटा (अस्थिरता): 0.25</a:t>
            </a:r>
          </a:p>
          <a:p>
            <a:pPr>
              <a:lnSpc>
                <a:spcPct val="120000"/>
              </a:lnSpc>
              <a:spcBef>
                <a:spcPts val="600"/>
              </a:spcBef>
              <a:spcAft>
                <a:spcPts val="600"/>
              </a:spcAft>
              <a:defRPr sz="1400"/>
            </a:pPr>
            <a:r>
              <a:t>• 1-Year Change: -27.72%</a:t>
            </a:r>
          </a:p>
          <a:p>
            <a:pPr>
              <a:lnSpc>
                <a:spcPct val="120000"/>
              </a:lnSpc>
              <a:spcBef>
                <a:spcPts val="600"/>
              </a:spcBef>
              <a:spcAft>
                <a:spcPts val="600"/>
              </a:spcAft>
              <a:defRPr sz="1400"/>
            </a:pPr>
            <a:r>
              <a:t>  1-वर्ष का परिवर्तन: -27.72%</a:t>
            </a:r>
          </a:p>
          <a:p>
            <a:pPr>
              <a:lnSpc>
                <a:spcPct val="120000"/>
              </a:lnSpc>
              <a:spcBef>
                <a:spcPts val="600"/>
              </a:spcBef>
              <a:spcAft>
                <a:spcPts val="600"/>
              </a:spcAft>
              <a:defRPr sz="1400"/>
            </a:pPr>
            <a:r>
              <a:t>• 5-Year CAGR: 27.00%</a:t>
            </a:r>
          </a:p>
          <a:p>
            <a:pPr>
              <a:lnSpc>
                <a:spcPct val="120000"/>
              </a:lnSpc>
              <a:spcBef>
                <a:spcPts val="600"/>
              </a:spcBef>
              <a:spcAft>
                <a:spcPts val="600"/>
              </a:spcAft>
              <a:defRPr sz="1400"/>
            </a:pPr>
            <a:r>
              <a:t>  5-वर्ष का CAGR: 27.00%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400"/>
              </a:spcBef>
              <a:spcAft>
                <a:spcPts val="400"/>
              </a:spcAft>
              <a:defRPr sz="1300"/>
            </a:pPr>
            <a:r>
              <a:t>• Promoter Holding: 71.77%</a:t>
            </a:r>
          </a:p>
          <a:p>
            <a:pPr>
              <a:spcBef>
                <a:spcPts val="400"/>
              </a:spcBef>
              <a:spcAft>
                <a:spcPts val="400"/>
              </a:spcAft>
              <a:defRPr sz="1300"/>
            </a:pPr>
            <a:r>
              <a:t>  प्रमोटर होल्डिंग: 71.77%</a:t>
            </a:r>
          </a:p>
          <a:p>
            <a:pPr>
              <a:spcBef>
                <a:spcPts val="400"/>
              </a:spcBef>
              <a:spcAft>
                <a:spcPts val="400"/>
              </a:spcAft>
              <a:defRPr sz="1300"/>
            </a:pPr>
            <a:r>
              <a:t>• FII Holding: 10.37%</a:t>
            </a:r>
          </a:p>
          <a:p>
            <a:pPr>
              <a:spcBef>
                <a:spcPts val="400"/>
              </a:spcBef>
              <a:spcAft>
                <a:spcPts val="400"/>
              </a:spcAft>
              <a:defRPr sz="1300"/>
            </a:pPr>
            <a:r>
              <a:t>  एफआईआई होल्डिंग: 10.37%</a:t>
            </a:r>
          </a:p>
          <a:p>
            <a:pPr>
              <a:spcBef>
                <a:spcPts val="400"/>
              </a:spcBef>
              <a:spcAft>
                <a:spcPts val="400"/>
              </a:spcAft>
              <a:defRPr sz="1300"/>
            </a:pPr>
            <a:r>
              <a:t>• DII Holding: 12.81%</a:t>
            </a:r>
          </a:p>
          <a:p>
            <a:pPr>
              <a:spcBef>
                <a:spcPts val="400"/>
              </a:spcBef>
              <a:spcAft>
                <a:spcPts val="400"/>
              </a:spcAft>
              <a:defRPr sz="1300"/>
            </a:pPr>
            <a:r>
              <a:t>  डीआईआई होल्डिंग: 12.81%</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200"/>
            </a:pPr>
            <a:r>
              <a:t>Tata Consultancy Services holds a commanding position in the global IT services market, supported by significant promoter holdings of 71.77%. The company's strategic focus on innovation and customer-centric solutions has enabled it to maintain a competitive edge against peers. Additionally, TCS benefits from a healthy mix of institutional investments, with Foreign Institutional Investors (FII) and Domestic Institutional Investors (DII) holding 10.37% and 12.81% respectively. This strong backing from institutional investors reflects confidence in TCS's long-term growth prospects and financial stability.</a:t>
            </a:r>
          </a:p>
          <a:p>
            <a:pPr algn="l">
              <a:lnSpc>
                <a:spcPct val="140000"/>
              </a:lnSpc>
              <a:spcAft>
                <a:spcPts val="800"/>
              </a:spcAft>
              <a:defRPr sz="1200"/>
            </a:pPr>
          </a:p>
          <a:p>
            <a:pPr algn="l">
              <a:lnSpc>
                <a:spcPct val="140000"/>
              </a:lnSpc>
              <a:spcAft>
                <a:spcPts val="800"/>
              </a:spcAft>
              <a:defRPr sz="1200"/>
            </a:pPr>
            <a:r>
              <a:t>टाटा कंसल्टेंसी सर्विसेज वैश्विक आईटी सेवाओं के बाजार में एक मजबूत स्थिति रखती है, जिसका समर्थन 71.77% के महत्वपूर्ण प्रमोटर होल्डिंग्स द्वारा किया जाता है। कंपनी की नवाचार और ग्राहक-केंद्रित समाधानों पर रणनीतिक ध्यान ने इसे प्रतिस्पर्धियों के मुकाबले एक प्रतिस्पर्धात्मक बढ़त बनाए रखने में सक्षम बनाया है। इसके अतिरिक्त, TCS को संस्थागत निवेशों का एक स्वस्थ मिश्रण प्राप्त है, जिसमें विदेशी संस्थागत निवेशक (FII) और घरेलू संस्थागत निवेशक (DII) क्रमशः 10.37% और 12.81% होल्ड करते हैं। संस्थागत निवेशकों से यह मजबूत समर्थन TCS की दीर्घकालिक विकास संभावनाओं और वित्तीय स्थिरता में विश्वास को दर्शाता 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600"/>
              </a:spcBef>
              <a:spcAft>
                <a:spcPts val="600"/>
              </a:spcAft>
              <a:defRPr sz="1400"/>
            </a:pPr>
            <a:r>
              <a:t>• Overall Sentiment Score: 39.0/100 (Bullish)</a:t>
            </a:r>
          </a:p>
          <a:p>
            <a:pPr>
              <a:lnSpc>
                <a:spcPct val="120000"/>
              </a:lnSpc>
              <a:spcBef>
                <a:spcPts val="600"/>
              </a:spcBef>
              <a:spcAft>
                <a:spcPts val="600"/>
              </a:spcAft>
              <a:defRPr sz="1400"/>
            </a:pPr>
            <a:r>
              <a:t>  कुल भावना स्कोर: 39.0/100 (बुलिश)</a:t>
            </a:r>
          </a:p>
          <a:p>
            <a:pPr>
              <a:lnSpc>
                <a:spcPct val="120000"/>
              </a:lnSpc>
              <a:spcBef>
                <a:spcPts val="600"/>
              </a:spcBef>
              <a:spcAft>
                <a:spcPts val="600"/>
              </a:spcAft>
              <a:defRPr sz="1400"/>
            </a:pPr>
            <a:r>
              <a:t>• News Sentiment: 66.7/100 (Strongly Bullish)</a:t>
            </a:r>
          </a:p>
          <a:p>
            <a:pPr>
              <a:lnSpc>
                <a:spcPct val="120000"/>
              </a:lnSpc>
              <a:spcBef>
                <a:spcPts val="600"/>
              </a:spcBef>
              <a:spcAft>
                <a:spcPts val="600"/>
              </a:spcAft>
              <a:defRPr sz="1400"/>
            </a:pPr>
            <a:r>
              <a:t>  समाचार भावना: 66.7/100 (मजबूत बुलिश)</a:t>
            </a:r>
          </a:p>
          <a:p>
            <a:pPr>
              <a:lnSpc>
                <a:spcPct val="120000"/>
              </a:lnSpc>
              <a:spcBef>
                <a:spcPts val="600"/>
              </a:spcBef>
              <a:spcAft>
                <a:spcPts val="600"/>
              </a:spcAft>
              <a:defRPr sz="1400"/>
            </a:pPr>
            <a:r>
              <a:t>• Yahoo Finance Rating: 60.0/100 (Buy)</a:t>
            </a:r>
          </a:p>
          <a:p>
            <a:pPr>
              <a:lnSpc>
                <a:spcPct val="120000"/>
              </a:lnSpc>
              <a:spcBef>
                <a:spcPts val="600"/>
              </a:spcBef>
              <a:spcAft>
                <a:spcPts val="600"/>
              </a:spcAft>
              <a:defRPr sz="1400"/>
            </a:pPr>
            <a:r>
              <a:t>  Yahoo Finance रेटिंग: 60.0/100 (खरीदें)</a:t>
            </a:r>
          </a:p>
          <a:p>
            <a:pPr>
              <a:lnSpc>
                <a:spcPct val="120000"/>
              </a:lnSpc>
              <a:spcBef>
                <a:spcPts val="600"/>
              </a:spcBef>
              <a:spcAft>
                <a:spcPts val="600"/>
              </a:spcAft>
              <a:defRPr sz="1400"/>
            </a:pPr>
            <a:r>
              <a:t>• Twitter/X Sentiment: 16.1/100 (Bullish)</a:t>
            </a:r>
          </a:p>
          <a:p>
            <a:pPr>
              <a:lnSpc>
                <a:spcPct val="120000"/>
              </a:lnSpc>
              <a:spcBef>
                <a:spcPts val="600"/>
              </a:spcBef>
              <a:spcAft>
                <a:spcPts val="600"/>
              </a:spcAft>
              <a:defRPr sz="1400"/>
            </a:pPr>
            <a:r>
              <a:t>  Twitter/X भावना: 16.1/100 (बुलिश)</a:t>
            </a:r>
          </a:p>
          <a:p>
            <a:pPr>
              <a:lnSpc>
                <a:spcPct val="120000"/>
              </a:lnSpc>
              <a:spcBef>
                <a:spcPts val="600"/>
              </a:spcBef>
              <a:spcAft>
                <a:spcPts val="600"/>
              </a:spcAft>
              <a:defRPr sz="1400"/>
            </a:pPr>
            <a:r>
              <a:t>• Positive News on AI and employee growth</a:t>
            </a:r>
          </a:p>
          <a:p>
            <a:pPr>
              <a:lnSpc>
                <a:spcPct val="120000"/>
              </a:lnSpc>
              <a:spcBef>
                <a:spcPts val="600"/>
              </a:spcBef>
              <a:spcAft>
                <a:spcPts val="600"/>
              </a:spcAft>
              <a:defRPr sz="1400"/>
            </a:pPr>
            <a:r>
              <a:t>  AI और कर्मचारी वृद्धि पर सकारात्मक समाचार</a:t>
            </a:r>
          </a:p>
          <a:p>
            <a:pPr>
              <a:lnSpc>
                <a:spcPct val="120000"/>
              </a:lnSpc>
              <a:spcBef>
                <a:spcPts val="600"/>
              </a:spcBef>
              <a:spcAft>
                <a:spcPts val="600"/>
              </a:spcAft>
              <a:defRPr sz="1400"/>
            </a:pPr>
            <a:r>
              <a:t>• Analyst Target Price: ₹3,593 (33.7% upside)</a:t>
            </a:r>
          </a:p>
          <a:p>
            <a:pPr>
              <a:lnSpc>
                <a:spcPct val="120000"/>
              </a:lnSpc>
              <a:spcBef>
                <a:spcPts val="600"/>
              </a:spcBef>
              <a:spcAft>
                <a:spcPts val="600"/>
              </a:spcAft>
              <a:defRPr sz="1400"/>
            </a:pPr>
            <a:r>
              <a:t>  विश्लेषक लक्ष्य मूल्य: ₹3,593 (33.7% upside)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400"/>
            </a:pPr>
            <a:r>
              <a:t>The future outlook for Tata Consultancy Services is promising, driven by a consensus among analysts for continued growth and innovation. TCS is poised to invest approximately $6.5 billion in AI data centers, enhancing its capabilities in AI and cloud services. Recent acquisitions and strategic partnerships, such as with ServiceNow, are set to bolster its market position. Analysts project earnings growth of around 8.8% per annum and revenue growth of approximately 6.3% per annum, indicating robust demand for TCS's services. With a forecasted operating margin expansion to 26-28%, TCS is likely to see its stock price trade 30-40% higher than current levels in the next 12-18 months, pending macroeconomic stability.</a:t>
            </a:r>
          </a:p>
          <a:p>
            <a:pPr algn="l">
              <a:lnSpc>
                <a:spcPct val="150000"/>
              </a:lnSpc>
              <a:spcAft>
                <a:spcPts val="1200"/>
              </a:spcAft>
              <a:defRPr sz="1400"/>
            </a:pPr>
          </a:p>
          <a:p>
            <a:pPr algn="l">
              <a:lnSpc>
                <a:spcPct val="150000"/>
              </a:lnSpc>
              <a:spcAft>
                <a:spcPts val="1200"/>
              </a:spcAft>
              <a:defRPr sz="1400"/>
            </a:pPr>
            <a:r>
              <a:t>टाटा कंसल्टेंसी सर्विसेज का भविष्य का दृष्टिकोण आशाजनक है, जो विश्लेषकों के बीच निरंतर विकास और नवाचार के लिए सहमति से प्रेरित है। TCS लगभग $6.5 बिलियन का निवेश AI डेटा सेंटर में करने के लिए तैयार है, जिससे इसकी AI और क्लाउड सेवाओं में क्षमताएँ बढ़ेंगी। हाल की अधिग्रहण और रणनीतिक साझेदारियाँ, जैसे कि ServiceNow के साथ, इसके बाजार स्थिति को मजबूत करने के लिए निर्धारित हैं। विश्लेषकों का अनुमान है कि आय में लगभग 8.8% प्रति वर्ष वृद्धि और राजस्व में लगभग 6.3% प्रति वर्ष वृद्धि होगी, जो TCS की सेवाओं के लिए मजबूत मांग को दर्शाता है। 26-28% के अनुमानित परिचालन मार्जिन विस्तार के साथ, TCS की संभावना है कि इसके स्टॉक की कीमत अगले 12-18 महीनों में वर्तमान स्तरों से 30-40% अधिक व्यापार करेगी, जो मैक्रोइकोनॉमिक स्थिरता पर निर्भर करेगा।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400"/>
              </a:spcBef>
              <a:spcAft>
                <a:spcPts val="400"/>
              </a:spcAft>
              <a:defRPr sz="1300"/>
            </a:pPr>
            <a:r>
              <a:t>• Current valuation suggests strong upside potential.</a:t>
            </a:r>
          </a:p>
          <a:p>
            <a:pPr>
              <a:spcBef>
                <a:spcPts val="400"/>
              </a:spcBef>
              <a:spcAft>
                <a:spcPts val="400"/>
              </a:spcAft>
              <a:defRPr sz="1300"/>
            </a:pPr>
            <a:r>
              <a:t>  वर्तमान मूल्यांकन मजबूत upside संभावनाओं का संकेत देता है।</a:t>
            </a:r>
          </a:p>
          <a:p>
            <a:pPr>
              <a:spcBef>
                <a:spcPts val="400"/>
              </a:spcBef>
              <a:spcAft>
                <a:spcPts val="400"/>
              </a:spcAft>
              <a:defRPr sz="1300"/>
            </a:pPr>
            <a:r>
              <a:t>• Analyst consensus indicates a bullish outlook.</a:t>
            </a:r>
          </a:p>
          <a:p>
            <a:pPr>
              <a:spcBef>
                <a:spcPts val="400"/>
              </a:spcBef>
              <a:spcAft>
                <a:spcPts val="400"/>
              </a:spcAft>
              <a:defRPr sz="1300"/>
            </a:pPr>
            <a:r>
              <a:t>  विश्लेषक सहमति एक bullish दृष्टिकोण का संकेत देती है।</a:t>
            </a:r>
          </a:p>
          <a:p>
            <a:pPr>
              <a:spcBef>
                <a:spcPts val="400"/>
              </a:spcBef>
              <a:spcAft>
                <a:spcPts val="400"/>
              </a:spcAft>
              <a:defRPr sz="1300"/>
            </a:pPr>
            <a:r>
              <a:t>• Investment in AI and cloud positions TCS for future growth.</a:t>
            </a:r>
          </a:p>
          <a:p>
            <a:pPr>
              <a:spcBef>
                <a:spcPts val="400"/>
              </a:spcBef>
              <a:spcAft>
                <a:spcPts val="400"/>
              </a:spcAft>
              <a:defRPr sz="1300"/>
            </a:pPr>
            <a:r>
              <a:t>  AI और क्लाउड में निवेश TCS को भविष्य की वृद्धि के लिए तैयार करता है।</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200"/>
            </a:pPr>
            <a:r>
              <a:t>Given the current market dynamics and TCS's robust financial health, we recommend a 'Buy' position for investors looking to capitalize on the anticipated growth in the IT services sector. The company's strategic investments in AI and cloud technologies, coupled with a strong balance sheet and positive analyst sentiment, create a compelling investment case. With significant upside potential indicated by price targets from various analysts, TCS stands as a solid addition to any investment portfolio.</a:t>
            </a:r>
          </a:p>
          <a:p>
            <a:pPr algn="l">
              <a:lnSpc>
                <a:spcPct val="140000"/>
              </a:lnSpc>
              <a:spcAft>
                <a:spcPts val="800"/>
              </a:spcAft>
              <a:defRPr sz="1200"/>
            </a:pPr>
          </a:p>
          <a:p>
            <a:pPr algn="l">
              <a:lnSpc>
                <a:spcPct val="140000"/>
              </a:lnSpc>
              <a:spcAft>
                <a:spcPts val="800"/>
              </a:spcAft>
              <a:defRPr sz="1200"/>
            </a:pPr>
            <a:r>
              <a:t>वर्तमान बाजार की गतिशीलता और TCS की मजबूत वित्तीय स्थिति को देखते हुए, हम उन निवेशकों के लिए 'खरीदें' की सिफारिश करते हैं जो आईटी सेवाओं के क्षेत्र में अपेक्षित वृद्धि का लाभ उठाना चाहते हैं। कंपनी के AI और क्लाउड तकनीकों में रणनीतिक निवेश, मजबूत बैलेंस शीट और सकारात्मक विश्लेषक भावना के साथ, एक आकर्षक निवेश मामला बनाते हैं। विभिन्न विश्लेषकों द्वारा दिए गए मूल्य लक्ष्यों से संकेतित महत्वपूर्ण upside potential के साथ, TCS किसी भी निवेश पोर्टफोलियो में एक मजबूत जोड़ के रूप में खड़ा 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600"/>
              </a:spcBef>
              <a:spcAft>
                <a:spcPts val="600"/>
              </a:spcAft>
              <a:defRPr sz="1400"/>
            </a:pPr>
            <a:r>
              <a:t>• Potential layoffs amid economic uncertainties.</a:t>
            </a:r>
          </a:p>
          <a:p>
            <a:pPr>
              <a:lnSpc>
                <a:spcPct val="120000"/>
              </a:lnSpc>
              <a:spcBef>
                <a:spcPts val="600"/>
              </a:spcBef>
              <a:spcAft>
                <a:spcPts val="600"/>
              </a:spcAft>
              <a:defRPr sz="1400"/>
            </a:pPr>
            <a:r>
              <a:t>  आर्थिक अनिश्चितताओं के बीच संभावित छंटनी।</a:t>
            </a:r>
          </a:p>
          <a:p>
            <a:pPr>
              <a:lnSpc>
                <a:spcPct val="120000"/>
              </a:lnSpc>
              <a:spcBef>
                <a:spcPts val="600"/>
              </a:spcBef>
              <a:spcAft>
                <a:spcPts val="600"/>
              </a:spcAft>
              <a:defRPr sz="1400"/>
            </a:pPr>
            <a:r>
              <a:t>• Flat growth in non-AI revenue streams.</a:t>
            </a:r>
          </a:p>
          <a:p>
            <a:pPr>
              <a:lnSpc>
                <a:spcPct val="120000"/>
              </a:lnSpc>
              <a:spcBef>
                <a:spcPts val="600"/>
              </a:spcBef>
              <a:spcAft>
                <a:spcPts val="600"/>
              </a:spcAft>
              <a:defRPr sz="1400"/>
            </a:pPr>
            <a:r>
              <a:t>  गैर-AI राजस्व धाराओं में स्थिर वृद्धि।</a:t>
            </a:r>
          </a:p>
          <a:p>
            <a:pPr>
              <a:lnSpc>
                <a:spcPct val="120000"/>
              </a:lnSpc>
              <a:spcBef>
                <a:spcPts val="600"/>
              </a:spcBef>
              <a:spcAft>
                <a:spcPts val="600"/>
              </a:spcAft>
              <a:defRPr sz="1400"/>
            </a:pPr>
            <a:r>
              <a:t>• Market volatility leading to stock price fluctuations.</a:t>
            </a:r>
          </a:p>
          <a:p>
            <a:pPr>
              <a:lnSpc>
                <a:spcPct val="120000"/>
              </a:lnSpc>
              <a:spcBef>
                <a:spcPts val="600"/>
              </a:spcBef>
              <a:spcAft>
                <a:spcPts val="600"/>
              </a:spcAft>
              <a:defRPr sz="1400"/>
            </a:pPr>
            <a:r>
              <a:t>  बाजार की अस्थिरता के कारण स्टॉक की कीमतों में उतार-चढ़ाव।</a:t>
            </a:r>
          </a:p>
          <a:p>
            <a:pPr>
              <a:lnSpc>
                <a:spcPct val="120000"/>
              </a:lnSpc>
              <a:spcBef>
                <a:spcPts val="600"/>
              </a:spcBef>
              <a:spcAft>
                <a:spcPts val="600"/>
              </a:spcAft>
              <a:defRPr sz="1400"/>
            </a:pPr>
            <a:r>
              <a:t>• Global economic headwinds impacting client budgets.</a:t>
            </a:r>
          </a:p>
          <a:p>
            <a:pPr>
              <a:lnSpc>
                <a:spcPct val="120000"/>
              </a:lnSpc>
              <a:spcBef>
                <a:spcPts val="600"/>
              </a:spcBef>
              <a:spcAft>
                <a:spcPts val="600"/>
              </a:spcAft>
              <a:defRPr sz="1400"/>
            </a:pPr>
            <a:r>
              <a:t>  वैश्विक आर्थिक बाधाएं ग्राहक के बजट पर प्रभाव डाल रही हैं।</a:t>
            </a:r>
          </a:p>
          <a:p>
            <a:pPr>
              <a:lnSpc>
                <a:spcPct val="120000"/>
              </a:lnSpc>
              <a:spcBef>
                <a:spcPts val="600"/>
              </a:spcBef>
              <a:spcAft>
                <a:spcPts val="600"/>
              </a:spcAft>
              <a:defRPr sz="1400"/>
            </a:pPr>
            <a:r>
              <a:t>• AI disruption concerns affecting traditional service lines.</a:t>
            </a:r>
          </a:p>
          <a:p>
            <a:pPr>
              <a:lnSpc>
                <a:spcPct val="120000"/>
              </a:lnSpc>
              <a:spcBef>
                <a:spcPts val="600"/>
              </a:spcBef>
              <a:spcAft>
                <a:spcPts val="600"/>
              </a:spcAft>
              <a:defRPr sz="1400"/>
            </a:pPr>
            <a:r>
              <a:t>  AI के कारण पारंपरिक सेवा लाइनों पर चिंता।</a:t>
            </a:r>
          </a:p>
          <a:p>
            <a:pPr>
              <a:lnSpc>
                <a:spcPct val="120000"/>
              </a:lnSpc>
              <a:spcBef>
                <a:spcPts val="600"/>
              </a:spcBef>
              <a:spcAft>
                <a:spcPts val="600"/>
              </a:spcAft>
              <a:defRPr sz="1400"/>
            </a:pPr>
            <a:r>
              <a:t>• Regulatory challenges in global markets.</a:t>
            </a:r>
          </a:p>
          <a:p>
            <a:pPr>
              <a:lnSpc>
                <a:spcPct val="120000"/>
              </a:lnSpc>
              <a:spcBef>
                <a:spcPts val="600"/>
              </a:spcBef>
              <a:spcAft>
                <a:spcPts val="600"/>
              </a:spcAft>
              <a:defRPr sz="1400"/>
            </a:pPr>
            <a:r>
              <a:t>  वैश्विक बाजारों में नियामक चुनौतियाँ।</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400"/>
            </a:pPr>
            <a:r>
              <a:t>In conclusion, Tata Consultancy Services Limited presents a compelling investment opportunity amid a bullish market sentiment. The company's strong financial performance, strategic focus on AI and cloud technologies, and favorable analyst outlook position it well for future growth. However, potential risks, including economic uncertainties and market volatility, warrant careful consideration. We recommend investors closely monitor TCS's developments, particularly in AI initiatives and market performance, and consider initiating or adding to their positions as opportunities arise. Action items include reviewing analyst reports, staying updated on market trends, and evaluating individual investment strategies.</a:t>
            </a:r>
          </a:p>
          <a:p>
            <a:pPr algn="l">
              <a:lnSpc>
                <a:spcPct val="150000"/>
              </a:lnSpc>
              <a:spcAft>
                <a:spcPts val="1200"/>
              </a:spcAft>
              <a:defRPr sz="1400"/>
            </a:pPr>
          </a:p>
          <a:p>
            <a:pPr algn="l">
              <a:lnSpc>
                <a:spcPct val="150000"/>
              </a:lnSpc>
              <a:spcAft>
                <a:spcPts val="1200"/>
              </a:spcAft>
              <a:defRPr sz="1400"/>
            </a:pPr>
            <a:r>
              <a:t>अंत में, टाटा कंसल्टेंसी सर्विसेज लिमिटेड एक उत्साही बाजार भावना के बीच एक आकर्षक निवेश अवसर प्रस्तुत करता है। कंपनी का मजबूत वित्तीय प्रदर्शन, एआई और क्लाउड तकनीकों पर रणनीतिक ध्यान, और अनुकूल विश्लेषक दृष्टिकोण इसे भविष्य की वृद्धि के लिए अच्छी स्थिति में रखता है। हालांकि, संभावित जोखिम, जिसमें आर्थिक अनिश्चितताएँ और बाजार की अस्थिरता शामिल हैं, सावधानीपूर्वक विचार करने की आवश्यकता है। हम निवेशकों को सलाह देते हैं कि वे TCS के विकास पर करीबी नज़र रखें, विशेष रूप से एआई पहलों और बाजार प्रदर्शन में, और अवसरों के अनुसार अपनी स्थिति शुरू करने या बढ़ाने पर विचार करें। कार्रवाई के बिंदुओं में विश्लेषक रिपोर्टों की समीक्षा करना, बाजार के रुझानों पर अपडेट रहना, और व्यक्तिगत निवेश रणनीतियों का मूल्यांकन करना शामिल 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
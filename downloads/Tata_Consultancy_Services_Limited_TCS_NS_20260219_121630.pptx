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February 19,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(TCS) is a leading global IT services, consulting, and business solutions organization. Founded in 1968 and headquartered in Mumbai, India, TCS operates in various regions including the Americas, Europe, and India, providing a diverse range of services powered by innovative technologies. With a workforce of over 600,000 employees and a strong market capitalization of ₹980,248 crore, TCS has established itself as a leader in the technology sector. The current market sentiment is bullish, supported by strategic partnerships and increasing demand for AI-enabled services. Looking ahead, TCS is poised for growth, but investors should consider potential risks associated with market volatility and competition.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Sector: Technology</a:t>
            </a:r>
          </a:p>
          <a:p>
            <a:pPr>
              <a:spcBef>
                <a:spcPts val="600"/>
              </a:spcBef>
              <a:spcAft>
                <a:spcPts val="600"/>
              </a:spcAft>
              <a:defRPr sz="1600"/>
            </a:pPr>
            <a:r>
              <a:t>Industry: Information Technology Services</a:t>
            </a:r>
          </a:p>
          <a:p>
            <a:pPr>
              <a:spcBef>
                <a:spcPts val="600"/>
              </a:spcBef>
              <a:spcAft>
                <a:spcPts val="600"/>
              </a:spcAft>
              <a:defRPr sz="1600"/>
            </a:pPr>
            <a:r>
              <a:t>Geographic Presence: India and internationally</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Limited offers a comprehensive suite of IT and IT-enabled services across various business sectors. Key offerings include AI-powered platforms such as TCS ADD for life sciences, TCS BaNCS for financial services, and TCS iON for education. These innovative solutions enable clients to enhance operational efficiency and drive digital transformation. TCS's commitment to leveraging cutting-edge technology has positioned it as a trusted partner for enterprises looking to navigate the complexities of the digital landscape.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₹260,802.01 Cr</a:t>
            </a:r>
          </a:p>
          <a:p>
            <a:pPr>
              <a:lnSpc>
                <a:spcPct val="120000"/>
              </a:lnSpc>
              <a:spcBef>
                <a:spcPts val="800"/>
              </a:spcBef>
              <a:spcAft>
                <a:spcPts val="800"/>
              </a:spcAft>
              <a:defRPr sz="1600"/>
            </a:pPr>
            <a:r>
              <a:t>Net Profit (TTM): ₹47,716.00 Cr</a:t>
            </a:r>
          </a:p>
          <a:p>
            <a:pPr>
              <a:lnSpc>
                <a:spcPct val="120000"/>
              </a:lnSpc>
              <a:spcBef>
                <a:spcPts val="800"/>
              </a:spcBef>
              <a:spcAft>
                <a:spcPts val="800"/>
              </a:spcAft>
              <a:defRPr sz="1600"/>
            </a:pPr>
            <a:r>
              <a:t>EBITDA: ₹68,208.00 Cr</a:t>
            </a:r>
          </a:p>
          <a:p>
            <a:pPr>
              <a:lnSpc>
                <a:spcPct val="120000"/>
              </a:lnSpc>
              <a:spcBef>
                <a:spcPts val="800"/>
              </a:spcBef>
              <a:spcAft>
                <a:spcPts val="800"/>
              </a:spcAft>
              <a:defRPr sz="1600"/>
            </a:pPr>
            <a:r>
              <a:t>EPS: ₹131.78</a:t>
            </a:r>
          </a:p>
          <a:p>
            <a:pPr>
              <a:lnSpc>
                <a:spcPct val="120000"/>
              </a:lnSpc>
              <a:spcBef>
                <a:spcPts val="800"/>
              </a:spcBef>
              <a:spcAft>
                <a:spcPts val="800"/>
              </a:spcAft>
              <a:defRPr sz="1600"/>
            </a:pPr>
            <a:r>
              <a:t>Dividend Yield: 2.19%</a:t>
            </a:r>
          </a:p>
          <a:p>
            <a:pPr>
              <a:lnSpc>
                <a:spcPct val="120000"/>
              </a:lnSpc>
              <a:spcBef>
                <a:spcPts val="800"/>
              </a:spcBef>
              <a:spcAft>
                <a:spcPts val="800"/>
              </a:spcAft>
              <a:defRPr sz="1600"/>
            </a:pPr>
            <a:r>
              <a:t>Total Assets: ₹66,829.00 Cr</a:t>
            </a:r>
          </a:p>
          <a:p>
            <a:pPr>
              <a:lnSpc>
                <a:spcPct val="120000"/>
              </a:lnSpc>
              <a:spcBef>
                <a:spcPts val="800"/>
              </a:spcBef>
              <a:spcAft>
                <a:spcPts val="800"/>
              </a:spcAft>
              <a:defRPr sz="1600"/>
            </a:pPr>
            <a:r>
              <a:t>Debt-to-Equity Ratio: 0.01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has demonstrated robust financial health, with a total revenue of ₹260,802 crore and a net profit margin of 18.39%. The company's earnings per share (EPS) stands at ₹131.78, reflecting its strong profitability. The low debt-to-equity ratio of 0.01 indicates a conservative approach to leverage, which enhances its financial stability. Additionally, TCS's dividend yield of 2.19% showcases its commitment to returning value to shareholders. Despite recent market fluctuations and a decline in stock price over the past year, the company's strong fundamentals and operational efficiency suggest a positive long-term outlook.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₹2,709.00</a:t>
            </a:r>
          </a:p>
          <a:p>
            <a:pPr>
              <a:lnSpc>
                <a:spcPct val="120000"/>
              </a:lnSpc>
              <a:spcBef>
                <a:spcPts val="800"/>
              </a:spcBef>
              <a:spcAft>
                <a:spcPts val="800"/>
              </a:spcAft>
              <a:defRPr sz="1600"/>
            </a:pPr>
            <a:r>
              <a:t>52-Week High: ₹3,924.40</a:t>
            </a:r>
          </a:p>
          <a:p>
            <a:pPr>
              <a:lnSpc>
                <a:spcPct val="120000"/>
              </a:lnSpc>
              <a:spcBef>
                <a:spcPts val="800"/>
              </a:spcBef>
              <a:spcAft>
                <a:spcPts val="800"/>
              </a:spcAft>
              <a:defRPr sz="1600"/>
            </a:pPr>
            <a:r>
              <a:t>52-Week Low: ₹2,585.00</a:t>
            </a:r>
          </a:p>
          <a:p>
            <a:pPr>
              <a:lnSpc>
                <a:spcPct val="120000"/>
              </a:lnSpc>
              <a:spcBef>
                <a:spcPts val="800"/>
              </a:spcBef>
              <a:spcAft>
                <a:spcPts val="800"/>
              </a:spcAft>
              <a:defRPr sz="1600"/>
            </a:pPr>
            <a:r>
              <a:t>Market Capitalization: ₹980,248.00 Cr</a:t>
            </a:r>
          </a:p>
          <a:p>
            <a:pPr>
              <a:lnSpc>
                <a:spcPct val="120000"/>
              </a:lnSpc>
              <a:spcBef>
                <a:spcPts val="800"/>
              </a:spcBef>
              <a:spcAft>
                <a:spcPts val="800"/>
              </a:spcAft>
              <a:defRPr sz="1600"/>
            </a:pPr>
            <a:r>
              <a:t>Beta (Volatility): 0.25</a:t>
            </a:r>
          </a:p>
          <a:p>
            <a:pPr>
              <a:lnSpc>
                <a:spcPct val="120000"/>
              </a:lnSpc>
              <a:spcBef>
                <a:spcPts val="800"/>
              </a:spcBef>
              <a:spcAft>
                <a:spcPts val="800"/>
              </a:spcAft>
              <a:defRPr sz="1600"/>
            </a:pPr>
            <a:r>
              <a:t>1-Year Change: -28.38%</a:t>
            </a:r>
          </a:p>
          <a:p>
            <a:pPr>
              <a:lnSpc>
                <a:spcPct val="120000"/>
              </a:lnSpc>
              <a:spcBef>
                <a:spcPts val="800"/>
              </a:spcBef>
              <a:spcAft>
                <a:spcPts val="800"/>
              </a:spcAft>
              <a:defRPr sz="1600"/>
            </a:pPr>
            <a:r>
              <a:t>5-Year CAGR: 18.00%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Leading player in the IT services sector</a:t>
            </a:r>
          </a:p>
          <a:p>
            <a:pPr>
              <a:spcBef>
                <a:spcPts val="600"/>
              </a:spcBef>
              <a:spcAft>
                <a:spcPts val="600"/>
              </a:spcAft>
              <a:defRPr sz="1600"/>
            </a:pPr>
            <a:r>
              <a:t>Strong brand recognition and customer loyalty</a:t>
            </a:r>
          </a:p>
          <a:p>
            <a:pPr>
              <a:spcBef>
                <a:spcPts val="600"/>
              </a:spcBef>
              <a:spcAft>
                <a:spcPts val="600"/>
              </a:spcAft>
              <a:defRPr sz="1600"/>
            </a:pPr>
            <a:r>
              <a:t>Diverse service offerings across various industries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Limited holds a dominant position in the IT services industry, competing with major players like Infosys and Wipro. The company's extensive portfolio of services, coupled with its focus on innovation and customer-centric solutions, has enabled it to maintain a competitive edge. TCS's strategic partnerships, particularly in the realm of AI and cloud services, further enhance its market position. As enterprises increasingly adopt digital solutions, TCS is well-positioned to capitalize on these trends, driving sustained growth and profitability.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Market Sentiment Score: 39.0/100 (Bullish)</a:t>
            </a:r>
          </a:p>
          <a:p>
            <a:pPr>
              <a:lnSpc>
                <a:spcPct val="120000"/>
              </a:lnSpc>
              <a:spcBef>
                <a:spcPts val="800"/>
              </a:spcBef>
              <a:spcAft>
                <a:spcPts val="800"/>
              </a:spcAft>
              <a:defRPr sz="1600"/>
            </a:pPr>
            <a:r>
              <a:t>News Sentiment: 60/100 (Bullish)</a:t>
            </a:r>
          </a:p>
          <a:p>
            <a:pPr>
              <a:lnSpc>
                <a:spcPct val="120000"/>
              </a:lnSpc>
              <a:spcBef>
                <a:spcPts val="800"/>
              </a:spcBef>
              <a:spcAft>
                <a:spcPts val="800"/>
              </a:spcAft>
              <a:defRPr sz="1600"/>
            </a:pPr>
            <a:r>
              <a:t>Yahoo Finance Rating: 75/100 (Buy)</a:t>
            </a:r>
          </a:p>
          <a:p>
            <a:pPr>
              <a:lnSpc>
                <a:spcPct val="120000"/>
              </a:lnSpc>
              <a:spcBef>
                <a:spcPts val="800"/>
              </a:spcBef>
              <a:spcAft>
                <a:spcPts val="800"/>
              </a:spcAft>
              <a:defRPr sz="1600"/>
            </a:pPr>
            <a:r>
              <a:t>Twitter/X Sentiment: -25/100 (Bearish)</a:t>
            </a:r>
          </a:p>
          <a:p>
            <a:pPr>
              <a:lnSpc>
                <a:spcPct val="120000"/>
              </a:lnSpc>
              <a:spcBef>
                <a:spcPts val="800"/>
              </a:spcBef>
              <a:spcAft>
                <a:spcPts val="800"/>
              </a:spcAft>
              <a:defRPr sz="1600"/>
            </a:pPr>
            <a:r>
              <a:t>Positive Factors: Workforce expansion in AI skills</a:t>
            </a:r>
          </a:p>
          <a:p>
            <a:pPr>
              <a:lnSpc>
                <a:spcPct val="120000"/>
              </a:lnSpc>
              <a:spcBef>
                <a:spcPts val="800"/>
              </a:spcBef>
              <a:spcAft>
                <a:spcPts val="800"/>
              </a:spcAft>
              <a:defRPr sz="1600"/>
            </a:pPr>
            <a:r>
              <a:t>Negative Factors: Concerns over flat non-AI revenue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Tata Consultancy Services Limited is promising, with projected earnings growth of 8.8% CAGR and revenue growth of 6.3% CAGR over the next few years. The company is expected to benefit from its strong free cash flow generation and a commitment to shareholder returns through dividends and buybacks. TCS's aggressive focus on AI, including strategic partnerships with tech giants like OpenAI, positions it as a leader in the rapidly evolving AI landscape. However, investors should remain cautious of potential market volatility and the competitive pressures within the IT sector.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Strong buy recommendation based on fundamentals</a:t>
            </a:r>
          </a:p>
          <a:p>
            <a:pPr>
              <a:spcBef>
                <a:spcPts val="600"/>
              </a:spcBef>
              <a:spcAft>
                <a:spcPts val="600"/>
              </a:spcAft>
              <a:defRPr sz="1600"/>
            </a:pPr>
            <a:r>
              <a:t>Solid growth potential supported by AI initiatives</a:t>
            </a:r>
          </a:p>
          <a:p>
            <a:pPr>
              <a:spcBef>
                <a:spcPts val="600"/>
              </a:spcBef>
              <a:spcAft>
                <a:spcPts val="600"/>
              </a:spcAft>
              <a:defRPr sz="1600"/>
            </a:pPr>
            <a:r>
              <a:t>Low debt levels enhance financial stability</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robust financial metrics, positive market sentiment, and TCS's strategic positioning in the technology sector, we recommend a strong buy for Tata Consultancy Services Limited. The company's commitment to innovation, particularly in AI and digital transformation, presents significant growth opportunities. While investors should be aware of market fluctuations and competitive risks, TCS's solid fundamentals and market leadership make it a compelling investment choice for long-term growth.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Potential for increased competition in the IT sector</a:t>
            </a:r>
          </a:p>
          <a:p>
            <a:pPr>
              <a:lnSpc>
                <a:spcPct val="120000"/>
              </a:lnSpc>
              <a:spcBef>
                <a:spcPts val="800"/>
              </a:spcBef>
              <a:spcAft>
                <a:spcPts val="800"/>
              </a:spcAft>
              <a:defRPr sz="1600"/>
            </a:pPr>
            <a:r>
              <a:t>Economic downturns affecting client budgets</a:t>
            </a:r>
          </a:p>
          <a:p>
            <a:pPr>
              <a:lnSpc>
                <a:spcPct val="120000"/>
              </a:lnSpc>
              <a:spcBef>
                <a:spcPts val="800"/>
              </a:spcBef>
              <a:spcAft>
                <a:spcPts val="800"/>
              </a:spcAft>
              <a:defRPr sz="1600"/>
            </a:pPr>
            <a:r>
              <a:t>Regulatory changes impacting operations</a:t>
            </a:r>
          </a:p>
          <a:p>
            <a:pPr>
              <a:lnSpc>
                <a:spcPct val="120000"/>
              </a:lnSpc>
              <a:spcBef>
                <a:spcPts val="800"/>
              </a:spcBef>
              <a:spcAft>
                <a:spcPts val="800"/>
              </a:spcAft>
              <a:defRPr sz="1600"/>
            </a:pPr>
            <a:r>
              <a:t>Dependence on key clients for revenue</a:t>
            </a:r>
          </a:p>
          <a:p>
            <a:pPr>
              <a:lnSpc>
                <a:spcPct val="120000"/>
              </a:lnSpc>
              <a:spcBef>
                <a:spcPts val="800"/>
              </a:spcBef>
              <a:spcAft>
                <a:spcPts val="800"/>
              </a:spcAft>
              <a:defRPr sz="1600"/>
            </a:pPr>
            <a:r>
              <a:t>Fluctuations in currency impacting international earnings</a:t>
            </a:r>
          </a:p>
          <a:p>
            <a:pPr>
              <a:lnSpc>
                <a:spcPct val="120000"/>
              </a:lnSpc>
              <a:spcBef>
                <a:spcPts val="800"/>
              </a:spcBef>
              <a:spcAft>
                <a:spcPts val="800"/>
              </a:spcAft>
              <a:defRPr sz="1600"/>
            </a:pPr>
            <a:r>
              <a:t>Technology disruptions affecting service delivery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Tata Consultancy Services Limited represents a strong investment opportunity within the technology sector, driven by its innovative solutions and financial strength. As we move forward, potential investors should monitor the company's performance against its growth targets and remain vigilant regarding market conditions. The next steps involve assessing the impact of TCS's strategic partnerships and AI initiatives on its overall performance. Investors are encouraged to consider TCS for their portfolios, particularly those seeking exposure to the growing IT services landscape.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
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Steel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TATASTEEL.NS | February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Steel Limited, a leading steel producer founded in 1907 and headquartered in Mumbai, India, is a key player in the basic materials sector. The company operates with a diverse portfolio, manufacturing a variety of steel products that cater to multiple industries, including automotive, construction, and consumer goods. Despite its rich history and significant market presence, Tata Steel has recently not been selected for investment, reflecting concerns about its financial metrics and market performance. With a current market capitalization of ₹259,464.31 Cr and a relatively low PE ratio of 0.33, the stock may appear undervalued. However, the financial health indicators, including a profit margin of 4.07% and a notable debt-to-equity ratio of 99.70, warrant a cautious approach. Investors should consider both the potential for growth and inherent risks before making investment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1907, headquartered in Mumbai, India.</a:t>
            </a:r>
          </a:p>
          <a:p>
            <a:pPr>
              <a:spcBef>
                <a:spcPts val="600"/>
              </a:spcBef>
              <a:spcAft>
                <a:spcPts val="600"/>
              </a:spcAft>
              <a:defRPr sz="1600"/>
            </a:pPr>
            <a:r>
              <a:t>Employs approximately 1.16 L individuals globally.</a:t>
            </a:r>
          </a:p>
          <a:p>
            <a:pPr>
              <a:spcBef>
                <a:spcPts val="600"/>
              </a:spcBef>
              <a:spcAft>
                <a:spcPts val="600"/>
              </a:spcAft>
              <a:defRPr sz="1600"/>
            </a:pPr>
            <a:r>
              <a:t>Offers diversified steel products across various sectors.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Steel Limited is engaged in the manufacture and distribution of a wide range of steel products, including reinforcement bars, wire rods, and various coated steels. The company serves diverse sectors such as automotive, construction, and energy, allowing it to maintain a strong market presence. With a rich history dating back to 1907, Tata Steel's business model focuses on innovation, sustainability, and customer-centric solutions, which positions it favorably in the competitive landscape of the steel industry.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₹225,087.93 Cr</a:t>
            </a:r>
          </a:p>
          <a:p>
            <a:pPr>
              <a:lnSpc>
                <a:spcPct val="120000"/>
              </a:lnSpc>
              <a:spcBef>
                <a:spcPts val="800"/>
              </a:spcBef>
              <a:spcAft>
                <a:spcPts val="800"/>
              </a:spcAft>
              <a:defRPr sz="1600"/>
            </a:pPr>
            <a:r>
              <a:t>Net Profit (TTM): ₹9,168.94 Cr</a:t>
            </a:r>
          </a:p>
          <a:p>
            <a:pPr>
              <a:lnSpc>
                <a:spcPct val="120000"/>
              </a:lnSpc>
              <a:spcBef>
                <a:spcPts val="800"/>
              </a:spcBef>
              <a:spcAft>
                <a:spcPts val="800"/>
              </a:spcAft>
              <a:defRPr sz="1600"/>
            </a:pPr>
            <a:r>
              <a:t>EBITDA: ₹29,218.29 Cr</a:t>
            </a:r>
          </a:p>
          <a:p>
            <a:pPr>
              <a:lnSpc>
                <a:spcPct val="120000"/>
              </a:lnSpc>
              <a:spcBef>
                <a:spcPts val="800"/>
              </a:spcBef>
              <a:spcAft>
                <a:spcPts val="800"/>
              </a:spcAft>
              <a:defRPr sz="1600"/>
            </a:pPr>
            <a:r>
              <a:t>EPS: ₹632.05</a:t>
            </a:r>
          </a:p>
          <a:p>
            <a:pPr>
              <a:lnSpc>
                <a:spcPct val="120000"/>
              </a:lnSpc>
              <a:spcBef>
                <a:spcPts val="800"/>
              </a:spcBef>
              <a:spcAft>
                <a:spcPts val="800"/>
              </a:spcAft>
              <a:defRPr sz="1600"/>
            </a:pPr>
            <a:r>
              <a:t>Dividend Yield: 177.00%</a:t>
            </a:r>
          </a:p>
          <a:p>
            <a:pPr>
              <a:lnSpc>
                <a:spcPct val="120000"/>
              </a:lnSpc>
              <a:spcBef>
                <a:spcPts val="800"/>
              </a:spcBef>
              <a:spcAft>
                <a:spcPts val="800"/>
              </a:spcAft>
              <a:defRPr sz="1600"/>
            </a:pPr>
            <a:r>
              <a:t>Payout Ratio: 0.57%</a:t>
            </a:r>
          </a:p>
          <a:p>
            <a:pPr>
              <a:lnSpc>
                <a:spcPct val="120000"/>
              </a:lnSpc>
              <a:spcBef>
                <a:spcPts val="800"/>
              </a:spcBef>
              <a:spcAft>
                <a:spcPts val="800"/>
              </a:spcAft>
              <a:defRPr sz="1600"/>
            </a:pPr>
            <a:r>
              <a:t>Profit Margin: 4.07%</a:t>
            </a:r>
          </a:p>
          <a:p>
            <a:pPr>
              <a:lnSpc>
                <a:spcPct val="120000"/>
              </a:lnSpc>
              <a:spcBef>
                <a:spcPts val="800"/>
              </a:spcBef>
              <a:spcAft>
                <a:spcPts val="800"/>
              </a:spcAft>
              <a:defRPr sz="1600"/>
            </a:pPr>
            <a:r>
              <a:t>Operating Margin: 9.04%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Steel's financial health reflects a mixed outlook, characterized by solid revenue generation but significant debt obligations. With a total revenue of ₹225,087.93 Cr and a net profit of ₹9,168.94 Cr, the company demonstrates a capacity for profitability, although a profit margin of only 4.07% indicates challenges in cost management and competitive pricing. Moreover, the EBITDA of ₹29,218.29 Cr highlights strong operational cash flows, yet the debt-to-equity ratio of 99.70 raises concerns about financial leverage and sustainability. This high level of debt, combined with a low PE ratio of 0.33, suggests that while Tata Steel may be undervalued, potential investors should carefully assess the implications of its debt on future growth and profitability.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₹208.04</a:t>
            </a:r>
          </a:p>
          <a:p>
            <a:pPr>
              <a:lnSpc>
                <a:spcPct val="120000"/>
              </a:lnSpc>
              <a:spcBef>
                <a:spcPts val="800"/>
              </a:spcBef>
              <a:spcAft>
                <a:spcPts val="800"/>
              </a:spcAft>
              <a:defRPr sz="1600"/>
            </a:pPr>
            <a:r>
              <a:t>52-Week High: ₹211.10</a:t>
            </a:r>
          </a:p>
          <a:p>
            <a:pPr>
              <a:lnSpc>
                <a:spcPct val="120000"/>
              </a:lnSpc>
              <a:spcBef>
                <a:spcPts val="800"/>
              </a:spcBef>
              <a:spcAft>
                <a:spcPts val="800"/>
              </a:spcAft>
              <a:defRPr sz="1600"/>
            </a:pPr>
            <a:r>
              <a:t>52-Week Low: ₹125.30</a:t>
            </a:r>
          </a:p>
          <a:p>
            <a:pPr>
              <a:lnSpc>
                <a:spcPct val="120000"/>
              </a:lnSpc>
              <a:spcBef>
                <a:spcPts val="800"/>
              </a:spcBef>
              <a:spcAft>
                <a:spcPts val="800"/>
              </a:spcAft>
              <a:defRPr sz="1600"/>
            </a:pPr>
            <a:r>
              <a:t>Market Capitalization: ₹259,464.31 Cr</a:t>
            </a:r>
          </a:p>
          <a:p>
            <a:pPr>
              <a:lnSpc>
                <a:spcPct val="120000"/>
              </a:lnSpc>
              <a:spcBef>
                <a:spcPts val="800"/>
              </a:spcBef>
              <a:spcAft>
                <a:spcPts val="800"/>
              </a:spcAft>
              <a:defRPr sz="1600"/>
            </a:pPr>
            <a:r>
              <a:t>Beta (Volatility): 0.81</a:t>
            </a:r>
          </a:p>
          <a:p>
            <a:pPr>
              <a:lnSpc>
                <a:spcPct val="120000"/>
              </a:lnSpc>
              <a:spcBef>
                <a:spcPts val="800"/>
              </a:spcBef>
              <a:spcAft>
                <a:spcPts val="800"/>
              </a:spcAft>
              <a:defRPr sz="1600"/>
            </a:pPr>
            <a:r>
              <a:t>1-Year Change: 60.94%</a:t>
            </a:r>
          </a:p>
          <a:p>
            <a:pPr>
              <a:lnSpc>
                <a:spcPct val="120000"/>
              </a:lnSpc>
              <a:spcBef>
                <a:spcPts val="800"/>
              </a:spcBef>
              <a:spcAft>
                <a:spcPts val="800"/>
              </a:spcAft>
              <a:defRPr sz="1600"/>
            </a:pPr>
            <a:r>
              <a:t>5-Year CAGR: 4.00%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presence in the Indian steel market.</a:t>
            </a:r>
          </a:p>
          <a:p>
            <a:pPr>
              <a:spcBef>
                <a:spcPts val="600"/>
              </a:spcBef>
              <a:spcAft>
                <a:spcPts val="600"/>
              </a:spcAft>
              <a:defRPr sz="1600"/>
            </a:pPr>
            <a:r>
              <a:t>Competes with JSW Steel and Steel Authority of India.</a:t>
            </a:r>
          </a:p>
          <a:p>
            <a:pPr>
              <a:spcBef>
                <a:spcPts val="600"/>
              </a:spcBef>
              <a:spcAft>
                <a:spcPts val="600"/>
              </a:spcAft>
              <a:defRPr sz="1600"/>
            </a:pPr>
            <a:r>
              <a:t>34.55% Promoter Holding and 34.33% FII Holding.</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Steel operates in a highly competitive landscape, with major competitors like JSW Steel and Steel Authority of India. The company's strategic positioning, supported by a significant promoter and foreign institutional investor holdings, enhances its market credibility. As the Indian steel sector continues to grow, Tata Steel's robust product range and established market presence may provide it with competitive advantages. Nevertheless, investors must remain vigilant regarding market dynamics and competitive pressures that could impact Tata Steel's performance.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Sentiment data not available.</a:t>
            </a:r>
          </a:p>
          <a:p>
            <a:pPr>
              <a:lnSpc>
                <a:spcPct val="120000"/>
              </a:lnSpc>
              <a:spcBef>
                <a:spcPts val="800"/>
              </a:spcBef>
              <a:spcAft>
                <a:spcPts val="800"/>
              </a:spcAft>
              <a:defRPr sz="1600"/>
            </a:pPr>
            <a:r>
              <a:t>Stock needs further analytics for insights.</a:t>
            </a:r>
          </a:p>
          <a:p>
            <a:pPr>
              <a:lnSpc>
                <a:spcPct val="120000"/>
              </a:lnSpc>
              <a:spcBef>
                <a:spcPts val="800"/>
              </a:spcBef>
              <a:spcAft>
                <a:spcPts val="800"/>
              </a:spcAft>
              <a:defRPr sz="1600"/>
            </a:pPr>
            <a:r>
              <a:t>Current sentiment remains neutral.</a:t>
            </a:r>
          </a:p>
          <a:p>
            <a:pPr>
              <a:lnSpc>
                <a:spcPct val="120000"/>
              </a:lnSpc>
              <a:spcBef>
                <a:spcPts val="800"/>
              </a:spcBef>
              <a:spcAft>
                <a:spcPts val="800"/>
              </a:spcAft>
              <a:defRPr sz="1600"/>
            </a:pPr>
            <a:r>
              <a:t>Investor interest fluctuates based on financial metrics.</a:t>
            </a:r>
          </a:p>
          <a:p>
            <a:pPr>
              <a:lnSpc>
                <a:spcPct val="120000"/>
              </a:lnSpc>
              <a:spcBef>
                <a:spcPts val="800"/>
              </a:spcBef>
              <a:spcAft>
                <a:spcPts val="800"/>
              </a:spcAft>
              <a:defRPr sz="1600"/>
            </a:pPr>
            <a:r>
              <a:t>Market activity shows recent positive trends.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While specific future outlook metrics for Tata Steel are currently unavailable, the company's historical performance and market trends suggest several growth drivers. The increasing demand for steel in infrastructure projects and a rebound in construction activities post-pandemic may bolster Tata Steel's revenues. Furthermore, advancements in technology and a focus on sustainability can provide the company with opportunities to enhance operational efficiency and reduce costs. However, the ongoing challenges related to high debt levels and market volatility could hinder growth. Investors should monitor these factors closely as they assess Tata Steel's potential for long-term value creation.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stock price may indicate undervaluation.</a:t>
            </a:r>
          </a:p>
          <a:p>
            <a:pPr>
              <a:spcBef>
                <a:spcPts val="600"/>
              </a:spcBef>
              <a:spcAft>
                <a:spcPts val="600"/>
              </a:spcAft>
              <a:defRPr sz="1600"/>
            </a:pPr>
            <a:r>
              <a:t>High debt levels present significant risks.</a:t>
            </a:r>
          </a:p>
          <a:p>
            <a:pPr>
              <a:spcBef>
                <a:spcPts val="600"/>
              </a:spcBef>
              <a:spcAft>
                <a:spcPts val="600"/>
              </a:spcAft>
              <a:defRPr sz="1600"/>
            </a:pPr>
            <a:r>
              <a:t>Monitor market and financial trends closely.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current market conditions and Tata Steel's financial metrics, the stock presents a cautious investment opportunity. With a low PE ratio suggesting potential undervaluation, investors may find value in the stock. However, the significant debt burden and moderate profit margins necessitate a careful analysis of risk versus reward. It is advisable for investors to keep a close watch on market trends, operational efficiency improvements, and any shifts in the competitive landscape before making any commitment.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debt-to-equity ratio of 99.70.</a:t>
            </a:r>
          </a:p>
          <a:p>
            <a:pPr>
              <a:lnSpc>
                <a:spcPct val="120000"/>
              </a:lnSpc>
              <a:spcBef>
                <a:spcPts val="800"/>
              </a:spcBef>
              <a:spcAft>
                <a:spcPts val="800"/>
              </a:spcAft>
              <a:defRPr sz="1600"/>
            </a:pPr>
            <a:r>
              <a:t>Economic downturns could impact demand.</a:t>
            </a:r>
          </a:p>
          <a:p>
            <a:pPr>
              <a:lnSpc>
                <a:spcPct val="120000"/>
              </a:lnSpc>
              <a:spcBef>
                <a:spcPts val="800"/>
              </a:spcBef>
              <a:spcAft>
                <a:spcPts val="800"/>
              </a:spcAft>
              <a:defRPr sz="1600"/>
            </a:pPr>
            <a:r>
              <a:t>Fluctuations in raw material prices affect margins.</a:t>
            </a:r>
          </a:p>
          <a:p>
            <a:pPr>
              <a:lnSpc>
                <a:spcPct val="120000"/>
              </a:lnSpc>
              <a:spcBef>
                <a:spcPts val="800"/>
              </a:spcBef>
              <a:spcAft>
                <a:spcPts val="800"/>
              </a:spcAft>
              <a:defRPr sz="1600"/>
            </a:pPr>
            <a:r>
              <a:t>Regulatory changes may impact operations.</a:t>
            </a:r>
          </a:p>
          <a:p>
            <a:pPr>
              <a:lnSpc>
                <a:spcPct val="120000"/>
              </a:lnSpc>
              <a:spcBef>
                <a:spcPts val="800"/>
              </a:spcBef>
              <a:spcAft>
                <a:spcPts val="800"/>
              </a:spcAft>
              <a:defRPr sz="1600"/>
            </a:pPr>
            <a:r>
              <a:t>Intense competition from domestic and international players.</a:t>
            </a:r>
          </a:p>
          <a:p>
            <a:pPr>
              <a:lnSpc>
                <a:spcPct val="120000"/>
              </a:lnSpc>
              <a:spcBef>
                <a:spcPts val="800"/>
              </a:spcBef>
              <a:spcAft>
                <a:spcPts val="800"/>
              </a:spcAft>
              <a:defRPr sz="1600"/>
            </a:pPr>
            <a:r>
              <a:t>Operational risks related to production and supply chain.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Steel Limited presents a mixed investment case characterized by potential undervaluation and significant risks. Investors should be aware of the company's high debt levels and fluctuating profit margins, which pose challenges to financial stability. As the market evolves, it is imperative to stay updated on industry trends and company performance metrics. The next steps should include a thorough analysis of the company's operational strategies, monitoring market conditions, and considering alternative investments in the steel sector to ensure a well-balanced portfolio approach.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
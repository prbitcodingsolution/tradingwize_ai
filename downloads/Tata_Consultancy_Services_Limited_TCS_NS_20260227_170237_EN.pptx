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(TCS.NS)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stands as a prominent player in the technology sector, specializing in information technology and IT-enabled services globally. Founded in 1968 and headquartered in Mumbai, the company has cemented its position through a robust portfolio of AI-driven products and services, catering to diverse industries including finance and retail. With a current bullish market sentiment and a positive future outlook, TCS demonstrates strong financial health, as evidenced by its impressive revenue of ₹260,802.01 Crores and a net profit of ₹47,716.00 Crores. The company's strategic investments in AI and cloud technologies are expected to drive growth, while its high dividend yield of 2.26% presents an attractive proposition for investors. As TCS continues to adapt to market dynamics, it remains well-positioned to leverage emerging opportunities in the IT landscape.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headquartered in Mumbai, India.</a:t>
            </a:r>
          </a:p>
          <a:p>
            <a:pPr>
              <a:spcBef>
                <a:spcPts val="600"/>
              </a:spcBef>
              <a:spcAft>
                <a:spcPts val="600"/>
              </a:spcAft>
              <a:defRPr sz="1600"/>
            </a:pPr>
            <a:r>
              <a:t>Employs approximately 608,000 individuals worldwide.</a:t>
            </a:r>
          </a:p>
          <a:p>
            <a:pPr>
              <a:spcBef>
                <a:spcPts val="600"/>
              </a:spcBef>
              <a:spcAft>
                <a:spcPts val="600"/>
              </a:spcAft>
              <a:defRPr sz="1600"/>
            </a:pPr>
            <a:r>
              <a:t>Operates in various sectors with a strong focus on AI and cloud solutions.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offers a wide range of IT services and solutions, including AI-powered platforms like TCS ADD and TCS BaNCS. The company's diverse offerings enable it to meet the evolving needs of clients across multiple industries, from finance to retail. This adaptability, combined with a strong workforce skilled in emerging technologies, positions TCS as a competitive force in the global technology arena. With its commitment to innovation and operational efficiency, TCS continues to expand its market presence and deliver value to stakeholders.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Dividend Yield: 2.26%</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₹14,462.00 Cr</a:t>
            </a:r>
          </a:p>
          <a:p>
            <a:pPr>
              <a:lnSpc>
                <a:spcPct val="120000"/>
              </a:lnSpc>
              <a:spcBef>
                <a:spcPts val="800"/>
              </a:spcBef>
              <a:spcAft>
                <a:spcPts val="800"/>
              </a:spcAft>
              <a:defRPr sz="1600"/>
            </a:pPr>
            <a:r>
              <a:t>Market Capitalization: ₹953,873.00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showcases robust financial health, marked by a significant revenue of ₹260,802.01 Crores and a net profit margin of 18.39%. The company's EBITDA of ₹68,208.00 Crores indicates strong operational efficiency, while an EPS of ₹131.86 reflects its profitability per share. TCS maintains a solid balance sheet with total assets of ₹66,829.00 Crores against liabilities of ₹14,462.00 Crores, resulting in an exceptional debt-to-equity ratio of 0.01. This low leverage positions the company well for future growth while allowing it to sustain its high dividend payout ratio of 94%. Such metrics not only underline TCS's financial stability but also highlight its ability to generate cash flow and support shareholder returns.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₹2636.00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₹2561.30</a:t>
            </a:r>
          </a:p>
          <a:p>
            <a:pPr>
              <a:lnSpc>
                <a:spcPct val="120000"/>
              </a:lnSpc>
              <a:spcBef>
                <a:spcPts val="800"/>
              </a:spcBef>
              <a:spcAft>
                <a:spcPts val="800"/>
              </a:spcAft>
              <a:defRPr sz="1600"/>
            </a:pPr>
            <a:r>
              <a:t>Beta: 0.25 (low volatility)</a:t>
            </a:r>
          </a:p>
          <a:p>
            <a:pPr>
              <a:lnSpc>
                <a:spcPct val="120000"/>
              </a:lnSpc>
              <a:spcBef>
                <a:spcPts val="800"/>
              </a:spcBef>
              <a:spcAft>
                <a:spcPts val="800"/>
              </a:spcAft>
              <a:defRPr sz="1600"/>
            </a:pPr>
            <a:r>
              <a:t>1-Year Change: -27.93%</a:t>
            </a:r>
          </a:p>
          <a:p>
            <a:pPr>
              <a:lnSpc>
                <a:spcPct val="120000"/>
              </a:lnSpc>
              <a:spcBef>
                <a:spcPts val="800"/>
              </a:spcBef>
              <a:spcAft>
                <a:spcPts val="800"/>
              </a:spcAft>
              <a:defRPr sz="1600"/>
            </a:pPr>
            <a:r>
              <a:t>5-Year CAGR: 18.00%</a:t>
            </a:r>
          </a:p>
          <a:p>
            <a:pPr>
              <a:lnSpc>
                <a:spcPct val="120000"/>
              </a:lnSpc>
              <a:spcBef>
                <a:spcPts val="800"/>
              </a:spcBef>
              <a:spcAft>
                <a:spcPts val="800"/>
              </a:spcAft>
              <a:defRPr sz="1600"/>
            </a:pPr>
            <a:r>
              <a:t>Market Cap: ₹953,873.00 Cr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71.77%, indicating strong insider confidence.</a:t>
            </a:r>
          </a:p>
          <a:p>
            <a:pPr>
              <a:spcBef>
                <a:spcPts val="600"/>
              </a:spcBef>
              <a:spcAft>
                <a:spcPts val="600"/>
              </a:spcAft>
              <a:defRPr sz="1600"/>
            </a:pPr>
            <a:r>
              <a:t>FII and DII holdings at 10.37% and 12.81% respectively.</a:t>
            </a:r>
          </a:p>
          <a:p>
            <a:pPr>
              <a:spcBef>
                <a:spcPts val="600"/>
              </a:spcBef>
              <a:spcAft>
                <a:spcPts val="600"/>
              </a:spcAft>
              <a:defRPr sz="1600"/>
            </a:pPr>
            <a:r>
              <a:t>TCS is a leader in AI and cloud services, competing with major firms like Infosys and Wipro.</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In the competitive landscape, Tata Consultancy Services Limited stands out as a leader in the information technology space, particularly in AI and cloud computing. With a significant promoter holding of 71.77%, investor confidence remains high. Additionally, TCS's market strategies allow it to leverage its strong position against competitors such as Infosys and Wipro, which also focus on digital transformation. As the demand for innovative IT solutions continues to grow, TCS's proactive approach in expanding its service offerings and investing in technology will likely enhance its competitive advantage and market share.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31.9/100 (Bullish)</a:t>
            </a:r>
          </a:p>
          <a:p>
            <a:pPr>
              <a:lnSpc>
                <a:spcPct val="120000"/>
              </a:lnSpc>
              <a:spcBef>
                <a:spcPts val="800"/>
              </a:spcBef>
              <a:spcAft>
                <a:spcPts val="800"/>
              </a:spcAft>
              <a:defRPr sz="1600"/>
            </a:pPr>
            <a:r>
              <a:t>News Sentiment: 49.9/100 (Strongly Bullish)</a:t>
            </a:r>
          </a:p>
          <a:p>
            <a:pPr>
              <a:lnSpc>
                <a:spcPct val="120000"/>
              </a:lnSpc>
              <a:spcBef>
                <a:spcPts val="800"/>
              </a:spcBef>
              <a:spcAft>
                <a:spcPts val="800"/>
              </a:spcAft>
              <a:defRPr sz="1600"/>
            </a:pPr>
            <a:r>
              <a:t>Yahoo Finance Rating: 60.0/100 (Buy)</a:t>
            </a:r>
          </a:p>
          <a:p>
            <a:pPr>
              <a:lnSpc>
                <a:spcPct val="120000"/>
              </a:lnSpc>
              <a:spcBef>
                <a:spcPts val="800"/>
              </a:spcBef>
              <a:spcAft>
                <a:spcPts val="800"/>
              </a:spcAft>
              <a:defRPr sz="1600"/>
            </a:pPr>
            <a:r>
              <a:t>Positive Tweets: 35.3%, Negative: 29.4%, Neutral: 35.3%</a:t>
            </a:r>
          </a:p>
          <a:p>
            <a:pPr>
              <a:lnSpc>
                <a:spcPct val="120000"/>
              </a:lnSpc>
              <a:spcBef>
                <a:spcPts val="800"/>
              </a:spcBef>
              <a:spcAft>
                <a:spcPts val="800"/>
              </a:spcAft>
              <a:defRPr sz="1600"/>
            </a:pPr>
            <a:r>
              <a:t>Analyst Target Price: ₹3,593 (upside of 33.7%)</a:t>
            </a:r>
          </a:p>
          <a:p>
            <a:pPr>
              <a:lnSpc>
                <a:spcPct val="120000"/>
              </a:lnSpc>
              <a:spcBef>
                <a:spcPts val="800"/>
              </a:spcBef>
              <a:spcAft>
                <a:spcPts val="800"/>
              </a:spcAft>
              <a:defRPr sz="1600"/>
            </a:pPr>
            <a:r>
              <a:t>Current sentiment influenced by AI workforce expansion.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Looking ahead, Tata Consultancy Services Limited is well-positioned to capitalize on emerging trends in the technology sector, particularly in artificial intelligence and cloud computing. Analysts project an 8.8% CAGR in earnings and 6.3% CAGR in revenue over the next three to five years, driven by the company's strategic focus on high-value services and margin expansion. The anticipated return on equity (ROE) of 44.7% further underscores TCS's potential for strong profitability. With robust cash generation forecasted, TCS is expected to maintain its dividend policy while exploring opportunities for strategic acquisitions and organic growth. The consensus among analysts is a 'Buy' rating, suggesting that TCS will likely deliver significant upside to investors in the coming years as the company continues to innovate and expand its capabilities.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Buy recommendation based on strong financial metrics.</a:t>
            </a:r>
          </a:p>
          <a:p>
            <a:pPr>
              <a:spcBef>
                <a:spcPts val="600"/>
              </a:spcBef>
              <a:spcAft>
                <a:spcPts val="600"/>
              </a:spcAft>
              <a:defRPr sz="1600"/>
            </a:pPr>
            <a:r>
              <a:t>High growth potential in AI and cloud services.</a:t>
            </a:r>
          </a:p>
          <a:p>
            <a:pPr>
              <a:spcBef>
                <a:spcPts val="600"/>
              </a:spcBef>
              <a:spcAft>
                <a:spcPts val="600"/>
              </a:spcAft>
              <a:defRPr sz="1600"/>
            </a:pPr>
            <a:r>
              <a:t>Dividend yield of 2.26% provides attractive income.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robust financial performance and positive market sentiment surrounding Tata Consultancy Services Limited, a 'Buy' recommendation is warranted. The company's strong fundamentals, including a significant dividend yield of 2.26% and a solid balance sheet, position it favorably for both growth and income investors. With continued investments in AI and digital transformation, TCS is set to capture market share and enhance profitability. As analysts project substantial upside potential, investing in TCS represents a compelling opportunity for those seeking long-term growth in the technology sector.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Regulatory changes in global markets could impact operations.</a:t>
            </a:r>
          </a:p>
          <a:p>
            <a:pPr>
              <a:lnSpc>
                <a:spcPct val="120000"/>
              </a:lnSpc>
              <a:spcBef>
                <a:spcPts val="800"/>
              </a:spcBef>
              <a:spcAft>
                <a:spcPts val="800"/>
              </a:spcAft>
              <a:defRPr sz="1600"/>
            </a:pPr>
            <a:r>
              <a:t>Increasing competition in AI and cloud sectors may pressure margins.</a:t>
            </a:r>
          </a:p>
          <a:p>
            <a:pPr>
              <a:lnSpc>
                <a:spcPct val="120000"/>
              </a:lnSpc>
              <a:spcBef>
                <a:spcPts val="800"/>
              </a:spcBef>
              <a:spcAft>
                <a:spcPts val="800"/>
              </a:spcAft>
              <a:defRPr sz="1600"/>
            </a:pPr>
            <a:r>
              <a:t>Economic downturns could reduce IT spending by clients.</a:t>
            </a:r>
          </a:p>
          <a:p>
            <a:pPr>
              <a:lnSpc>
                <a:spcPct val="120000"/>
              </a:lnSpc>
              <a:spcBef>
                <a:spcPts val="800"/>
              </a:spcBef>
              <a:spcAft>
                <a:spcPts val="800"/>
              </a:spcAft>
              <a:defRPr sz="1600"/>
            </a:pPr>
            <a:r>
              <a:t>High payout ratio raises concerns over dividend sustainability.</a:t>
            </a:r>
          </a:p>
          <a:p>
            <a:pPr>
              <a:lnSpc>
                <a:spcPct val="120000"/>
              </a:lnSpc>
              <a:spcBef>
                <a:spcPts val="800"/>
              </a:spcBef>
              <a:spcAft>
                <a:spcPts val="800"/>
              </a:spcAft>
              <a:defRPr sz="1600"/>
            </a:pPr>
            <a:r>
              <a:t>Market volatility could affect stock performance.</a:t>
            </a:r>
          </a:p>
          <a:p>
            <a:pPr>
              <a:lnSpc>
                <a:spcPct val="120000"/>
              </a:lnSpc>
              <a:spcBef>
                <a:spcPts val="800"/>
              </a:spcBef>
              <a:spcAft>
                <a:spcPts val="800"/>
              </a:spcAft>
              <a:defRPr sz="1600"/>
            </a:pPr>
            <a:r>
              <a:t>Geopolitical tensions may disrupt supply chains and client relationships.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offers a promising investment opportunity characterized by strong financial health, a robust market position, and a positive outlook driven by strategic investments in technology. While there are inherent risks to consider, the potential for significant growth and returns makes TCS a compelling choice for investors. Next steps include monitoring market trends closely, evaluating TCS's quarterly performance, and considering the timing of entry into the stock. As the technology landscape evolves, staying informed will be crucial for maximizing investment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
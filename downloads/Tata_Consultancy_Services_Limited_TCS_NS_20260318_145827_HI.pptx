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3366"/>
        </a:solidFill>
        <a:effectLst/>
      </p:bgPr>
    </p:bg>
    <p:spTree>
      <p:nvGrpSpPr>
        <p:cNvPr id="1" name=""/>
        <p:cNvGrpSpPr/>
        <p:nvPr/>
      </p:nvGrpSpPr>
      <p:grpSpPr/>
      <p:sp>
        <p:nvSpPr>
          <p:cNvPr id="2" name="TextBox 1"/>
          <p:cNvSpPr txBox="1"/>
          <p:nvPr/>
        </p:nvSpPr>
        <p:spPr>
          <a:xfrm>
            <a:off x="457200" y="2286000"/>
            <a:ext cx="11277295" cy="1371600"/>
          </a:xfrm>
          <a:prstGeom prst="rect">
            <a:avLst/>
          </a:prstGeom>
          <a:noFill/>
        </p:spPr>
        <p:txBody>
          <a:bodyPr wrap="none">
            <a:spAutoFit/>
          </a:bodyPr>
          <a:lstStyle/>
          <a:p>
            <a:pPr algn="ctr">
              <a:defRPr sz="4400" b="1">
                <a:solidFill>
                  <a:srgbClr val="FFFFFF"/>
                </a:solidFill>
              </a:defRPr>
            </a:pPr>
            <a:r>
              <a:t>Tata Consultancy Services Limited (TCS.NS) - Stock Analysis</a:t>
            </a:r>
          </a:p>
        </p:txBody>
      </p:sp>
      <p:sp>
        <p:nvSpPr>
          <p:cNvPr id="3" name="TextBox 2"/>
          <p:cNvSpPr txBox="1"/>
          <p:nvPr/>
        </p:nvSpPr>
        <p:spPr>
          <a:xfrm>
            <a:off x="457200" y="3840480"/>
            <a:ext cx="11277295" cy="731520"/>
          </a:xfrm>
          <a:prstGeom prst="rect">
            <a:avLst/>
          </a:prstGeom>
          <a:noFill/>
        </p:spPr>
        <p:txBody>
          <a:bodyPr wrap="none">
            <a:spAutoFit/>
          </a:bodyPr>
          <a:lstStyle/>
          <a:p>
            <a:pPr algn="ctr">
              <a:defRPr sz="2400">
                <a:solidFill>
                  <a:srgbClr val="C8C8C8"/>
                </a:solidFill>
              </a:defRPr>
            </a:pPr>
            <a:r>
              <a:t>TCS.NS | March 18,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Executive Summary</a:t>
            </a:r>
          </a:p>
        </p:txBody>
      </p:sp>
      <p:sp>
        <p:nvSpPr>
          <p:cNvPr id="3" name="TextBox 2"/>
          <p:cNvSpPr txBox="1"/>
          <p:nvPr/>
        </p:nvSpPr>
        <p:spPr>
          <a:xfrm>
            <a:off x="731520" y="1645920"/>
            <a:ext cx="10728655" cy="4572000"/>
          </a:xfrm>
          <a:prstGeom prst="rect">
            <a:avLst/>
          </a:prstGeom>
          <a:noFill/>
        </p:spPr>
        <p:txBody>
          <a:bodyPr wrap="square">
            <a:spAutoFit/>
          </a:bodyPr>
          <a:lstStyle/>
          <a:p>
            <a:pPr algn="l">
              <a:lnSpc>
                <a:spcPct val="150000"/>
              </a:lnSpc>
              <a:spcAft>
                <a:spcPts val="1200"/>
              </a:spcAft>
              <a:defRPr sz="1600"/>
            </a:pPr>
            <a:r>
              <a:t>टाटा कंसल्टेंसी सर्विसेज लिमिटेड (TCS) एक अग्रणी वैश्विक आईटी सेवाओं का प्रदाता है, जिसका मुख्यालय मुंबई, भारत में स्थित है। 1968 में स्थापित, TCS ने विभिन्न क्षेत्रों में 600,000 से अधिक पेशेवरों को रोजगार देने में वृद्धि की है। कंपनी आईटी समाधानों की एक विस्तृत श्रृंखला में विशेषज्ञता रखती है, जिसमें क्लाउड कंप्यूटिंग, एआई, और व्यवसाय प्रक्रिया सेवाएं शामिल हैं, जो वैश्विक ग्राहकों की आवश्यकताओं को पूरा करती हैं। वर्तमान में, TCS एक मजबूत तेजी के भाव का प्रदर्शन कर रहा है, जो इसके नवोन्मेषी सेवाओं और रणनीतिक व्यवसाय पहलों की मजबूत मांग द्वारा संचालित है। हाल के शेयर मूल्य में उतार-चढ़ाव के बावजूद, TCS एक मजबूत निवेश विकल्प बना हुआ है, जो ठोस वित्तीय आंकड़ों, बढ़ती बाजार उपस्थिति, और सकारात्मक वृद्धि दृष्टिकोण द्वारा समर्थित है। विश्लेषकों का अनुमान है कि राजस्व की स्थिर वृद्धि और लाभप्रदता होगी, जो TCS की दीर्घकालिक मूल्य निर्माण की क्षमता को उजागर करती है।</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Company Overview</a:t>
            </a:r>
          </a:p>
        </p:txBody>
      </p:sp>
      <p:sp>
        <p:nvSpPr>
          <p:cNvPr id="3" name="TextBox 2"/>
          <p:cNvSpPr txBox="1"/>
          <p:nvPr/>
        </p:nvSpPr>
        <p:spPr>
          <a:xfrm>
            <a:off x="731520" y="1371600"/>
            <a:ext cx="10728655" cy="2286000"/>
          </a:xfrm>
          <a:prstGeom prst="rect">
            <a:avLst/>
          </a:prstGeom>
          <a:noFill/>
        </p:spPr>
        <p:txBody>
          <a:bodyPr wrap="square">
            <a:spAutoFit/>
          </a:bodyPr>
          <a:lstStyle/>
          <a:p>
            <a:pPr>
              <a:spcBef>
                <a:spcPts val="600"/>
              </a:spcBef>
              <a:spcAft>
                <a:spcPts val="600"/>
              </a:spcAft>
              <a:defRPr sz="1600"/>
            </a:pPr>
            <a:r>
              <a:t>Sector: Technology</a:t>
            </a:r>
          </a:p>
          <a:p>
            <a:pPr>
              <a:spcBef>
                <a:spcPts val="600"/>
              </a:spcBef>
              <a:spcAft>
                <a:spcPts val="600"/>
              </a:spcAft>
              <a:defRPr sz="1600"/>
            </a:pPr>
            <a:r>
              <a:t>Industry: Information Technology Services</a:t>
            </a:r>
          </a:p>
          <a:p>
            <a:pPr>
              <a:spcBef>
                <a:spcPts val="600"/>
              </a:spcBef>
              <a:spcAft>
                <a:spcPts val="600"/>
              </a:spcAft>
              <a:defRPr sz="1600"/>
            </a:pPr>
            <a:r>
              <a:t>Headquarters: Mumbai, India</a:t>
            </a:r>
          </a:p>
        </p:txBody>
      </p:sp>
      <p:sp>
        <p:nvSpPr>
          <p:cNvPr id="4" name="TextBox 3"/>
          <p:cNvSpPr txBox="1"/>
          <p:nvPr/>
        </p:nvSpPr>
        <p:spPr>
          <a:xfrm>
            <a:off x="731520" y="3931920"/>
            <a:ext cx="10728655" cy="2468880"/>
          </a:xfrm>
          <a:prstGeom prst="rect">
            <a:avLst/>
          </a:prstGeom>
          <a:noFill/>
        </p:spPr>
        <p:txBody>
          <a:bodyPr wrap="square">
            <a:spAutoFit/>
          </a:bodyPr>
          <a:lstStyle/>
          <a:p>
            <a:pPr algn="l">
              <a:lnSpc>
                <a:spcPct val="140000"/>
              </a:lnSpc>
              <a:spcAft>
                <a:spcPts val="800"/>
              </a:spcAft>
              <a:defRPr sz="1400"/>
            </a:pPr>
            <a:r>
              <a:t>टाटा कंसल्टेंसी सर्विसेज लिमिटेड (TCS) सूचना प्रौद्योगिकी क्षेत्र में एक प्रमुख खिलाड़ी के रूप में कार्यरत है, जो वैश्विक स्तर पर आईटी और आईटी-सक्षम सेवाओं की विविध रेंज प्रदान करता है। कंपनी की पेशकशों में TCS ADD, TCS BaNCS, और TCS OmniStore जैसे उन्नत प्लेटफार्म शामिल हैं, जो ग्राहक अनुभव और संचालन दक्षता को बढ़ाने के लिए लक्षित हैं। TCS ने एक महत्वपूर्ण भौगोलिक उपस्थिति स्थापित की है, जिसमें नवाचार और डिजिटल परिवर्तन पर मजबूत ध्यान केंद्रित किया गया है, जो इसे प्रौद्योगिकी और व्यवसाय में उभरते रुझानों का लाभ उठाने के लिए अच्छी स्थिति में रखता है।</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Financial Performance</a:t>
            </a:r>
          </a:p>
        </p:txBody>
      </p:sp>
      <p:sp>
        <p:nvSpPr>
          <p:cNvPr id="3" name="TextBox 2"/>
          <p:cNvSpPr txBox="1"/>
          <p:nvPr/>
        </p:nvSpPr>
        <p:spPr>
          <a:xfrm>
            <a:off x="731520" y="1371600"/>
            <a:ext cx="10728655" cy="5029200"/>
          </a:xfrm>
          <a:prstGeom prst="rect">
            <a:avLst/>
          </a:prstGeom>
          <a:noFill/>
        </p:spPr>
        <p:txBody>
          <a:bodyPr wrap="square">
            <a:spAutoFit/>
          </a:bodyPr>
          <a:lstStyle/>
          <a:p>
            <a:pPr>
              <a:lnSpc>
                <a:spcPct val="120000"/>
              </a:lnSpc>
              <a:spcBef>
                <a:spcPts val="800"/>
              </a:spcBef>
              <a:spcAft>
                <a:spcPts val="800"/>
              </a:spcAft>
              <a:defRPr sz="1600"/>
            </a:pPr>
            <a:r>
              <a:t>Revenue (TTM): ₹260802.01 Cr</a:t>
            </a:r>
          </a:p>
          <a:p>
            <a:pPr>
              <a:lnSpc>
                <a:spcPct val="120000"/>
              </a:lnSpc>
              <a:spcBef>
                <a:spcPts val="800"/>
              </a:spcBef>
              <a:spcAft>
                <a:spcPts val="800"/>
              </a:spcAft>
              <a:defRPr sz="1600"/>
            </a:pPr>
            <a:r>
              <a:t>Net Profit (TTM): ₹47716.00 Cr</a:t>
            </a:r>
          </a:p>
          <a:p>
            <a:pPr>
              <a:lnSpc>
                <a:spcPct val="120000"/>
              </a:lnSpc>
              <a:spcBef>
                <a:spcPts val="800"/>
              </a:spcBef>
              <a:spcAft>
                <a:spcPts val="800"/>
              </a:spcAft>
              <a:defRPr sz="1600"/>
            </a:pPr>
            <a:r>
              <a:t>EBITDA: ₹68208.00 Cr</a:t>
            </a:r>
          </a:p>
          <a:p>
            <a:pPr>
              <a:lnSpc>
                <a:spcPct val="120000"/>
              </a:lnSpc>
              <a:spcBef>
                <a:spcPts val="800"/>
              </a:spcBef>
              <a:spcAft>
                <a:spcPts val="800"/>
              </a:spcAft>
              <a:defRPr sz="1600"/>
            </a:pPr>
            <a:r>
              <a:t>EPS: ₹131.78</a:t>
            </a:r>
          </a:p>
          <a:p>
            <a:pPr>
              <a:lnSpc>
                <a:spcPct val="120000"/>
              </a:lnSpc>
              <a:spcBef>
                <a:spcPts val="800"/>
              </a:spcBef>
              <a:spcAft>
                <a:spcPts val="800"/>
              </a:spcAft>
              <a:defRPr sz="1600"/>
            </a:pPr>
            <a:r>
              <a:t>Dividend Yield: 2.45%</a:t>
            </a:r>
          </a:p>
          <a:p>
            <a:pPr>
              <a:lnSpc>
                <a:spcPct val="120000"/>
              </a:lnSpc>
              <a:spcBef>
                <a:spcPts val="800"/>
              </a:spcBef>
              <a:spcAft>
                <a:spcPts val="800"/>
              </a:spcAft>
              <a:defRPr sz="1600"/>
            </a:pPr>
            <a:r>
              <a:t>Payout Ratio: 94.00%</a:t>
            </a:r>
          </a:p>
          <a:p>
            <a:pPr>
              <a:lnSpc>
                <a:spcPct val="120000"/>
              </a:lnSpc>
              <a:spcBef>
                <a:spcPts val="800"/>
              </a:spcBef>
              <a:spcAft>
                <a:spcPts val="800"/>
              </a:spcAft>
              <a:defRPr sz="1600"/>
            </a:pPr>
            <a:r>
              <a:t>Total Assets: ₹66829.00 Cr</a:t>
            </a:r>
          </a:p>
          <a:p>
            <a:pPr>
              <a:lnSpc>
                <a:spcPct val="120000"/>
              </a:lnSpc>
              <a:spcBef>
                <a:spcPts val="800"/>
              </a:spcBef>
              <a:spcAft>
                <a:spcPts val="800"/>
              </a:spcAft>
              <a:defRPr sz="1600"/>
            </a:pPr>
            <a:r>
              <a:t>Total Liabilities: ₹1.36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Financial Analysis</a:t>
            </a:r>
          </a:p>
        </p:txBody>
      </p:sp>
      <p:sp>
        <p:nvSpPr>
          <p:cNvPr id="3" name="TextBox 2"/>
          <p:cNvSpPr txBox="1"/>
          <p:nvPr/>
        </p:nvSpPr>
        <p:spPr>
          <a:xfrm>
            <a:off x="731520" y="1645920"/>
            <a:ext cx="10728655" cy="4572000"/>
          </a:xfrm>
          <a:prstGeom prst="rect">
            <a:avLst/>
          </a:prstGeom>
          <a:noFill/>
        </p:spPr>
        <p:txBody>
          <a:bodyPr wrap="square">
            <a:spAutoFit/>
          </a:bodyPr>
          <a:lstStyle/>
          <a:p>
            <a:pPr algn="l">
              <a:lnSpc>
                <a:spcPct val="150000"/>
              </a:lnSpc>
              <a:spcAft>
                <a:spcPts val="1200"/>
              </a:spcAft>
              <a:defRPr sz="1600"/>
            </a:pPr>
            <a:r>
              <a:t>टाटा कंसल्टेंसी सर्विसेज लिमिटेड एक मजबूत वित्तीय स्थिति का प्रदर्शन करती है, जो स्वस्थ राजस्व और लाभ मार्जिन द्वारा विशेषीकृत है। ₹260,802.01 करोड़ का राजस्व और ₹47,716 करोड़ का शुद्ध लाभ होने के साथ, TCS 18.39% का लाभ मार्जिन और 27% का संचालन मार्जिन बनाए रखती है। कंपनी का EBITDA ₹68,208 करोड़ है, जो मजबूत परिचालन दक्षता को दर्शाता है। बैलेंस शीट भी समान रूप से प्रभावशाली है, जिसमें कुल संपत्तियां ₹66,829 करोड़ हैं और न्यूनतम ऋण-से-इक्विटी अनुपात 0.01 है, जो TCS के सतर्क लीवरेज दृष्टिकोण को दर्शाता है। इसके अलावा, TCS का निरंतर लाभांश उपज 2.45% इसकी शेयरधारकों को मूल्य लौटाने की प्रतिबद्धता को दर्शाती है, जबकि भुगतान अनुपात 94% के साथ भारी निवेशित है।</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Technical Analysis</a:t>
            </a:r>
          </a:p>
        </p:txBody>
      </p:sp>
      <p:sp>
        <p:nvSpPr>
          <p:cNvPr id="3" name="TextBox 2"/>
          <p:cNvSpPr txBox="1"/>
          <p:nvPr/>
        </p:nvSpPr>
        <p:spPr>
          <a:xfrm>
            <a:off x="731520" y="1371600"/>
            <a:ext cx="10728655" cy="5029200"/>
          </a:xfrm>
          <a:prstGeom prst="rect">
            <a:avLst/>
          </a:prstGeom>
          <a:noFill/>
        </p:spPr>
        <p:txBody>
          <a:bodyPr wrap="square">
            <a:spAutoFit/>
          </a:bodyPr>
          <a:lstStyle/>
          <a:p>
            <a:pPr>
              <a:lnSpc>
                <a:spcPct val="120000"/>
              </a:lnSpc>
              <a:spcBef>
                <a:spcPts val="800"/>
              </a:spcBef>
              <a:spcAft>
                <a:spcPts val="800"/>
              </a:spcAft>
              <a:defRPr sz="1600"/>
            </a:pPr>
            <a:r>
              <a:t>Current Share Price: ₹2456.00</a:t>
            </a:r>
          </a:p>
          <a:p>
            <a:pPr>
              <a:lnSpc>
                <a:spcPct val="120000"/>
              </a:lnSpc>
              <a:spcBef>
                <a:spcPts val="800"/>
              </a:spcBef>
              <a:spcAft>
                <a:spcPts val="800"/>
              </a:spcAft>
              <a:defRPr sz="1600"/>
            </a:pPr>
            <a:r>
              <a:t>52-Week High: ₹3710.00</a:t>
            </a:r>
          </a:p>
          <a:p>
            <a:pPr>
              <a:lnSpc>
                <a:spcPct val="120000"/>
              </a:lnSpc>
              <a:spcBef>
                <a:spcPts val="800"/>
              </a:spcBef>
              <a:spcAft>
                <a:spcPts val="800"/>
              </a:spcAft>
              <a:defRPr sz="1600"/>
            </a:pPr>
            <a:r>
              <a:t>52-Week Low: ₹2360.00</a:t>
            </a:r>
          </a:p>
          <a:p>
            <a:pPr>
              <a:lnSpc>
                <a:spcPct val="120000"/>
              </a:lnSpc>
              <a:spcBef>
                <a:spcPts val="800"/>
              </a:spcBef>
              <a:spcAft>
                <a:spcPts val="800"/>
              </a:spcAft>
              <a:defRPr sz="1600"/>
            </a:pPr>
            <a:r>
              <a:t>Market Capitalization: ₹888512.00 Cr</a:t>
            </a:r>
          </a:p>
          <a:p>
            <a:pPr>
              <a:lnSpc>
                <a:spcPct val="120000"/>
              </a:lnSpc>
              <a:spcBef>
                <a:spcPts val="800"/>
              </a:spcBef>
              <a:spcAft>
                <a:spcPts val="800"/>
              </a:spcAft>
              <a:defRPr sz="1600"/>
            </a:pPr>
            <a:r>
              <a:t>Beta (Volatility): 0.20</a:t>
            </a:r>
          </a:p>
          <a:p>
            <a:pPr>
              <a:lnSpc>
                <a:spcPct val="120000"/>
              </a:lnSpc>
              <a:spcBef>
                <a:spcPts val="800"/>
              </a:spcBef>
              <a:spcAft>
                <a:spcPts val="800"/>
              </a:spcAft>
              <a:defRPr sz="1600"/>
            </a:pPr>
            <a:r>
              <a:t>1-Year Change: -27.48%</a:t>
            </a:r>
          </a:p>
          <a:p>
            <a:pPr>
              <a:lnSpc>
                <a:spcPct val="120000"/>
              </a:lnSpc>
              <a:spcBef>
                <a:spcPts val="800"/>
              </a:spcBef>
              <a:spcAft>
                <a:spcPts val="800"/>
              </a:spcAft>
              <a:defRPr sz="1600"/>
            </a:pPr>
            <a:r>
              <a:t>5-Year CAGR: 10.20%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Market Position &amp; Competitive Landscape</a:t>
            </a:r>
          </a:p>
        </p:txBody>
      </p:sp>
      <p:sp>
        <p:nvSpPr>
          <p:cNvPr id="3" name="TextBox 2"/>
          <p:cNvSpPr txBox="1"/>
          <p:nvPr/>
        </p:nvSpPr>
        <p:spPr>
          <a:xfrm>
            <a:off x="731520" y="1371600"/>
            <a:ext cx="10728655" cy="2286000"/>
          </a:xfrm>
          <a:prstGeom prst="rect">
            <a:avLst/>
          </a:prstGeom>
          <a:noFill/>
        </p:spPr>
        <p:txBody>
          <a:bodyPr wrap="square">
            <a:spAutoFit/>
          </a:bodyPr>
          <a:lstStyle/>
          <a:p>
            <a:pPr>
              <a:spcBef>
                <a:spcPts val="600"/>
              </a:spcBef>
              <a:spcAft>
                <a:spcPts val="600"/>
              </a:spcAft>
              <a:defRPr sz="1600"/>
            </a:pPr>
            <a:r>
              <a:t>Promoter Holding: 71.77%</a:t>
            </a:r>
          </a:p>
          <a:p>
            <a:pPr>
              <a:spcBef>
                <a:spcPts val="600"/>
              </a:spcBef>
              <a:spcAft>
                <a:spcPts val="600"/>
              </a:spcAft>
              <a:defRPr sz="1600"/>
            </a:pPr>
            <a:r>
              <a:t>FII Holding: 10.37%</a:t>
            </a:r>
          </a:p>
          <a:p>
            <a:pPr>
              <a:spcBef>
                <a:spcPts val="600"/>
              </a:spcBef>
              <a:spcAft>
                <a:spcPts val="600"/>
              </a:spcAft>
              <a:defRPr sz="1600"/>
            </a:pPr>
            <a:r>
              <a:t>DII Holding: 12.81%</a:t>
            </a:r>
          </a:p>
        </p:txBody>
      </p:sp>
      <p:sp>
        <p:nvSpPr>
          <p:cNvPr id="4" name="TextBox 3"/>
          <p:cNvSpPr txBox="1"/>
          <p:nvPr/>
        </p:nvSpPr>
        <p:spPr>
          <a:xfrm>
            <a:off x="731520" y="3931920"/>
            <a:ext cx="10728655" cy="2468880"/>
          </a:xfrm>
          <a:prstGeom prst="rect">
            <a:avLst/>
          </a:prstGeom>
          <a:noFill/>
        </p:spPr>
        <p:txBody>
          <a:bodyPr wrap="square">
            <a:spAutoFit/>
          </a:bodyPr>
          <a:lstStyle/>
          <a:p>
            <a:pPr algn="l">
              <a:lnSpc>
                <a:spcPct val="140000"/>
              </a:lnSpc>
              <a:spcAft>
                <a:spcPts val="800"/>
              </a:spcAft>
              <a:defRPr sz="1400"/>
            </a:pPr>
            <a:r>
              <a:t>टाटा कंसल्टेंसी सर्विसेज आईटी सेवाओं के उद्योग में एक मजबूत स्थिति रखती है, जो 71.77% के महत्वपूर्ण प्रमोटर होल्डिंग से लाभान्वित होती है। कंपनी की मजबूत बाजार उपस्थिति को संस्थागत निवेशों द्वारा समर्थन मिलता है, जिसमें विदेशी संस्थागत निवेशक (FIIs) 10.37% और घरेलू संस्थागत निवेशक (DIIs) 12.81% होल्ड करते हैं। TCS वैश्विक आईटी सेवा प्रदाताओं से प्रतिस्पर्धा का सामना करती है, लेकिन यह एक विविध सेवा पोर्टफोलियो, एक मजबूत ब्रांड प्रतिष्ठा, और एक विस्तृत ग्राहक आधार के साथ खुद को अलग करती है, जो इसे प्रतिस्पर्धात्मक परिदृश्य में निरंतर वृद्धि के लिए अनुकूल स्थिति में रखता है।</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Current Market Sentiment</a:t>
            </a:r>
          </a:p>
        </p:txBody>
      </p:sp>
      <p:sp>
        <p:nvSpPr>
          <p:cNvPr id="3" name="TextBox 2"/>
          <p:cNvSpPr txBox="1"/>
          <p:nvPr/>
        </p:nvSpPr>
        <p:spPr>
          <a:xfrm>
            <a:off x="731520" y="1371600"/>
            <a:ext cx="10728655" cy="5029200"/>
          </a:xfrm>
          <a:prstGeom prst="rect">
            <a:avLst/>
          </a:prstGeom>
          <a:noFill/>
        </p:spPr>
        <p:txBody>
          <a:bodyPr wrap="square">
            <a:spAutoFit/>
          </a:bodyPr>
          <a:lstStyle/>
          <a:p>
            <a:pPr>
              <a:lnSpc>
                <a:spcPct val="120000"/>
              </a:lnSpc>
              <a:spcBef>
                <a:spcPts val="800"/>
              </a:spcBef>
              <a:spcAft>
                <a:spcPts val="800"/>
              </a:spcAft>
              <a:defRPr sz="1600"/>
            </a:pPr>
            <a:r>
              <a:t>Overall Market Sentiment Score: 70.7/100 (Strongly Bullish)</a:t>
            </a:r>
          </a:p>
          <a:p>
            <a:pPr>
              <a:lnSpc>
                <a:spcPct val="120000"/>
              </a:lnSpc>
              <a:spcBef>
                <a:spcPts val="800"/>
              </a:spcBef>
              <a:spcAft>
                <a:spcPts val="800"/>
              </a:spcAft>
              <a:defRPr sz="1600"/>
            </a:pPr>
            <a:r>
              <a:t>News Sentiment: 82.6/100 (Strongly Bullish)</a:t>
            </a:r>
          </a:p>
          <a:p>
            <a:pPr>
              <a:lnSpc>
                <a:spcPct val="120000"/>
              </a:lnSpc>
              <a:spcBef>
                <a:spcPts val="800"/>
              </a:spcBef>
              <a:spcAft>
                <a:spcPts val="800"/>
              </a:spcAft>
              <a:defRPr sz="1600"/>
            </a:pPr>
            <a:r>
              <a:t>Yahoo Finance Sentiment: 80.0/100 (Buy)</a:t>
            </a:r>
          </a:p>
          <a:p>
            <a:pPr>
              <a:lnSpc>
                <a:spcPct val="120000"/>
              </a:lnSpc>
              <a:spcBef>
                <a:spcPts val="800"/>
              </a:spcBef>
              <a:spcAft>
                <a:spcPts val="800"/>
              </a:spcAft>
              <a:defRPr sz="1600"/>
            </a:pPr>
            <a:r>
              <a:t>Twitter/X Sentiment: 57.5/100 (Neutral)</a:t>
            </a:r>
          </a:p>
          <a:p>
            <a:pPr>
              <a:lnSpc>
                <a:spcPct val="120000"/>
              </a:lnSpc>
              <a:spcBef>
                <a:spcPts val="800"/>
              </a:spcBef>
              <a:spcAft>
                <a:spcPts val="800"/>
              </a:spcAft>
              <a:defRPr sz="1600"/>
            </a:pPr>
            <a:r>
              <a:t>Positive Tweets: 50.0%; Negative: 43.8%; Neutral: 6.2%</a:t>
            </a:r>
          </a:p>
          <a:p>
            <a:pPr>
              <a:lnSpc>
                <a:spcPct val="120000"/>
              </a:lnSpc>
              <a:spcBef>
                <a:spcPts val="800"/>
              </a:spcBef>
              <a:spcAft>
                <a:spcPts val="800"/>
              </a:spcAft>
              <a:defRPr sz="1600"/>
            </a:pPr>
            <a:r>
              <a:t>Analyst recommendations trending towards 'Buy'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Future Outlook &amp; Growth Drivers</a:t>
            </a:r>
          </a:p>
        </p:txBody>
      </p:sp>
      <p:sp>
        <p:nvSpPr>
          <p:cNvPr id="3" name="TextBox 2"/>
          <p:cNvSpPr txBox="1"/>
          <p:nvPr/>
        </p:nvSpPr>
        <p:spPr>
          <a:xfrm>
            <a:off x="731520" y="1645920"/>
            <a:ext cx="10728655" cy="4572000"/>
          </a:xfrm>
          <a:prstGeom prst="rect">
            <a:avLst/>
          </a:prstGeom>
          <a:noFill/>
        </p:spPr>
        <p:txBody>
          <a:bodyPr wrap="square">
            <a:spAutoFit/>
          </a:bodyPr>
          <a:lstStyle/>
          <a:p>
            <a:pPr algn="l">
              <a:lnSpc>
                <a:spcPct val="150000"/>
              </a:lnSpc>
              <a:spcAft>
                <a:spcPts val="1200"/>
              </a:spcAft>
              <a:defRPr sz="1600"/>
            </a:pPr>
            <a:r>
              <a:t>टाटा कंसल्टेंसी सर्विसेज के लिए भविष्य का दृष्टिकोण सतर्कता से सकारात्मक है, क्योंकि विश्लेषकों ने FY-2026 के लिए लगभग 4% की वार्षिक राजस्व वृद्धि का अनुमान लगाया है, जिसमें ₹2.66 ट्रिलियन का सहमति अनुमान है। ऐतिहासिक प्रवृत्तियों की तुलना में राजस्व वृद्धि में कमी के बावजूद, TCS की लाभप्रदता बनाए रखने की उम्मीद है, जिसमें FY-2026 के लिए ₹143 का EPS अनुमानित है। कंपनी की AI और क्लाउड सेवाओं पर रणनीतिक ध्यान उभरते बाजार के अवसरों को पकड़ने के लिए इसे स्थिति में लाता है, जबकि परिचालन दक्षताओं को बढ़ाता है। अपेक्षित इक्विटी पर वापसी लगभग 44% के आसपास उच्च बनी हुई है, जो TCS की दीर्घकालिक प्रीमियम मूल्यांकन की क्षमता को समर्थन देती है। इसके अलावा, लगभग 5% का स्थिर लाभांश उपज एक ठोस कुल लाभ प्रोफ़ाइल का समर्थन करती है, जिससे TCS एक आकर्षक निवेश बनता है।</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Investment Recommendation</a:t>
            </a:r>
          </a:p>
        </p:txBody>
      </p:sp>
      <p:sp>
        <p:nvSpPr>
          <p:cNvPr id="3" name="TextBox 2"/>
          <p:cNvSpPr txBox="1"/>
          <p:nvPr/>
        </p:nvSpPr>
        <p:spPr>
          <a:xfrm>
            <a:off x="731520" y="1371600"/>
            <a:ext cx="10728655" cy="2286000"/>
          </a:xfrm>
          <a:prstGeom prst="rect">
            <a:avLst/>
          </a:prstGeom>
          <a:noFill/>
        </p:spPr>
        <p:txBody>
          <a:bodyPr wrap="square">
            <a:spAutoFit/>
          </a:bodyPr>
          <a:lstStyle/>
          <a:p>
            <a:pPr>
              <a:spcBef>
                <a:spcPts val="600"/>
              </a:spcBef>
              <a:spcAft>
                <a:spcPts val="600"/>
              </a:spcAft>
              <a:defRPr sz="1600"/>
            </a:pPr>
            <a:r>
              <a:t>Consensus Price Target: ₹3,828 (ET)</a:t>
            </a:r>
          </a:p>
          <a:p>
            <a:pPr>
              <a:spcBef>
                <a:spcPts val="600"/>
              </a:spcBef>
              <a:spcAft>
                <a:spcPts val="600"/>
              </a:spcAft>
              <a:defRPr sz="1600"/>
            </a:pPr>
            <a:r>
              <a:t>Potential Upside: 15-30% from current levels</a:t>
            </a:r>
          </a:p>
          <a:p>
            <a:pPr>
              <a:spcBef>
                <a:spcPts val="600"/>
              </a:spcBef>
              <a:spcAft>
                <a:spcPts val="600"/>
              </a:spcAft>
              <a:defRPr sz="1600"/>
            </a:pPr>
            <a:r>
              <a:t>Strong dividend yield provides income support</a:t>
            </a:r>
          </a:p>
        </p:txBody>
      </p:sp>
      <p:sp>
        <p:nvSpPr>
          <p:cNvPr id="4" name="TextBox 3"/>
          <p:cNvSpPr txBox="1"/>
          <p:nvPr/>
        </p:nvSpPr>
        <p:spPr>
          <a:xfrm>
            <a:off x="731520" y="3931920"/>
            <a:ext cx="10728655" cy="2468880"/>
          </a:xfrm>
          <a:prstGeom prst="rect">
            <a:avLst/>
          </a:prstGeom>
          <a:noFill/>
        </p:spPr>
        <p:txBody>
          <a:bodyPr wrap="square">
            <a:spAutoFit/>
          </a:bodyPr>
          <a:lstStyle/>
          <a:p>
            <a:pPr algn="l">
              <a:lnSpc>
                <a:spcPct val="140000"/>
              </a:lnSpc>
              <a:spcAft>
                <a:spcPts val="800"/>
              </a:spcAft>
              <a:defRPr sz="1400"/>
            </a:pPr>
            <a:r>
              <a:t>वर्तमान बाजार की स्थितियों और TCS के मजबूत मूलभूत सिद्धांतों को देखते हुए, निवेश की सिफारिश 'खरीदें' है। सहमति मूल्य लक्ष्य वर्तमान व्यापार स्तरों से 15-30% की संभावित वृद्धि का सुझाव देता है, जो भविष्य की वृद्धि के प्रति आशावाद को दर्शाता है। इसके अतिरिक्त, TCS का मजबूत लाभांश उपज स्थिर आय घटक प्रदान करता है, जिससे यह विकास और आय पर केंद्रित निवेशकों के लिए एक आकर्षक विकल्प बनता है। कंपनी की AI और क्लाउड सेवाओं में रणनीतिक पहलों को देखते हुए, निवेशकों को TCS को एक ठोस दीर्घकालिक निवेश अवसर के रूप में देखना चाहिए।</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Risk Factors</a:t>
            </a:r>
          </a:p>
        </p:txBody>
      </p:sp>
      <p:sp>
        <p:nvSpPr>
          <p:cNvPr id="3" name="TextBox 2"/>
          <p:cNvSpPr txBox="1"/>
          <p:nvPr/>
        </p:nvSpPr>
        <p:spPr>
          <a:xfrm>
            <a:off x="731520" y="1371600"/>
            <a:ext cx="10728655" cy="5029200"/>
          </a:xfrm>
          <a:prstGeom prst="rect">
            <a:avLst/>
          </a:prstGeom>
          <a:noFill/>
        </p:spPr>
        <p:txBody>
          <a:bodyPr wrap="square">
            <a:spAutoFit/>
          </a:bodyPr>
          <a:lstStyle/>
          <a:p>
            <a:pPr>
              <a:lnSpc>
                <a:spcPct val="120000"/>
              </a:lnSpc>
              <a:spcBef>
                <a:spcPts val="800"/>
              </a:spcBef>
              <a:spcAft>
                <a:spcPts val="800"/>
              </a:spcAft>
              <a:defRPr sz="1600"/>
            </a:pPr>
            <a:r>
              <a:t>Declining share price by 31.14% over the past year.</a:t>
            </a:r>
          </a:p>
          <a:p>
            <a:pPr>
              <a:lnSpc>
                <a:spcPct val="120000"/>
              </a:lnSpc>
              <a:spcBef>
                <a:spcPts val="800"/>
              </a:spcBef>
              <a:spcAft>
                <a:spcPts val="800"/>
              </a:spcAft>
              <a:defRPr sz="1600"/>
            </a:pPr>
            <a:r>
              <a:t>Market cap loss exceeding $100 billion from peak.</a:t>
            </a:r>
          </a:p>
          <a:p>
            <a:pPr>
              <a:lnSpc>
                <a:spcPct val="120000"/>
              </a:lnSpc>
              <a:spcBef>
                <a:spcPts val="800"/>
              </a:spcBef>
              <a:spcAft>
                <a:spcPts val="800"/>
              </a:spcAft>
              <a:defRPr sz="1600"/>
            </a:pPr>
            <a:r>
              <a:t>Increased wage expenses impacting operational efficiency.</a:t>
            </a:r>
          </a:p>
          <a:p>
            <a:pPr>
              <a:lnSpc>
                <a:spcPct val="120000"/>
              </a:lnSpc>
              <a:spcBef>
                <a:spcPts val="800"/>
              </a:spcBef>
              <a:spcAft>
                <a:spcPts val="800"/>
              </a:spcAft>
              <a:defRPr sz="1600"/>
            </a:pPr>
            <a:r>
              <a:t>Slow revenue growth compared to historical averages.</a:t>
            </a:r>
          </a:p>
          <a:p>
            <a:pPr>
              <a:lnSpc>
                <a:spcPct val="120000"/>
              </a:lnSpc>
              <a:spcBef>
                <a:spcPts val="800"/>
              </a:spcBef>
              <a:spcAft>
                <a:spcPts val="800"/>
              </a:spcAft>
              <a:defRPr sz="1600"/>
            </a:pPr>
            <a:r>
              <a:t>Dependence on global economic conditions.</a:t>
            </a:r>
          </a:p>
          <a:p>
            <a:pPr>
              <a:lnSpc>
                <a:spcPct val="120000"/>
              </a:lnSpc>
              <a:spcBef>
                <a:spcPts val="800"/>
              </a:spcBef>
              <a:spcAft>
                <a:spcPts val="800"/>
              </a:spcAft>
              <a:defRPr sz="1600"/>
            </a:pPr>
            <a:r>
              <a:t>Potential risks related to IT sector competition.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Conclusion &amp; Next Steps</a:t>
            </a:r>
          </a:p>
        </p:txBody>
      </p:sp>
      <p:sp>
        <p:nvSpPr>
          <p:cNvPr id="3" name="TextBox 2"/>
          <p:cNvSpPr txBox="1"/>
          <p:nvPr/>
        </p:nvSpPr>
        <p:spPr>
          <a:xfrm>
            <a:off x="731520" y="1645920"/>
            <a:ext cx="10728655" cy="4572000"/>
          </a:xfrm>
          <a:prstGeom prst="rect">
            <a:avLst/>
          </a:prstGeom>
          <a:noFill/>
        </p:spPr>
        <p:txBody>
          <a:bodyPr wrap="square">
            <a:spAutoFit/>
          </a:bodyPr>
          <a:lstStyle/>
          <a:p>
            <a:pPr algn="l">
              <a:lnSpc>
                <a:spcPct val="150000"/>
              </a:lnSpc>
              <a:spcAft>
                <a:spcPts val="1200"/>
              </a:spcAft>
              <a:defRPr sz="1600"/>
            </a:pPr>
            <a:r>
              <a:t>अंत में, टाटा कंसल्टेंसी सर्विसेज लिमिटेड एक मजबूत निवेश मामले को प्रस्तुत करता है, जो मजबूत वित्तीय स्वास्थ्य, विविध सेवा पोर्टफोलियो और अनुकूल बाजार भावना से विशेषता है। शेयर कीमतों में गिरावट और संचालन लागत के दबाव जैसे चुनौतियों का सामना करने के बावजूद, TCS भविष्य की वृद्धि के लिए अच्छी स्थिति में है, जो प्रौद्योगिकी नवाचार पर उसके रणनीतिक ध्यान द्वारा संचालित है। निवेशकों को TCS की निकटता से निगरानी करने के लिए प्रोत्साहित किया जाता है, कंपनी की पुनर्प्राप्ति और आने वाले तिमाहियों में पूंजी प्रशंसा की क्षमता को ध्यान में रखते हुए। अगले कदमों में विश्लेषकों के अपडेट की समीक्षा करना, बाजार की स्थितियों का आकलन करना और TCS में संभावित निवेशों के समय का मूल्यांकन करना शामिल है।</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
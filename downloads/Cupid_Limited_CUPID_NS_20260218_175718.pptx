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a prominent player in the consumer defensive sector, specializes in manufacturing and marketing a diverse range of household and personal products, including male and female condoms, lubricants, and diagnostic kits. Founded in 1997 and headquartered in Nashik, India, the company has demonstrated robust financial performance, highlighted by a TTM revenue of ₹294.23 Cr and a net profit of ₹83.48 Cr. With a bullish sentiment in the market and a strong growth trajectory evidenced by a 511.82% annual price change, Cupid Limited presents a compelling investment opportunity. The company's strategic expansion efforts, particularly in international markets, and consistent dividend payouts signal a commitment to shareholder value. Investors are encouraged to consider Cupid Limited for its potential upside in a growing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1997, Cupid Limited is based in Nashik, India.</a:t>
            </a:r>
          </a:p>
          <a:p>
            <a:pPr>
              <a:spcBef>
                <a:spcPts val="600"/>
              </a:spcBef>
              <a:spcAft>
                <a:spcPts val="600"/>
              </a:spcAft>
              <a:defRPr sz="1600"/>
            </a:pPr>
            <a:r>
              <a:t>Specializes in condoms, lubricants, and personal care products.</a:t>
            </a:r>
          </a:p>
          <a:p>
            <a:pPr>
              <a:spcBef>
                <a:spcPts val="600"/>
              </a:spcBef>
              <a:spcAft>
                <a:spcPts val="600"/>
              </a:spcAft>
              <a:defRPr sz="1600"/>
            </a:pPr>
            <a:r>
              <a:t>Employs 217 people and exports to multiple continents.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primarily in the household and personal products industry, focusing on designing, manufacturing, and marketing a wide array of products. The company's offerings include male and female condoms, water-based lubricants, and a variety of personal care items such as deodorants and menstrual cups. With a strong presence in both domestic and international markets, Cupid has successfully established itself as a reliable brand. The company's commitment to quality and innovation has enabled it to capture significant market share across diverse geographical regions, including Africa, Europe, and North America.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a:t>
            </a:r>
          </a:p>
          <a:p>
            <a:pPr>
              <a:lnSpc>
                <a:spcPct val="120000"/>
              </a:lnSpc>
              <a:spcBef>
                <a:spcPts val="800"/>
              </a:spcBef>
              <a:spcAft>
                <a:spcPts val="800"/>
              </a:spcAft>
              <a:defRPr sz="1600"/>
            </a:pPr>
            <a:r>
              <a:t>Net Profit (TTM): ₹83.48 Cr</a:t>
            </a:r>
          </a:p>
          <a:p>
            <a:pPr>
              <a:lnSpc>
                <a:spcPct val="120000"/>
              </a:lnSpc>
              <a:spcBef>
                <a:spcPts val="800"/>
              </a:spcBef>
              <a:spcAft>
                <a:spcPts val="800"/>
              </a:spcAft>
              <a:defRPr sz="1600"/>
            </a:pPr>
            <a:r>
              <a:t>EBITDA: ₹91.23 Cr</a:t>
            </a:r>
          </a:p>
          <a:p>
            <a:pPr>
              <a:lnSpc>
                <a:spcPct val="120000"/>
              </a:lnSpc>
              <a:spcBef>
                <a:spcPts val="800"/>
              </a:spcBef>
              <a:spcAft>
                <a:spcPts val="800"/>
              </a:spcAft>
              <a:defRPr sz="1600"/>
            </a:pPr>
            <a:r>
              <a:t>EPS: ₹3.09</a:t>
            </a:r>
          </a:p>
          <a:p>
            <a:pPr>
              <a:lnSpc>
                <a:spcPct val="120000"/>
              </a:lnSpc>
              <a:spcBef>
                <a:spcPts val="800"/>
              </a:spcBef>
              <a:spcAft>
                <a:spcPts val="800"/>
              </a:spcAft>
              <a:defRPr sz="1600"/>
            </a:pPr>
            <a:r>
              <a:t>Total Assets: ₹152.00 Cr</a:t>
            </a:r>
          </a:p>
          <a:p>
            <a:pPr>
              <a:lnSpc>
                <a:spcPct val="120000"/>
              </a:lnSpc>
              <a:spcBef>
                <a:spcPts val="800"/>
              </a:spcBef>
              <a:spcAft>
                <a:spcPts val="800"/>
              </a:spcAft>
              <a:defRPr sz="1600"/>
            </a:pPr>
            <a:r>
              <a:t>Total Debt: ₹26.76 Cr</a:t>
            </a:r>
          </a:p>
          <a:p>
            <a:pPr>
              <a:lnSpc>
                <a:spcPct val="120000"/>
              </a:lnSpc>
              <a:spcBef>
                <a:spcPts val="800"/>
              </a:spcBef>
              <a:spcAft>
                <a:spcPts val="800"/>
              </a:spcAft>
              <a:defRPr sz="1600"/>
            </a:pPr>
            <a:r>
              <a:t>Market Capitalization: ₹11389.00 Cr</a:t>
            </a:r>
          </a:p>
          <a:p>
            <a:pPr>
              <a:lnSpc>
                <a:spcPct val="120000"/>
              </a:lnSpc>
              <a:spcBef>
                <a:spcPts val="800"/>
              </a:spcBef>
              <a:spcAft>
                <a:spcPts val="800"/>
              </a:spcAft>
              <a:defRPr sz="1600"/>
            </a:pPr>
            <a:r>
              <a:t>Profit Margin: 28.23%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Limited's financial health reflects a strong performance trajectory, characterized by significant revenue and profit growth. The company reported a total revenue of ₹294.23 Cr over the trailing twelve months (TTM), achieving a net profit of ₹83.48 Cr, resulting in an impressive profit margin of 28.23%. The EBITDA stands at ₹91.23 Cr, indicating the firm's capability to generate earnings before interest, taxes, depreciation, and amortization. However, the company's debt-to-equity ratio of 7.02 raises some concerns about leverage. With a robust cash balance of ₹191.73 Cr, Cupid is well-positioned to manage its obligations and pursue strategic growth initiatives.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₹423.00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Market Capitalization: ₹11389.00 Cr</a:t>
            </a:r>
          </a:p>
          <a:p>
            <a:pPr>
              <a:lnSpc>
                <a:spcPct val="120000"/>
              </a:lnSpc>
              <a:spcBef>
                <a:spcPts val="800"/>
              </a:spcBef>
              <a:spcAft>
                <a:spcPts val="800"/>
              </a:spcAft>
              <a:defRPr sz="1600"/>
            </a:pPr>
            <a:r>
              <a:t>Beta: 0.04</a:t>
            </a:r>
          </a:p>
          <a:p>
            <a:pPr>
              <a:lnSpc>
                <a:spcPct val="120000"/>
              </a:lnSpc>
              <a:spcBef>
                <a:spcPts val="800"/>
              </a:spcBef>
              <a:spcAft>
                <a:spcPts val="800"/>
              </a:spcAft>
              <a:defRPr sz="1600"/>
            </a:pPr>
            <a:r>
              <a:t>1-Year Change: 511.82%</a:t>
            </a:r>
          </a:p>
          <a:p>
            <a:pPr>
              <a:lnSpc>
                <a:spcPct val="120000"/>
              </a:lnSpc>
              <a:spcBef>
                <a:spcPts val="800"/>
              </a:spcBef>
              <a:spcAft>
                <a:spcPts val="800"/>
              </a:spcAft>
              <a:defRPr sz="1600"/>
            </a:pPr>
            <a:r>
              <a:t>5-Year CAGR: 15.00%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Cupid Limited holds a strong market position in India.</a:t>
            </a:r>
          </a:p>
          <a:p>
            <a:pPr>
              <a:spcBef>
                <a:spcPts val="600"/>
              </a:spcBef>
              <a:spcAft>
                <a:spcPts val="600"/>
              </a:spcAft>
              <a:defRPr sz="1600"/>
            </a:pPr>
            <a:r>
              <a:t>Competitors include Nestlé India and Varun Beverages.</a:t>
            </a:r>
          </a:p>
          <a:p>
            <a:pPr>
              <a:spcBef>
                <a:spcPts val="600"/>
              </a:spcBef>
              <a:spcAft>
                <a:spcPts val="600"/>
              </a:spcAft>
              <a:defRPr sz="1600"/>
            </a:pPr>
            <a:r>
              <a:t>The company has a diverse product range and export capabilities.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in a competitive landscape that includes major players such as Nestlé India and Varun Beverages. Despite facing competition, Cupid's unique focus on household and personal products, particularly in the condom and lubricant segment, positions it favorably in the market. The company’s diverse product range and its strategic export initiatives bolster its competitive edge. With an expanding customer base and continuous product innovation, Cupid Limited is well-equipped to capitalize on growth opportunities in both domestic and international markets.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40.0/100</a:t>
            </a:r>
          </a:p>
          <a:p>
            <a:pPr>
              <a:lnSpc>
                <a:spcPct val="120000"/>
              </a:lnSpc>
              <a:spcBef>
                <a:spcPts val="800"/>
              </a:spcBef>
              <a:spcAft>
                <a:spcPts val="800"/>
              </a:spcAft>
              <a:defRPr sz="1600"/>
            </a:pPr>
            <a:r>
              <a:t>Bullish sentiment based on recent performance.</a:t>
            </a:r>
          </a:p>
          <a:p>
            <a:pPr>
              <a:lnSpc>
                <a:spcPct val="120000"/>
              </a:lnSpc>
              <a:spcBef>
                <a:spcPts val="800"/>
              </a:spcBef>
              <a:spcAft>
                <a:spcPts val="800"/>
              </a:spcAft>
              <a:defRPr sz="1600"/>
            </a:pPr>
            <a:r>
              <a:t>News Sentiment: 85/100 (Bullish)</a:t>
            </a:r>
          </a:p>
          <a:p>
            <a:pPr>
              <a:lnSpc>
                <a:spcPct val="120000"/>
              </a:lnSpc>
              <a:spcBef>
                <a:spcPts val="800"/>
              </a:spcBef>
              <a:spcAft>
                <a:spcPts val="800"/>
              </a:spcAft>
              <a:defRPr sz="1600"/>
            </a:pPr>
            <a:r>
              <a:t>Twitter Sentiment: 20/100 (Bullish)</a:t>
            </a:r>
          </a:p>
          <a:p>
            <a:pPr>
              <a:lnSpc>
                <a:spcPct val="120000"/>
              </a:lnSpc>
              <a:spcBef>
                <a:spcPts val="800"/>
              </a:spcBef>
              <a:spcAft>
                <a:spcPts val="800"/>
              </a:spcAft>
              <a:defRPr sz="1600"/>
            </a:pPr>
            <a:r>
              <a:t>140% YoY rise in net profit for Q2 FY26.</a:t>
            </a:r>
          </a:p>
          <a:p>
            <a:pPr>
              <a:lnSpc>
                <a:spcPct val="120000"/>
              </a:lnSpc>
              <a:spcBef>
                <a:spcPts val="800"/>
              </a:spcBef>
              <a:spcAft>
                <a:spcPts val="800"/>
              </a:spcAft>
              <a:defRPr sz="1600"/>
            </a:pPr>
            <a:r>
              <a:t>Investors have seen multibagger returns of 235% in 6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Limited's future outlook is poised for growth, with projections indicating consistent revenue increases driven by strategic initiatives. The company has launched its In-Vitro Diagnostic division and expanded its product lines, showcasing its commitment to innovation. Revenue forecasts suggest a significant upward trajectory, with expectations of ₹1.90 bn for FY2024 and ₹2.94 bn for FY2025, translating to an approximate 27% year-on-year growth. Furthermore, strong demand for its products in international markets, coupled with recent capital infusions from private equity, positions Cupid for enhanced operational capabilities and market expansion, making it an attractive prospect for investors looking for robust growth opportunities.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Consider Cupid Limited for growth potential in the consumer defensive sector.</a:t>
            </a:r>
          </a:p>
          <a:p>
            <a:pPr>
              <a:spcBef>
                <a:spcPts val="600"/>
              </a:spcBef>
              <a:spcAft>
                <a:spcPts val="600"/>
              </a:spcAft>
              <a:defRPr sz="1600"/>
            </a:pPr>
            <a:r>
              <a:t>Strong financial metrics with a positive growth outlook.</a:t>
            </a:r>
          </a:p>
          <a:p>
            <a:pPr>
              <a:spcBef>
                <a:spcPts val="600"/>
              </a:spcBef>
              <a:spcAft>
                <a:spcPts val="600"/>
              </a:spcAft>
              <a:defRPr sz="1600"/>
            </a:pPr>
            <a:r>
              <a:t>Monitor volatility and market sentiments closely.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Based on the analysis of Cupid Limited's financial performance, market position, and future growth potential, it is recommended that investors consider this stock for their portfolio. The company exhibits strong fundamentals, including a solid profit margin and impressive revenue growth projections. However, given the high volatility indicated by its beta of 0.04, it is crucial for investors to remain vigilant regarding market sentiments and potential fluctuations in share prices. Overall, Cupid Limited stands out as a compelling investment opportunity within the consumer defensive sector.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debt-to-equity ratio of 7.02 presents leverage risks.</a:t>
            </a:r>
          </a:p>
          <a:p>
            <a:pPr>
              <a:lnSpc>
                <a:spcPct val="120000"/>
              </a:lnSpc>
              <a:spcBef>
                <a:spcPts val="800"/>
              </a:spcBef>
              <a:spcAft>
                <a:spcPts val="800"/>
              </a:spcAft>
              <a:defRPr sz="1600"/>
            </a:pPr>
            <a:r>
              <a:t>Volatility in share prices may affect investor confidence.</a:t>
            </a:r>
          </a:p>
          <a:p>
            <a:pPr>
              <a:lnSpc>
                <a:spcPct val="120000"/>
              </a:lnSpc>
              <a:spcBef>
                <a:spcPts val="800"/>
              </a:spcBef>
              <a:spcAft>
                <a:spcPts val="800"/>
              </a:spcAft>
              <a:defRPr sz="1600"/>
            </a:pPr>
            <a:r>
              <a:t>Limited analyst coverage could lead to information asymmetry.</a:t>
            </a:r>
          </a:p>
          <a:p>
            <a:pPr>
              <a:lnSpc>
                <a:spcPct val="120000"/>
              </a:lnSpc>
              <a:spcBef>
                <a:spcPts val="800"/>
              </a:spcBef>
              <a:spcAft>
                <a:spcPts val="800"/>
              </a:spcAft>
              <a:defRPr sz="1600"/>
            </a:pPr>
            <a:r>
              <a:t>Market cap fluctuations raise concerns among investors.</a:t>
            </a:r>
          </a:p>
          <a:p>
            <a:pPr>
              <a:lnSpc>
                <a:spcPct val="120000"/>
              </a:lnSpc>
              <a:spcBef>
                <a:spcPts val="800"/>
              </a:spcBef>
              <a:spcAft>
                <a:spcPts val="800"/>
              </a:spcAft>
              <a:defRPr sz="1600"/>
            </a:pPr>
            <a:r>
              <a:t>Regulatory risks associated with product safety and compliance.</a:t>
            </a:r>
          </a:p>
          <a:p>
            <a:pPr>
              <a:lnSpc>
                <a:spcPct val="120000"/>
              </a:lnSpc>
              <a:spcBef>
                <a:spcPts val="800"/>
              </a:spcBef>
              <a:spcAft>
                <a:spcPts val="800"/>
              </a:spcAft>
              <a:defRPr sz="1600"/>
            </a:pPr>
            <a:r>
              <a:t>Economic downturns could impact consumer spending on personal products.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presents a unique investment opportunity characterized by strong financial performance and promising future growth. Investors are encouraged to conduct further due diligence, particularly regarding the potential risks identified. To capitalize on this opportunity, consider monitoring the company's performance and market trends closely. Engaging with financial advisors and staying updated on news related to Cupid Limited will provide valuable insights for informed investment decisions. As the company continues to innovate and expand, it holds the potential for substantial returns in the growing consumer defensive sector.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